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parts: what a language model is and what it can do in 2026; how investors use AI today and which problems of a traditional research process it removes; what a second brain is and how ours is built; and six use cases from our own book. Parts one and two are general; the vault only appears from part three.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time is short, parts three and four carry the content; one and two are context.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Deliberately non-technical. Three properties to carry into the rest of the talk: the model reads and writes at a professional level; it is stateless; and it is probabilistic.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property is why it is useful at all. The second and third are why a chat window does not become a research system on its own: the model does not know your positions, does not remember yesterday, and will not do the same thing the same way twice unless told exactly how.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Rung two removed the 'it cannot read the whole document' objection. Rung three removed 'it makes up numbers' for anything computable. Rungs four and five are what make an always-on research system possible: the model can be given a job and a schedule rather than a question.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 column is why every fund now uses it. The right column is why most of that use stays at 'summarise this'. Part three is about the surrounding machinery that fixes the right-hand column.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Adoption numbers show the industry already uses the tools; the rest of the section argues the use is shallow, and names the problems a system, as opposed to a chat window, removes.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AIMA front-office GenAI research (95%, 58%); SimCorp InvestOps Report 2026 (70%); Barclays 2026 Hedge Fund Outlook (55%). Adoption is no longer the differentiator; almost everyone has the model.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pattern is the same at every stage: the machine does the reading, filing and first-draft analysis at volume; the analyst does the choosing and the deciding. A system can recommend a downgrade; it should never execute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failure modes of qualitative research at scale, whether the analyst is one person or a floor. One, two and six are about volume and memory; three and four are about discipline; five is institutional.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Retrieval fetches fragments at question time and nothing accumulates. Compilation does the cross-referencing and contradiction-checking at write time, so every later question is cheap. The analyst chooses the sources and makes the calls; the model keeps the notes current.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here on, everything shown is our own research system, running on our own book today: 97 theses, 53 sector maps, 12 macro frameworks and 376 research notes, maintained by a language model under a fixed schema.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layers and who may write to which is the whole discipline. Sources are never edited, so every claim can be traced back. The wiki is what the model maintains. The schema is ours and changes rarely; because every note follows it, the model can treat 97 theses as one dataset rather than 97 documents.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mechanism that turns a folder of notes into a second brain. Every note points at its neighbours with wikilinks: a research note names the theses it changes; a thesis lists its research, its sector map and its macro exposures; a sector map lists its theses. A script compiles all of it into a dependency graph the model reads first, so it knows which five files matter for a datapoint. Ask which theses rest on HBM supply and the answer arrives with the file list to verify it against.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Obsidian is a free note-taking app that shows a folder of plain-text files; the vault is that folder. Claude Code is Anthropic's agent runtime: a program that reads and edits files, runs scripts and browses. The Claudian plugin puts it inside Obsidian with the vault as its working directory. Nothing here is proprietary infrastructure; the files are the asset.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typed command is one of five inputs and usually the smallest. Context files supply memory and rules, templates the shape, skills the procedure. All three are written once and used every session after.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the model reads before it reads the user's question. The follow-ups register exists because a stress-test recommendation once dropped out of session memory before anyone acted on it. The mental-models folder is where the strategy itself compounds.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Templates put the discipline in the file rather than in the prompt. Skills are written procedures the model must follow, so the same command behaves the same way, and when it misbehaves you edit the file. The daily loop uses four of them: ingest, sync, status, graph.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skills carry most of the value. The first row is the daily loop. Stress-test and scenario are the adversarial pair. Transcript and compare are the earnings-season and competitive tools. Surface, retro and catalyst are the ones that look across the whole book rather than at one name.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07:30 the vault has read about 6,800 items and kept a couple of hundred. Sensing is cheap and constant; judgement is scarce and human-scheduled, and the divergence flags are where the first is allowed to summon the second. The whole layer is governed from one file of tables in Obsidian.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 is trivial; the difference in the answers is entirely the surrounding context and procedure. The right-hand column is what this morning's propagation run did with a new macro note.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example is a real run from our vault, with dates.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funnel from one real morning brief. Right: one real source going through the loop. The research note leads with what changed for the position; propagation fans the delta into every thesis it touches with a two-line dated log entry that links back to the note, so the evidence chain is one click away.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transcript procedure exists to keep our written case honest against what management actually said. The exercise found no broken thesis but six specific corrections, and one pattern worth generalising: our theses tended to frame our companies' products as economically forced when management described adoption as early. On earnings day a single-name version of this runs within the hour of the call.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scenario run takes a hypothetical with explicit parameters and traces it through every thesis via named transmission channels, ranking winners and losers and, most usefully, listing the theses that have no sentence covering the event. A portfolio-scale version fans the same method across all 97 theses in parallel.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boundary is the point of the timeline: the machine produced the short case and the recommendation on the 10th; a human executed the downgrade on the 11th. 'Tested against the triggers, none fired' is also logged with a date, so a position's history is a record of survived falsification attempts.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Delegation without losing the argument: read a machine-drafted section, drop a callout at the sentence you disagree with, ask for the callouts to be addressed. The analysis lands in the note's spine; the margin keeps a three-sentence record and a pointer.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payoff of the wiki structure from part three. Because every note is structurally identical and already linked to its sectors, macro exposures, peers and evidence, cross-sectional questions that used to cost an afternoon cost minutes. Five read-only diagnostics turn the common ones into one-command routines; free-form questions work just as well.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audience remembers one slide, this is it. Roughly ranked by contribution to the return. None of the eight is the model; every one is machinery around the model.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one-line argument. Questions usually go to cost, hallucination risk and 'do I need to be a programmer': the core runs on a laptop with two free-or-subscription tools; hallucination is contained structurally (locked sources, contradiction checks, stress tests) and you remain the analyst; no programming is needed for the core, only for the optional overnight layer.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822960" y="1188720"/>
            <a:ext cx="10058400" cy="365760"/>
          </a:xfrm>
          <a:prstGeom prst="rect">
            <a:avLst/>
          </a:prstGeom>
          <a:noFill/>
        </p:spPr>
        <p:txBody>
          <a:bodyPr wrap="square" lIns="45720" rIns="45720" anchor="t">
            <a:noAutofit/>
          </a:bodyPr>
          <a:lstStyle/>
          <a:p>
            <a:pPr algn="l">
              <a:lnSpc>
                <a:spcPct val="112000"/>
              </a:lnSpc>
              <a:spcAft>
                <a:spcPts val="400"/>
              </a:spcAft>
            </a:pPr>
            <a:r>
              <a:rPr sz="1200" b="1" i="0">
                <a:solidFill>
                  <a:srgbClr val="22D3EE"/>
                </a:solidFill>
                <a:latin typeface="Calibri"/>
              </a:rPr>
              <a:t>OBSIDIAN NOTES + CLAUDE CODE</a:t>
            </a:r>
          </a:p>
        </p:txBody>
      </p:sp>
      <p:sp>
        <p:nvSpPr>
          <p:cNvPr id="3" name="TextBox 2"/>
          <p:cNvSpPr txBox="1"/>
          <p:nvPr/>
        </p:nvSpPr>
        <p:spPr>
          <a:xfrm>
            <a:off x="822960" y="1645920"/>
            <a:ext cx="10515600" cy="1463040"/>
          </a:xfrm>
          <a:prstGeom prst="rect">
            <a:avLst/>
          </a:prstGeom>
          <a:noFill/>
        </p:spPr>
        <p:txBody>
          <a:bodyPr wrap="square" lIns="45720" rIns="45720" anchor="t">
            <a:noAutofit/>
          </a:bodyPr>
          <a:lstStyle/>
          <a:p>
            <a:pPr algn="l">
              <a:lnSpc>
                <a:spcPct val="100000"/>
              </a:lnSpc>
              <a:spcAft>
                <a:spcPts val="400"/>
              </a:spcAft>
            </a:pPr>
            <a:r>
              <a:rPr sz="5200" b="0" i="0">
                <a:solidFill>
                  <a:srgbClr val="F5F5F0"/>
                </a:solidFill>
                <a:latin typeface="Georgia"/>
              </a:rPr>
              <a:t>A Second Brain for Investing</a:t>
            </a:r>
          </a:p>
        </p:txBody>
      </p:sp>
      <p:sp>
        <p:nvSpPr>
          <p:cNvPr id="4" name="TextBox 3"/>
          <p:cNvSpPr txBox="1"/>
          <p:nvPr/>
        </p:nvSpPr>
        <p:spPr>
          <a:xfrm>
            <a:off x="822960" y="3063240"/>
            <a:ext cx="10332720" cy="1188720"/>
          </a:xfrm>
          <a:prstGeom prst="rect">
            <a:avLst/>
          </a:prstGeom>
          <a:noFill/>
        </p:spPr>
        <p:txBody>
          <a:bodyPr wrap="square" lIns="45720" rIns="45720" anchor="t">
            <a:noAutofit/>
          </a:bodyPr>
          <a:lstStyle/>
          <a:p>
            <a:pPr algn="l">
              <a:lnSpc>
                <a:spcPct val="115000"/>
              </a:lnSpc>
              <a:spcAft>
                <a:spcPts val="400"/>
              </a:spcAft>
            </a:pPr>
            <a:r>
              <a:rPr sz="2000" b="0" i="0">
                <a:solidFill>
                  <a:srgbClr val="D1D5DB"/>
                </a:solidFill>
                <a:latin typeface="Calibri"/>
              </a:rPr>
              <a:t>What AI can do today, how investors use it, and how a research system that remembers is built.</a:t>
            </a:r>
          </a:p>
        </p:txBody>
      </p:sp>
      <p:cxnSp>
        <p:nvCxnSpPr>
          <p:cNvPr id="5" name="Connector 4"/>
          <p:cNvCxnSpPr/>
          <p:nvPr/>
        </p:nvCxnSpPr>
        <p:spPr>
          <a:xfrm>
            <a:off x="868680" y="4343400"/>
            <a:ext cx="1508760" cy="0"/>
          </a:xfrm>
          <a:prstGeom prst="line">
            <a:avLst/>
          </a:prstGeom>
          <a:ln w="31750">
            <a:solidFill>
              <a:srgbClr val="0891B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4526280"/>
            <a:ext cx="10058400" cy="822960"/>
          </a:xfrm>
          <a:prstGeom prst="rect">
            <a:avLst/>
          </a:prstGeom>
          <a:noFill/>
        </p:spPr>
        <p:txBody>
          <a:bodyPr wrap="square" lIns="45720" rIns="45720" anchor="t">
            <a:noAutofit/>
          </a:bodyPr>
          <a:lstStyle/>
          <a:p>
            <a:pPr algn="l">
              <a:lnSpc>
                <a:spcPct val="112000"/>
              </a:lnSpc>
              <a:spcAft>
                <a:spcPts val="400"/>
              </a:spcAft>
            </a:pPr>
            <a:r>
              <a:rPr sz="1400" b="0" i="0">
                <a:solidFill>
                  <a:srgbClr val="9CA3AF"/>
                </a:solidFill>
                <a:latin typeface="Calibri"/>
              </a:rPr>
              <a:t>An overview for a beginner-to-intermediate audience</a:t>
            </a:r>
          </a:p>
          <a:p>
            <a:pPr algn="l">
              <a:lnSpc>
                <a:spcPct val="112000"/>
              </a:lnSpc>
              <a:spcAft>
                <a:spcPts val="400"/>
              </a:spcAft>
            </a:pPr>
            <a:r>
              <a:rPr sz="1400" b="0" i="0">
                <a:solidFill>
                  <a:srgbClr val="9CA3AF"/>
                </a:solidFill>
                <a:latin typeface="Calibri"/>
              </a:rPr>
              <a:t>Laniakea Partners  ·  Reo  ·  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548640" y="292608"/>
            <a:ext cx="10972800" cy="320040"/>
          </a:xfrm>
          <a:prstGeom prst="rect">
            <a:avLst/>
          </a:prstGeom>
          <a:noFill/>
        </p:spPr>
        <p:txBody>
          <a:bodyPr wrap="square" lIns="45720" rIns="45720" anchor="t">
            <a:noAutofit/>
          </a:bodyPr>
          <a:lstStyle/>
          <a:p>
            <a:pPr algn="l">
              <a:lnSpc>
                <a:spcPct val="112000"/>
              </a:lnSpc>
              <a:spcAft>
                <a:spcPts val="400"/>
              </a:spcAft>
            </a:pPr>
            <a:r>
              <a:rPr sz="1100" b="1" i="0">
                <a:solidFill>
                  <a:srgbClr val="22D3EE"/>
                </a:solidFill>
                <a:latin typeface="Calibri"/>
              </a:rPr>
              <a:t>AGENDA</a:t>
            </a:r>
          </a:p>
        </p:txBody>
      </p:sp>
      <p:sp>
        <p:nvSpPr>
          <p:cNvPr id="3" name="TextBox 2"/>
          <p:cNvSpPr txBox="1"/>
          <p:nvPr/>
        </p:nvSpPr>
        <p:spPr>
          <a:xfrm>
            <a:off x="548640" y="566928"/>
            <a:ext cx="11064240" cy="868680"/>
          </a:xfrm>
          <a:prstGeom prst="rect">
            <a:avLst/>
          </a:prstGeom>
          <a:noFill/>
        </p:spPr>
        <p:txBody>
          <a:bodyPr wrap="square" lIns="45720" rIns="45720" anchor="t">
            <a:noAutofit/>
          </a:bodyPr>
          <a:lstStyle/>
          <a:p>
            <a:pPr algn="l">
              <a:lnSpc>
                <a:spcPct val="100000"/>
              </a:lnSpc>
              <a:spcAft>
                <a:spcPts val="400"/>
              </a:spcAft>
            </a:pPr>
            <a:r>
              <a:rPr sz="2800" b="0" i="0">
                <a:solidFill>
                  <a:srgbClr val="F5F5F0"/>
                </a:solidFill>
                <a:latin typeface="Georgia"/>
              </a:rPr>
              <a:t>Four parts, one argument</a:t>
            </a:r>
          </a:p>
        </p:txBody>
      </p:sp>
      <p:cxnSp>
        <p:nvCxnSpPr>
          <p:cNvPr id="4" name="Connector 3"/>
          <p:cNvCxnSpPr/>
          <p:nvPr/>
        </p:nvCxnSpPr>
        <p:spPr>
          <a:xfrm>
            <a:off x="594360" y="1389888"/>
            <a:ext cx="914400" cy="0"/>
          </a:xfrm>
          <a:prstGeom prst="line">
            <a:avLst/>
          </a:prstGeom>
          <a:ln w="31750">
            <a:solidFill>
              <a:srgbClr val="0891B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737360"/>
            <a:ext cx="914400" cy="822960"/>
          </a:xfrm>
          <a:prstGeom prst="rect">
            <a:avLst/>
          </a:prstGeom>
          <a:noFill/>
        </p:spPr>
        <p:txBody>
          <a:bodyPr wrap="square" lIns="45720" rIns="45720" anchor="t">
            <a:noAutofit/>
          </a:bodyPr>
          <a:lstStyle/>
          <a:p>
            <a:pPr algn="l">
              <a:lnSpc>
                <a:spcPct val="112000"/>
              </a:lnSpc>
              <a:spcAft>
                <a:spcPts val="400"/>
              </a:spcAft>
            </a:pPr>
            <a:r>
              <a:rPr sz="3000" b="0" i="0">
                <a:solidFill>
                  <a:srgbClr val="0891B2"/>
                </a:solidFill>
                <a:latin typeface="Georgia"/>
              </a:rPr>
              <a:t>01</a:t>
            </a:r>
          </a:p>
        </p:txBody>
      </p:sp>
      <p:sp>
        <p:nvSpPr>
          <p:cNvPr id="6" name="TextBox 5"/>
          <p:cNvSpPr txBox="1"/>
          <p:nvPr/>
        </p:nvSpPr>
        <p:spPr>
          <a:xfrm>
            <a:off x="1463040" y="1755648"/>
            <a:ext cx="9966960" cy="457200"/>
          </a:xfrm>
          <a:prstGeom prst="rect">
            <a:avLst/>
          </a:prstGeom>
          <a:noFill/>
        </p:spPr>
        <p:txBody>
          <a:bodyPr wrap="square" lIns="45720" rIns="45720" anchor="t">
            <a:noAutofit/>
          </a:bodyPr>
          <a:lstStyle/>
          <a:p>
            <a:pPr algn="l">
              <a:lnSpc>
                <a:spcPct val="112000"/>
              </a:lnSpc>
              <a:spcAft>
                <a:spcPts val="400"/>
              </a:spcAft>
            </a:pPr>
            <a:r>
              <a:rPr sz="2000" b="0" i="0">
                <a:solidFill>
                  <a:srgbClr val="F5F5F0"/>
                </a:solidFill>
                <a:latin typeface="Georgia"/>
              </a:rPr>
              <a:t>What AI is, and what it can do today</a:t>
            </a:r>
          </a:p>
        </p:txBody>
      </p:sp>
      <p:sp>
        <p:nvSpPr>
          <p:cNvPr id="7" name="TextBox 6"/>
          <p:cNvSpPr txBox="1"/>
          <p:nvPr/>
        </p:nvSpPr>
        <p:spPr>
          <a:xfrm>
            <a:off x="1463040" y="2194560"/>
            <a:ext cx="9966960" cy="548640"/>
          </a:xfrm>
          <a:prstGeom prst="rect">
            <a:avLst/>
          </a:prstGeom>
          <a:noFill/>
        </p:spPr>
        <p:txBody>
          <a:bodyPr wrap="square" lIns="45720" rIns="45720" anchor="t">
            <a:noAutofit/>
          </a:bodyPr>
          <a:lstStyle/>
          <a:p>
            <a:pPr algn="l">
              <a:lnSpc>
                <a:spcPct val="112000"/>
              </a:lnSpc>
              <a:spcAft>
                <a:spcPts val="400"/>
              </a:spcAft>
            </a:pPr>
            <a:r>
              <a:rPr sz="1300" b="0" i="0">
                <a:solidFill>
                  <a:srgbClr val="9CA3AF"/>
                </a:solidFill>
                <a:latin typeface="Calibri"/>
              </a:rPr>
              <a:t>A model in one sentence · the capability ladder · where it still fails</a:t>
            </a:r>
          </a:p>
        </p:txBody>
      </p:sp>
      <p:sp>
        <p:nvSpPr>
          <p:cNvPr id="8" name="TextBox 7"/>
          <p:cNvSpPr txBox="1"/>
          <p:nvPr/>
        </p:nvSpPr>
        <p:spPr>
          <a:xfrm>
            <a:off x="548640" y="2834639"/>
            <a:ext cx="914400" cy="822960"/>
          </a:xfrm>
          <a:prstGeom prst="rect">
            <a:avLst/>
          </a:prstGeom>
          <a:noFill/>
        </p:spPr>
        <p:txBody>
          <a:bodyPr wrap="square" lIns="45720" rIns="45720" anchor="t">
            <a:noAutofit/>
          </a:bodyPr>
          <a:lstStyle/>
          <a:p>
            <a:pPr algn="l">
              <a:lnSpc>
                <a:spcPct val="112000"/>
              </a:lnSpc>
              <a:spcAft>
                <a:spcPts val="400"/>
              </a:spcAft>
            </a:pPr>
            <a:r>
              <a:rPr sz="3000" b="0" i="0">
                <a:solidFill>
                  <a:srgbClr val="0891B2"/>
                </a:solidFill>
                <a:latin typeface="Georgia"/>
              </a:rPr>
              <a:t>02</a:t>
            </a:r>
          </a:p>
        </p:txBody>
      </p:sp>
      <p:sp>
        <p:nvSpPr>
          <p:cNvPr id="9" name="TextBox 8"/>
          <p:cNvSpPr txBox="1"/>
          <p:nvPr/>
        </p:nvSpPr>
        <p:spPr>
          <a:xfrm>
            <a:off x="1463040" y="2852927"/>
            <a:ext cx="9966960" cy="457200"/>
          </a:xfrm>
          <a:prstGeom prst="rect">
            <a:avLst/>
          </a:prstGeom>
          <a:noFill/>
        </p:spPr>
        <p:txBody>
          <a:bodyPr wrap="square" lIns="45720" rIns="45720" anchor="t">
            <a:noAutofit/>
          </a:bodyPr>
          <a:lstStyle/>
          <a:p>
            <a:pPr algn="l">
              <a:lnSpc>
                <a:spcPct val="112000"/>
              </a:lnSpc>
              <a:spcAft>
                <a:spcPts val="400"/>
              </a:spcAft>
            </a:pPr>
            <a:r>
              <a:rPr sz="2000" b="0" i="0">
                <a:solidFill>
                  <a:srgbClr val="F5F5F0"/>
                </a:solidFill>
                <a:latin typeface="Georgia"/>
              </a:rPr>
              <a:t>How AI is used in investing today</a:t>
            </a:r>
          </a:p>
        </p:txBody>
      </p:sp>
      <p:sp>
        <p:nvSpPr>
          <p:cNvPr id="10" name="TextBox 9"/>
          <p:cNvSpPr txBox="1"/>
          <p:nvPr/>
        </p:nvSpPr>
        <p:spPr>
          <a:xfrm>
            <a:off x="1463040" y="3291839"/>
            <a:ext cx="9966960" cy="548640"/>
          </a:xfrm>
          <a:prstGeom prst="rect">
            <a:avLst/>
          </a:prstGeom>
          <a:noFill/>
        </p:spPr>
        <p:txBody>
          <a:bodyPr wrap="square" lIns="45720" rIns="45720" anchor="t">
            <a:noAutofit/>
          </a:bodyPr>
          <a:lstStyle/>
          <a:p>
            <a:pPr algn="l">
              <a:lnSpc>
                <a:spcPct val="112000"/>
              </a:lnSpc>
              <a:spcAft>
                <a:spcPts val="400"/>
              </a:spcAft>
            </a:pPr>
            <a:r>
              <a:rPr sz="1300" b="0" i="0">
                <a:solidFill>
                  <a:srgbClr val="9CA3AF"/>
                </a:solidFill>
                <a:latin typeface="Calibri"/>
              </a:rPr>
              <a:t>Adoption · where it sits in the workflow · the problems it solves</a:t>
            </a:r>
          </a:p>
        </p:txBody>
      </p:sp>
      <p:sp>
        <p:nvSpPr>
          <p:cNvPr id="11" name="TextBox 10"/>
          <p:cNvSpPr txBox="1"/>
          <p:nvPr/>
        </p:nvSpPr>
        <p:spPr>
          <a:xfrm>
            <a:off x="548640" y="3931920"/>
            <a:ext cx="914400" cy="822960"/>
          </a:xfrm>
          <a:prstGeom prst="rect">
            <a:avLst/>
          </a:prstGeom>
          <a:noFill/>
        </p:spPr>
        <p:txBody>
          <a:bodyPr wrap="square" lIns="45720" rIns="45720" anchor="t">
            <a:noAutofit/>
          </a:bodyPr>
          <a:lstStyle/>
          <a:p>
            <a:pPr algn="l">
              <a:lnSpc>
                <a:spcPct val="112000"/>
              </a:lnSpc>
              <a:spcAft>
                <a:spcPts val="400"/>
              </a:spcAft>
            </a:pPr>
            <a:r>
              <a:rPr sz="3000" b="0" i="0">
                <a:solidFill>
                  <a:srgbClr val="0891B2"/>
                </a:solidFill>
                <a:latin typeface="Georgia"/>
              </a:rPr>
              <a:t>03</a:t>
            </a:r>
          </a:p>
        </p:txBody>
      </p:sp>
      <p:sp>
        <p:nvSpPr>
          <p:cNvPr id="12" name="TextBox 11"/>
          <p:cNvSpPr txBox="1"/>
          <p:nvPr/>
        </p:nvSpPr>
        <p:spPr>
          <a:xfrm>
            <a:off x="1463040" y="3950207"/>
            <a:ext cx="9966960" cy="457200"/>
          </a:xfrm>
          <a:prstGeom prst="rect">
            <a:avLst/>
          </a:prstGeom>
          <a:noFill/>
        </p:spPr>
        <p:txBody>
          <a:bodyPr wrap="square" lIns="45720" rIns="45720" anchor="t">
            <a:noAutofit/>
          </a:bodyPr>
          <a:lstStyle/>
          <a:p>
            <a:pPr algn="l">
              <a:lnSpc>
                <a:spcPct val="112000"/>
              </a:lnSpc>
              <a:spcAft>
                <a:spcPts val="400"/>
              </a:spcAft>
            </a:pPr>
            <a:r>
              <a:rPr sz="2000" b="0" i="0">
                <a:solidFill>
                  <a:srgbClr val="F5F5F0"/>
                </a:solidFill>
                <a:latin typeface="Georgia"/>
              </a:rPr>
              <a:t>Inside a second brain</a:t>
            </a:r>
          </a:p>
        </p:txBody>
      </p:sp>
      <p:sp>
        <p:nvSpPr>
          <p:cNvPr id="13" name="TextBox 12"/>
          <p:cNvSpPr txBox="1"/>
          <p:nvPr/>
        </p:nvSpPr>
        <p:spPr>
          <a:xfrm>
            <a:off x="1463040" y="4389120"/>
            <a:ext cx="9966960" cy="548640"/>
          </a:xfrm>
          <a:prstGeom prst="rect">
            <a:avLst/>
          </a:prstGeom>
          <a:noFill/>
        </p:spPr>
        <p:txBody>
          <a:bodyPr wrap="square" lIns="45720" rIns="45720" anchor="t">
            <a:noAutofit/>
          </a:bodyPr>
          <a:lstStyle/>
          <a:p>
            <a:pPr algn="l">
              <a:lnSpc>
                <a:spcPct val="112000"/>
              </a:lnSpc>
              <a:spcAft>
                <a:spcPts val="400"/>
              </a:spcAft>
            </a:pPr>
            <a:r>
              <a:rPr sz="1300" b="0" i="0">
                <a:solidFill>
                  <a:srgbClr val="9CA3AF"/>
                </a:solidFill>
                <a:latin typeface="Calibri"/>
              </a:rPr>
              <a:t>What it is · how the notes link · context files, mental models, templates, skills · the sensing layer</a:t>
            </a:r>
          </a:p>
        </p:txBody>
      </p:sp>
      <p:sp>
        <p:nvSpPr>
          <p:cNvPr id="14" name="TextBox 13"/>
          <p:cNvSpPr txBox="1"/>
          <p:nvPr/>
        </p:nvSpPr>
        <p:spPr>
          <a:xfrm>
            <a:off x="548640" y="5029200"/>
            <a:ext cx="914400" cy="822960"/>
          </a:xfrm>
          <a:prstGeom prst="rect">
            <a:avLst/>
          </a:prstGeom>
          <a:noFill/>
        </p:spPr>
        <p:txBody>
          <a:bodyPr wrap="square" lIns="45720" rIns="45720" anchor="t">
            <a:noAutofit/>
          </a:bodyPr>
          <a:lstStyle/>
          <a:p>
            <a:pPr algn="l">
              <a:lnSpc>
                <a:spcPct val="112000"/>
              </a:lnSpc>
              <a:spcAft>
                <a:spcPts val="400"/>
              </a:spcAft>
            </a:pPr>
            <a:r>
              <a:rPr sz="3000" b="0" i="0">
                <a:solidFill>
                  <a:srgbClr val="0891B2"/>
                </a:solidFill>
                <a:latin typeface="Georgia"/>
              </a:rPr>
              <a:t>04</a:t>
            </a:r>
          </a:p>
        </p:txBody>
      </p:sp>
      <p:sp>
        <p:nvSpPr>
          <p:cNvPr id="15" name="TextBox 14"/>
          <p:cNvSpPr txBox="1"/>
          <p:nvPr/>
        </p:nvSpPr>
        <p:spPr>
          <a:xfrm>
            <a:off x="1463040" y="5047488"/>
            <a:ext cx="9966960" cy="457200"/>
          </a:xfrm>
          <a:prstGeom prst="rect">
            <a:avLst/>
          </a:prstGeom>
          <a:noFill/>
        </p:spPr>
        <p:txBody>
          <a:bodyPr wrap="square" lIns="45720" rIns="45720" anchor="t">
            <a:noAutofit/>
          </a:bodyPr>
          <a:lstStyle/>
          <a:p>
            <a:pPr algn="l">
              <a:lnSpc>
                <a:spcPct val="112000"/>
              </a:lnSpc>
              <a:spcAft>
                <a:spcPts val="400"/>
              </a:spcAft>
            </a:pPr>
            <a:r>
              <a:rPr sz="2000" b="0" i="0">
                <a:solidFill>
                  <a:srgbClr val="F5F5F0"/>
                </a:solidFill>
                <a:latin typeface="Georgia"/>
              </a:rPr>
              <a:t>Use cases and the features that matter</a:t>
            </a:r>
          </a:p>
        </p:txBody>
      </p:sp>
      <p:sp>
        <p:nvSpPr>
          <p:cNvPr id="16" name="TextBox 15"/>
          <p:cNvSpPr txBox="1"/>
          <p:nvPr/>
        </p:nvSpPr>
        <p:spPr>
          <a:xfrm>
            <a:off x="1463040" y="5486400"/>
            <a:ext cx="9966960" cy="548640"/>
          </a:xfrm>
          <a:prstGeom prst="rect">
            <a:avLst/>
          </a:prstGeom>
          <a:noFill/>
        </p:spPr>
        <p:txBody>
          <a:bodyPr wrap="square" lIns="45720" rIns="45720" anchor="t">
            <a:noAutofit/>
          </a:bodyPr>
          <a:lstStyle/>
          <a:p>
            <a:pPr algn="l">
              <a:lnSpc>
                <a:spcPct val="112000"/>
              </a:lnSpc>
              <a:spcAft>
                <a:spcPts val="400"/>
              </a:spcAft>
            </a:pPr>
            <a:r>
              <a:rPr sz="1300" b="0" i="0">
                <a:solidFill>
                  <a:srgbClr val="9CA3AF"/>
                </a:solidFill>
                <a:latin typeface="Calibri"/>
              </a:rPr>
              <a:t>Six use cases from our own book · the eight features that carry the return</a:t>
            </a:r>
          </a:p>
        </p:txBody>
      </p:sp>
      <p:sp>
        <p:nvSpPr>
          <p:cNvPr id="17" name="TextBox 16"/>
          <p:cNvSpPr txBox="1"/>
          <p:nvPr/>
        </p:nvSpPr>
        <p:spPr>
          <a:xfrm>
            <a:off x="548640" y="6172200"/>
            <a:ext cx="10972800" cy="365760"/>
          </a:xfrm>
          <a:prstGeom prst="rect">
            <a:avLst/>
          </a:prstGeom>
          <a:noFill/>
        </p:spPr>
        <p:txBody>
          <a:bodyPr wrap="square" lIns="45720" rIns="45720" anchor="t">
            <a:noAutofit/>
          </a:bodyPr>
          <a:lstStyle/>
          <a:p>
            <a:pPr algn="l">
              <a:lnSpc>
                <a:spcPct val="112000"/>
              </a:lnSpc>
              <a:spcAft>
                <a:spcPts val="400"/>
              </a:spcAft>
            </a:pPr>
            <a:r>
              <a:rPr sz="1300" b="0" i="1">
                <a:solidFill>
                  <a:srgbClr val="22D3EE"/>
                </a:solidFill>
                <a:latin typeface="Calibri"/>
              </a:rPr>
              <a:t>The argument: the model is stateless; a research system is not. The return comes from the system, not the model.</a:t>
            </a:r>
          </a:p>
        </p:txBody>
      </p:sp>
      <p:sp>
        <p:nvSpPr>
          <p:cNvPr id="18" name="footer"/>
          <p:cNvSpPr txBox="1"/>
          <p:nvPr/>
        </p:nvSpPr>
        <p:spPr>
          <a:xfrm>
            <a:off x="548640" y="6446520"/>
            <a:ext cx="7772400" cy="274320"/>
          </a:xfrm>
          <a:prstGeom prst="rect">
            <a:avLst/>
          </a:prstGeom>
          <a:noFill/>
        </p:spPr>
        <p:txBody>
          <a:bodyPr wrap="square" lIns="45720" rIns="45720" anchor="t">
            <a:noAutofit/>
          </a:bodyPr>
          <a:lstStyle/>
          <a:p>
            <a:pPr algn="l">
              <a:lnSpc>
                <a:spcPct val="112000"/>
              </a:lnSpc>
              <a:spcAft>
                <a:spcPts val="400"/>
              </a:spcAft>
            </a:pPr>
            <a:r>
              <a:rPr sz="900" b="0" i="0">
                <a:solidFill>
                  <a:srgbClr val="6B7280"/>
                </a:solidFill>
                <a:latin typeface="Calibri"/>
              </a:rPr>
              <a:t>Laniakea Partners · A Second Brain for Investing · August 2026  ·  Agenda</a:t>
            </a:r>
          </a:p>
        </p:txBody>
      </p:sp>
      <p:sp>
        <p:nvSpPr>
          <p:cNvPr id="19" name="footer"/>
          <p:cNvSpPr txBox="1"/>
          <p:nvPr/>
        </p:nvSpPr>
        <p:spPr>
          <a:xfrm>
            <a:off x="10332720" y="6446520"/>
            <a:ext cx="1325880" cy="274320"/>
          </a:xfrm>
          <a:prstGeom prst="rect">
            <a:avLst/>
          </a:prstGeom>
          <a:noFill/>
        </p:spPr>
        <p:txBody>
          <a:bodyPr wrap="square" lIns="45720" rIns="45720" anchor="t">
            <a:noAutofit/>
          </a:bodyPr>
          <a:lstStyle/>
          <a:p>
            <a:pPr algn="r">
              <a:lnSpc>
                <a:spcPct val="112000"/>
              </a:lnSpc>
              <a:spcAft>
                <a:spcPts val="400"/>
              </a:spcAft>
            </a:pPr>
            <a:r>
              <a:rPr sz="900" b="0" i="0">
                <a:solidFill>
                  <a:srgbClr val="6B7280"/>
                </a:solidFill>
                <a:latin typeface="Calibri"/>
              </a:rPr>
              <a:t>2 / 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822960" y="1463040"/>
            <a:ext cx="2743200" cy="1280160"/>
          </a:xfrm>
          <a:prstGeom prst="rect">
            <a:avLst/>
          </a:prstGeom>
          <a:noFill/>
        </p:spPr>
        <p:txBody>
          <a:bodyPr wrap="square" lIns="45720" rIns="45720" anchor="t">
            <a:noAutofit/>
          </a:bodyPr>
          <a:lstStyle/>
          <a:p>
            <a:pPr algn="l">
              <a:lnSpc>
                <a:spcPct val="112000"/>
              </a:lnSpc>
              <a:spcAft>
                <a:spcPts val="400"/>
              </a:spcAft>
            </a:pPr>
            <a:r>
              <a:rPr sz="6400" b="0" i="0">
                <a:solidFill>
                  <a:srgbClr val="0891B2"/>
                </a:solidFill>
                <a:latin typeface="Georgia"/>
              </a:rPr>
              <a:t>01</a:t>
            </a:r>
          </a:p>
        </p:txBody>
      </p:sp>
      <p:sp>
        <p:nvSpPr>
          <p:cNvPr id="3" name="TextBox 2"/>
          <p:cNvSpPr txBox="1"/>
          <p:nvPr/>
        </p:nvSpPr>
        <p:spPr>
          <a:xfrm>
            <a:off x="822960" y="2697480"/>
            <a:ext cx="10515600" cy="1143000"/>
          </a:xfrm>
          <a:prstGeom prst="rect">
            <a:avLst/>
          </a:prstGeom>
          <a:noFill/>
        </p:spPr>
        <p:txBody>
          <a:bodyPr wrap="square" lIns="45720" rIns="45720" anchor="t">
            <a:noAutofit/>
          </a:bodyPr>
          <a:lstStyle/>
          <a:p>
            <a:pPr algn="l">
              <a:lnSpc>
                <a:spcPct val="100000"/>
              </a:lnSpc>
              <a:spcAft>
                <a:spcPts val="400"/>
              </a:spcAft>
            </a:pPr>
            <a:r>
              <a:rPr sz="3200" b="0" i="0">
                <a:solidFill>
                  <a:srgbClr val="F5F5F0"/>
                </a:solidFill>
                <a:latin typeface="Georgia"/>
              </a:rPr>
              <a:t>What AI is, and what it can do today</a:t>
            </a:r>
          </a:p>
        </p:txBody>
      </p:sp>
      <p:cxnSp>
        <p:nvCxnSpPr>
          <p:cNvPr id="4" name="Connector 3"/>
          <p:cNvCxnSpPr/>
          <p:nvPr/>
        </p:nvCxnSpPr>
        <p:spPr>
          <a:xfrm>
            <a:off x="868680" y="3886200"/>
            <a:ext cx="1325880" cy="0"/>
          </a:xfrm>
          <a:prstGeom prst="line">
            <a:avLst/>
          </a:prstGeom>
          <a:ln w="31750">
            <a:solidFill>
              <a:srgbClr val="0891B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22960" y="4069080"/>
            <a:ext cx="10058400" cy="1828800"/>
          </a:xfrm>
          <a:prstGeom prst="rect">
            <a:avLst/>
          </a:prstGeom>
          <a:noFill/>
        </p:spPr>
        <p:txBody>
          <a:bodyPr wrap="square" lIns="45720" rIns="45720" anchor="t">
            <a:noAutofit/>
          </a:bodyPr>
          <a:lstStyle/>
          <a:p>
            <a:pPr algn="l" marL="219456" indent="-182880">
              <a:lnSpc>
                <a:spcPct val="112000"/>
              </a:lnSpc>
              <a:spcAft>
                <a:spcPts val="600"/>
              </a:spcAft>
              <a:buClr>
                <a:srgbClr val="22D3EE"/>
              </a:buClr>
              <a:buFont typeface="Arial"/>
              <a:buChar char="•"/>
            </a:pPr>
            <a:r>
              <a:rPr sz="1600" b="0" i="0">
                <a:solidFill>
                  <a:srgbClr val="D1D5DB"/>
                </a:solidFill>
                <a:latin typeface="Calibri"/>
              </a:rPr>
              <a:t>A language model in one sentence, and the three properties that matter</a:t>
            </a:r>
          </a:p>
          <a:p>
            <a:pPr algn="l" marL="219456" indent="-182880">
              <a:lnSpc>
                <a:spcPct val="112000"/>
              </a:lnSpc>
              <a:spcAft>
                <a:spcPts val="600"/>
              </a:spcAft>
              <a:buClr>
                <a:srgbClr val="22D3EE"/>
              </a:buClr>
              <a:buFont typeface="Arial"/>
              <a:buChar char="•"/>
            </a:pPr>
            <a:r>
              <a:rPr sz="1600" b="0" i="0">
                <a:solidFill>
                  <a:srgbClr val="D1D5DB"/>
                </a:solidFill>
                <a:latin typeface="Calibri"/>
              </a:rPr>
              <a:t>The capability ladder: chat → long documents → tools → agents → systems</a:t>
            </a:r>
          </a:p>
          <a:p>
            <a:pPr algn="l" marL="219456" indent="-182880">
              <a:lnSpc>
                <a:spcPct val="112000"/>
              </a:lnSpc>
              <a:spcAft>
                <a:spcPts val="600"/>
              </a:spcAft>
              <a:buClr>
                <a:srgbClr val="22D3EE"/>
              </a:buClr>
              <a:buFont typeface="Arial"/>
              <a:buChar char="•"/>
            </a:pPr>
            <a:r>
              <a:rPr sz="1600" b="0" i="0">
                <a:solidFill>
                  <a:srgbClr val="D1D5DB"/>
                </a:solidFill>
                <a:latin typeface="Calibri"/>
              </a:rPr>
              <a:t>What it does well, and where it fails without help</a:t>
            </a:r>
          </a:p>
        </p:txBody>
      </p:sp>
      <p:sp>
        <p:nvSpPr>
          <p:cNvPr id="6" name="footer"/>
          <p:cNvSpPr txBox="1"/>
          <p:nvPr/>
        </p:nvSpPr>
        <p:spPr>
          <a:xfrm>
            <a:off x="548640" y="6446520"/>
            <a:ext cx="7772400" cy="274320"/>
          </a:xfrm>
          <a:prstGeom prst="rect">
            <a:avLst/>
          </a:prstGeom>
          <a:noFill/>
        </p:spPr>
        <p:txBody>
          <a:bodyPr wrap="square" lIns="45720" rIns="45720" anchor="t">
            <a:noAutofit/>
          </a:bodyPr>
          <a:lstStyle/>
          <a:p>
            <a:pPr algn="l">
              <a:lnSpc>
                <a:spcPct val="112000"/>
              </a:lnSpc>
              <a:spcAft>
                <a:spcPts val="400"/>
              </a:spcAft>
            </a:pPr>
            <a:r>
              <a:rPr sz="900" b="0" i="0">
                <a:solidFill>
                  <a:srgbClr val="6B7280"/>
                </a:solidFill>
                <a:latin typeface="Calibri"/>
              </a:rPr>
              <a:t>Laniakea Partners · A Second Brain for Investing · August 2026  ·  Part 1</a:t>
            </a:r>
          </a:p>
        </p:txBody>
      </p:sp>
      <p:sp>
        <p:nvSpPr>
          <p:cNvPr id="7" name="footer"/>
          <p:cNvSpPr txBox="1"/>
          <p:nvPr/>
        </p:nvSpPr>
        <p:spPr>
          <a:xfrm>
            <a:off x="10332720" y="6446520"/>
            <a:ext cx="1325880" cy="274320"/>
          </a:xfrm>
          <a:prstGeom prst="rect">
            <a:avLst/>
          </a:prstGeom>
          <a:noFill/>
        </p:spPr>
        <p:txBody>
          <a:bodyPr wrap="square" lIns="45720" rIns="45720" anchor="t">
            <a:noAutofit/>
          </a:bodyPr>
          <a:lstStyle/>
          <a:p>
            <a:pPr algn="r">
              <a:lnSpc>
                <a:spcPct val="112000"/>
              </a:lnSpc>
              <a:spcAft>
                <a:spcPts val="400"/>
              </a:spcAft>
            </a:pPr>
            <a:r>
              <a:rPr sz="900" b="0" i="0">
                <a:solidFill>
                  <a:srgbClr val="6B7280"/>
                </a:solidFill>
                <a:latin typeface="Calibri"/>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548640" y="292608"/>
            <a:ext cx="10972800" cy="320040"/>
          </a:xfrm>
          <a:prstGeom prst="rect">
            <a:avLst/>
          </a:prstGeom>
          <a:noFill/>
        </p:spPr>
        <p:txBody>
          <a:bodyPr wrap="square" lIns="45720" rIns="45720" anchor="t">
            <a:noAutofit/>
          </a:bodyPr>
          <a:lstStyle/>
          <a:p>
            <a:pPr algn="l">
              <a:lnSpc>
                <a:spcPct val="112000"/>
              </a:lnSpc>
              <a:spcAft>
                <a:spcPts val="400"/>
              </a:spcAft>
            </a:pPr>
            <a:r>
              <a:rPr sz="1100" b="1" i="0">
                <a:solidFill>
                  <a:srgbClr val="22D3EE"/>
                </a:solidFill>
                <a:latin typeface="Calibri"/>
              </a:rPr>
              <a:t>PART 1 · WHAT AI IS</a:t>
            </a:r>
          </a:p>
        </p:txBody>
      </p:sp>
      <p:sp>
        <p:nvSpPr>
          <p:cNvPr id="3" name="TextBox 2"/>
          <p:cNvSpPr txBox="1"/>
          <p:nvPr/>
        </p:nvSpPr>
        <p:spPr>
          <a:xfrm>
            <a:off x="548640" y="566928"/>
            <a:ext cx="11064240" cy="868680"/>
          </a:xfrm>
          <a:prstGeom prst="rect">
            <a:avLst/>
          </a:prstGeom>
          <a:noFill/>
        </p:spPr>
        <p:txBody>
          <a:bodyPr wrap="square" lIns="45720" rIns="45720" anchor="t">
            <a:noAutofit/>
          </a:bodyPr>
          <a:lstStyle/>
          <a:p>
            <a:pPr algn="l">
              <a:lnSpc>
                <a:spcPct val="100000"/>
              </a:lnSpc>
              <a:spcAft>
                <a:spcPts val="400"/>
              </a:spcAft>
            </a:pPr>
            <a:r>
              <a:rPr sz="2800" b="0" i="0">
                <a:solidFill>
                  <a:srgbClr val="F5F5F0"/>
                </a:solidFill>
                <a:latin typeface="Georgia"/>
              </a:rPr>
              <a:t>A language model, in one sentence</a:t>
            </a:r>
          </a:p>
        </p:txBody>
      </p:sp>
      <p:cxnSp>
        <p:nvCxnSpPr>
          <p:cNvPr id="4" name="Connector 3"/>
          <p:cNvCxnSpPr/>
          <p:nvPr/>
        </p:nvCxnSpPr>
        <p:spPr>
          <a:xfrm>
            <a:off x="594360" y="1389888"/>
            <a:ext cx="914400" cy="0"/>
          </a:xfrm>
          <a:prstGeom prst="line">
            <a:avLst/>
          </a:prstGeom>
          <a:ln w="31750">
            <a:solidFill>
              <a:srgbClr val="0891B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554480"/>
            <a:ext cx="11064240" cy="822960"/>
          </a:xfrm>
          <a:prstGeom prst="rect">
            <a:avLst/>
          </a:prstGeom>
          <a:noFill/>
        </p:spPr>
        <p:txBody>
          <a:bodyPr wrap="square" lIns="45720" rIns="45720" anchor="t">
            <a:noAutofit/>
          </a:bodyPr>
          <a:lstStyle/>
          <a:p>
            <a:pPr algn="l">
              <a:lnSpc>
                <a:spcPct val="115000"/>
              </a:lnSpc>
              <a:spcAft>
                <a:spcPts val="400"/>
              </a:spcAft>
            </a:pPr>
            <a:r>
              <a:rPr sz="1700" b="0" i="0">
                <a:solidFill>
                  <a:srgbClr val="D1D5DB"/>
                </a:solidFill>
                <a:latin typeface="Calibri"/>
              </a:rPr>
              <a:t>A model trained on most of the written internet to predict the next word. The side effect is a general-purpose reader and writer that follows instructions.</a:t>
            </a:r>
          </a:p>
        </p:txBody>
      </p:sp>
      <p:sp>
        <p:nvSpPr>
          <p:cNvPr id="6" name="Rounded Rectangle 5"/>
          <p:cNvSpPr/>
          <p:nvPr/>
        </p:nvSpPr>
        <p:spPr>
          <a:xfrm>
            <a:off x="822960" y="2606040"/>
            <a:ext cx="2926080" cy="1143000"/>
          </a:xfrm>
          <a:prstGeom prst="roundRect">
            <a:avLst>
              <a:gd name="adj" fmla="val 12000"/>
            </a:avLst>
          </a:prstGeom>
          <a:solidFill>
            <a:srgbClr val="232932"/>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noAutofit/>
          </a:bodyPr>
          <a:lstStyle/>
          <a:p>
            <a:pPr algn="ctr">
              <a:lnSpc>
                <a:spcPct val="110000"/>
              </a:lnSpc>
              <a:spcAft>
                <a:spcPts val="300"/>
              </a:spcAft>
            </a:pPr>
            <a:r>
              <a:rPr sz="1100" b="1" i="0">
                <a:solidFill>
                  <a:srgbClr val="22D3EE"/>
                </a:solidFill>
                <a:latin typeface="Calibri"/>
              </a:rPr>
              <a:t>In</a:t>
            </a:r>
          </a:p>
          <a:p>
            <a:pPr algn="ctr">
              <a:lnSpc>
                <a:spcPct val="110000"/>
              </a:lnSpc>
              <a:spcAft>
                <a:spcPts val="300"/>
              </a:spcAft>
            </a:pPr>
            <a:r>
              <a:rPr sz="1300" b="0" i="0">
                <a:solidFill>
                  <a:srgbClr val="D1D5DB"/>
                </a:solidFill>
                <a:latin typeface="Calibri"/>
              </a:rPr>
              <a:t>Your question, plus whatever files and rules you put in front of it</a:t>
            </a:r>
          </a:p>
        </p:txBody>
      </p:sp>
      <p:cxnSp>
        <p:nvCxnSpPr>
          <p:cNvPr id="7" name="Connector 6"/>
          <p:cNvCxnSpPr/>
          <p:nvPr/>
        </p:nvCxnSpPr>
        <p:spPr>
          <a:xfrm>
            <a:off x="3794760" y="3177540"/>
            <a:ext cx="731520" cy="0"/>
          </a:xfrm>
          <a:prstGeom prst="line">
            <a:avLst/>
          </a:prstGeom>
          <a:ln w="25400">
            <a:solidFill>
              <a:srgbClr val="0891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572000" y="2606040"/>
            <a:ext cx="3017520" cy="1143000"/>
          </a:xfrm>
          <a:prstGeom prst="roundRect">
            <a:avLst>
              <a:gd name="adj" fmla="val 12000"/>
            </a:avLst>
          </a:prstGeom>
          <a:solidFill>
            <a:srgbClr val="0E4F63"/>
          </a:solidFill>
          <a:ln w="12700">
            <a:solidFill>
              <a:srgbClr val="0891B2"/>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noAutofit/>
          </a:bodyPr>
          <a:lstStyle/>
          <a:p>
            <a:pPr algn="ctr">
              <a:lnSpc>
                <a:spcPct val="110000"/>
              </a:lnSpc>
              <a:spcAft>
                <a:spcPts val="300"/>
              </a:spcAft>
            </a:pPr>
            <a:r>
              <a:rPr sz="1100" b="1" i="0">
                <a:solidFill>
                  <a:srgbClr val="22D3EE"/>
                </a:solidFill>
                <a:latin typeface="Calibri"/>
              </a:rPr>
              <a:t>The model</a:t>
            </a:r>
          </a:p>
          <a:p>
            <a:pPr algn="ctr">
              <a:lnSpc>
                <a:spcPct val="110000"/>
              </a:lnSpc>
              <a:spcAft>
                <a:spcPts val="300"/>
              </a:spcAft>
            </a:pPr>
            <a:r>
              <a:rPr sz="1300" b="0" i="0">
                <a:solidFill>
                  <a:srgbClr val="FFFFFF"/>
                </a:solidFill>
                <a:latin typeface="Calibri"/>
              </a:rPr>
              <a:t>Predicts the next word, thousands of times, using everything in the window</a:t>
            </a:r>
          </a:p>
        </p:txBody>
      </p:sp>
      <p:cxnSp>
        <p:nvCxnSpPr>
          <p:cNvPr id="9" name="Connector 8"/>
          <p:cNvCxnSpPr/>
          <p:nvPr/>
        </p:nvCxnSpPr>
        <p:spPr>
          <a:xfrm>
            <a:off x="7635240" y="3177540"/>
            <a:ext cx="731520" cy="0"/>
          </a:xfrm>
          <a:prstGeom prst="line">
            <a:avLst/>
          </a:prstGeom>
          <a:ln w="25400">
            <a:solidFill>
              <a:srgbClr val="0891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412480" y="2606040"/>
            <a:ext cx="2926080" cy="1143000"/>
          </a:xfrm>
          <a:prstGeom prst="roundRect">
            <a:avLst>
              <a:gd name="adj" fmla="val 12000"/>
            </a:avLst>
          </a:prstGeom>
          <a:solidFill>
            <a:srgbClr val="232932"/>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noAutofit/>
          </a:bodyPr>
          <a:lstStyle/>
          <a:p>
            <a:pPr algn="ctr">
              <a:lnSpc>
                <a:spcPct val="110000"/>
              </a:lnSpc>
              <a:spcAft>
                <a:spcPts val="300"/>
              </a:spcAft>
            </a:pPr>
            <a:r>
              <a:rPr sz="1100" b="1" i="0">
                <a:solidFill>
                  <a:srgbClr val="22D3EE"/>
                </a:solidFill>
                <a:latin typeface="Calibri"/>
              </a:rPr>
              <a:t>Out</a:t>
            </a:r>
          </a:p>
          <a:p>
            <a:pPr algn="ctr">
              <a:lnSpc>
                <a:spcPct val="110000"/>
              </a:lnSpc>
              <a:spcAft>
                <a:spcPts val="300"/>
              </a:spcAft>
            </a:pPr>
            <a:r>
              <a:rPr sz="1300" b="0" i="0">
                <a:solidFill>
                  <a:srgbClr val="D1D5DB"/>
                </a:solidFill>
                <a:latin typeface="Calibri"/>
              </a:rPr>
              <a:t>Text, code, a table, or a decision about which tool to use next</a:t>
            </a:r>
          </a:p>
        </p:txBody>
      </p:sp>
      <p:sp>
        <p:nvSpPr>
          <p:cNvPr id="11" name="Rounded Rectangle 10"/>
          <p:cNvSpPr/>
          <p:nvPr/>
        </p:nvSpPr>
        <p:spPr>
          <a:xfrm>
            <a:off x="822960" y="4114800"/>
            <a:ext cx="3291840" cy="1737360"/>
          </a:xfrm>
          <a:prstGeom prst="roundRect">
            <a:avLst>
              <a:gd name="adj" fmla="val 12000"/>
            </a:avLst>
          </a:prstGeom>
          <a:solidFill>
            <a:srgbClr val="1B2027"/>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6809" bIns="76809" wrap="square">
            <a:noAutofit/>
          </a:bodyPr>
          <a:lstStyle/>
          <a:p>
            <a:pPr algn="l">
              <a:lnSpc>
                <a:spcPct val="110000"/>
              </a:lnSpc>
              <a:spcAft>
                <a:spcPts val="600"/>
              </a:spcAft>
            </a:pPr>
            <a:r>
              <a:rPr sz="1450" b="1" i="0">
                <a:solidFill>
                  <a:srgbClr val="F5F5F0"/>
                </a:solidFill>
                <a:latin typeface="Calibri"/>
              </a:rPr>
              <a:t>Reads and writes at a professional level</a:t>
            </a:r>
          </a:p>
          <a:p>
            <a:pPr algn="l">
              <a:lnSpc>
                <a:spcPct val="110000"/>
              </a:lnSpc>
              <a:spcAft>
                <a:spcPts val="300"/>
              </a:spcAft>
            </a:pPr>
            <a:r>
              <a:rPr sz="1300" b="0" i="0">
                <a:solidFill>
                  <a:srgbClr val="9CA3AF"/>
                </a:solidFill>
                <a:latin typeface="Calibri"/>
              </a:rPr>
              <a:t>Summarises, drafts, extracts, compares and reasons across long documents.</a:t>
            </a:r>
          </a:p>
        </p:txBody>
      </p:sp>
      <p:sp>
        <p:nvSpPr>
          <p:cNvPr id="12" name="Rounded Rectangle 11"/>
          <p:cNvSpPr/>
          <p:nvPr/>
        </p:nvSpPr>
        <p:spPr>
          <a:xfrm>
            <a:off x="4434840" y="4114800"/>
            <a:ext cx="3291840" cy="1737360"/>
          </a:xfrm>
          <a:prstGeom prst="roundRect">
            <a:avLst>
              <a:gd name="adj" fmla="val 12000"/>
            </a:avLst>
          </a:prstGeom>
          <a:solidFill>
            <a:srgbClr val="1B2027"/>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6809" bIns="76809" wrap="square">
            <a:noAutofit/>
          </a:bodyPr>
          <a:lstStyle/>
          <a:p>
            <a:pPr algn="l">
              <a:lnSpc>
                <a:spcPct val="110000"/>
              </a:lnSpc>
              <a:spcAft>
                <a:spcPts val="600"/>
              </a:spcAft>
            </a:pPr>
            <a:r>
              <a:rPr sz="1450" b="1" i="0">
                <a:solidFill>
                  <a:srgbClr val="F5F5F0"/>
                </a:solidFill>
                <a:latin typeface="Calibri"/>
              </a:rPr>
              <a:t>Stateless</a:t>
            </a:r>
          </a:p>
          <a:p>
            <a:pPr algn="l">
              <a:lnSpc>
                <a:spcPct val="110000"/>
              </a:lnSpc>
              <a:spcAft>
                <a:spcPts val="300"/>
              </a:spcAft>
            </a:pPr>
            <a:r>
              <a:rPr sz="1300" b="0" i="0">
                <a:solidFill>
                  <a:srgbClr val="9CA3AF"/>
                </a:solidFill>
                <a:latin typeface="Calibri"/>
              </a:rPr>
              <a:t>Remembers nothing between sessions unless it is written down and handed back to it.</a:t>
            </a:r>
          </a:p>
        </p:txBody>
      </p:sp>
      <p:sp>
        <p:nvSpPr>
          <p:cNvPr id="13" name="Rounded Rectangle 12"/>
          <p:cNvSpPr/>
          <p:nvPr/>
        </p:nvSpPr>
        <p:spPr>
          <a:xfrm>
            <a:off x="8046720" y="4114800"/>
            <a:ext cx="3291840" cy="1737360"/>
          </a:xfrm>
          <a:prstGeom prst="roundRect">
            <a:avLst>
              <a:gd name="adj" fmla="val 12000"/>
            </a:avLst>
          </a:prstGeom>
          <a:solidFill>
            <a:srgbClr val="1B2027"/>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6809" bIns="76809" wrap="square">
            <a:noAutofit/>
          </a:bodyPr>
          <a:lstStyle/>
          <a:p>
            <a:pPr algn="l">
              <a:lnSpc>
                <a:spcPct val="110000"/>
              </a:lnSpc>
              <a:spcAft>
                <a:spcPts val="600"/>
              </a:spcAft>
            </a:pPr>
            <a:r>
              <a:rPr sz="1450" b="1" i="0">
                <a:solidFill>
                  <a:srgbClr val="F5F5F0"/>
                </a:solidFill>
                <a:latin typeface="Calibri"/>
              </a:rPr>
              <a:t>Probabilistic</a:t>
            </a:r>
          </a:p>
          <a:p>
            <a:pPr algn="l">
              <a:lnSpc>
                <a:spcPct val="110000"/>
              </a:lnSpc>
              <a:spcAft>
                <a:spcPts val="300"/>
              </a:spcAft>
            </a:pPr>
            <a:r>
              <a:rPr sz="1300" b="0" i="0">
                <a:solidFill>
                  <a:srgbClr val="9CA3AF"/>
                </a:solidFill>
                <a:latin typeface="Calibri"/>
              </a:rPr>
              <a:t>The same question gets a slightly different answer each time. Without a procedure, the shape of the work drifts.</a:t>
            </a:r>
          </a:p>
        </p:txBody>
      </p:sp>
      <p:sp>
        <p:nvSpPr>
          <p:cNvPr id="14" name="footer"/>
          <p:cNvSpPr txBox="1"/>
          <p:nvPr/>
        </p:nvSpPr>
        <p:spPr>
          <a:xfrm>
            <a:off x="548640" y="6446520"/>
            <a:ext cx="7772400" cy="274320"/>
          </a:xfrm>
          <a:prstGeom prst="rect">
            <a:avLst/>
          </a:prstGeom>
          <a:noFill/>
        </p:spPr>
        <p:txBody>
          <a:bodyPr wrap="square" lIns="45720" rIns="45720" anchor="t">
            <a:noAutofit/>
          </a:bodyPr>
          <a:lstStyle/>
          <a:p>
            <a:pPr algn="l">
              <a:lnSpc>
                <a:spcPct val="112000"/>
              </a:lnSpc>
              <a:spcAft>
                <a:spcPts val="400"/>
              </a:spcAft>
            </a:pPr>
            <a:r>
              <a:rPr sz="900" b="0" i="0">
                <a:solidFill>
                  <a:srgbClr val="6B7280"/>
                </a:solidFill>
                <a:latin typeface="Calibri"/>
              </a:rPr>
              <a:t>Laniakea Partners · A Second Brain for Investing · August 2026  ·  Part 1</a:t>
            </a:r>
          </a:p>
        </p:txBody>
      </p:sp>
      <p:sp>
        <p:nvSpPr>
          <p:cNvPr id="15" name="footer"/>
          <p:cNvSpPr txBox="1"/>
          <p:nvPr/>
        </p:nvSpPr>
        <p:spPr>
          <a:xfrm>
            <a:off x="10332720" y="6446520"/>
            <a:ext cx="1325880" cy="274320"/>
          </a:xfrm>
          <a:prstGeom prst="rect">
            <a:avLst/>
          </a:prstGeom>
          <a:noFill/>
        </p:spPr>
        <p:txBody>
          <a:bodyPr wrap="square" lIns="45720" rIns="45720" anchor="t">
            <a:noAutofit/>
          </a:bodyPr>
          <a:lstStyle/>
          <a:p>
            <a:pPr algn="r">
              <a:lnSpc>
                <a:spcPct val="112000"/>
              </a:lnSpc>
              <a:spcAft>
                <a:spcPts val="400"/>
              </a:spcAft>
            </a:pPr>
            <a:r>
              <a:rPr sz="900" b="0" i="0">
                <a:solidFill>
                  <a:srgbClr val="6B7280"/>
                </a:solidFill>
                <a:latin typeface="Calibri"/>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548640" y="292608"/>
            <a:ext cx="10972800" cy="320040"/>
          </a:xfrm>
          <a:prstGeom prst="rect">
            <a:avLst/>
          </a:prstGeom>
          <a:noFill/>
        </p:spPr>
        <p:txBody>
          <a:bodyPr wrap="square" lIns="45720" rIns="45720" anchor="t">
            <a:noAutofit/>
          </a:bodyPr>
          <a:lstStyle/>
          <a:p>
            <a:pPr algn="l">
              <a:lnSpc>
                <a:spcPct val="112000"/>
              </a:lnSpc>
              <a:spcAft>
                <a:spcPts val="400"/>
              </a:spcAft>
            </a:pPr>
            <a:r>
              <a:rPr sz="1100" b="1" i="0">
                <a:solidFill>
                  <a:srgbClr val="22D3EE"/>
                </a:solidFill>
                <a:latin typeface="Calibri"/>
              </a:rPr>
              <a:t>PART 1 · WHAT AI IS</a:t>
            </a:r>
          </a:p>
        </p:txBody>
      </p:sp>
      <p:sp>
        <p:nvSpPr>
          <p:cNvPr id="3" name="TextBox 2"/>
          <p:cNvSpPr txBox="1"/>
          <p:nvPr/>
        </p:nvSpPr>
        <p:spPr>
          <a:xfrm>
            <a:off x="548640" y="566928"/>
            <a:ext cx="11064240" cy="868680"/>
          </a:xfrm>
          <a:prstGeom prst="rect">
            <a:avLst/>
          </a:prstGeom>
          <a:noFill/>
        </p:spPr>
        <p:txBody>
          <a:bodyPr wrap="square" lIns="45720" rIns="45720" anchor="t">
            <a:noAutofit/>
          </a:bodyPr>
          <a:lstStyle/>
          <a:p>
            <a:pPr algn="l">
              <a:lnSpc>
                <a:spcPct val="100000"/>
              </a:lnSpc>
              <a:spcAft>
                <a:spcPts val="400"/>
              </a:spcAft>
            </a:pPr>
            <a:r>
              <a:rPr sz="2800" b="0" i="0">
                <a:solidFill>
                  <a:srgbClr val="F5F5F0"/>
                </a:solidFill>
                <a:latin typeface="Georgia"/>
              </a:rPr>
              <a:t>The capability ladder, 2022 to 2026</a:t>
            </a:r>
          </a:p>
        </p:txBody>
      </p:sp>
      <p:cxnSp>
        <p:nvCxnSpPr>
          <p:cNvPr id="4" name="Connector 3"/>
          <p:cNvCxnSpPr/>
          <p:nvPr/>
        </p:nvCxnSpPr>
        <p:spPr>
          <a:xfrm>
            <a:off x="594360" y="1389888"/>
            <a:ext cx="914400" cy="0"/>
          </a:xfrm>
          <a:prstGeom prst="line">
            <a:avLst/>
          </a:prstGeom>
          <a:ln w="31750">
            <a:solidFill>
              <a:srgbClr val="0891B2"/>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4434840"/>
            <a:ext cx="2148840" cy="1572768"/>
          </a:xfrm>
          <a:prstGeom prst="roundRect">
            <a:avLst>
              <a:gd name="adj" fmla="val 12000"/>
            </a:avLst>
          </a:prstGeom>
          <a:solidFill>
            <a:srgbClr val="1B2027"/>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6809" bIns="76809" wrap="square">
            <a:noAutofit/>
          </a:bodyPr>
          <a:lstStyle/>
          <a:p>
            <a:pPr algn="l">
              <a:lnSpc>
                <a:spcPct val="110000"/>
              </a:lnSpc>
              <a:spcAft>
                <a:spcPts val="400"/>
              </a:spcAft>
            </a:pPr>
            <a:r>
              <a:rPr sz="1350" b="1" i="0">
                <a:solidFill>
                  <a:srgbClr val="F5F5F0"/>
                </a:solidFill>
                <a:latin typeface="Calibri"/>
              </a:rPr>
              <a:t>1 · Chat</a:t>
            </a:r>
            <a:r>
              <a:rPr sz="1050" b="0" i="0">
                <a:solidFill>
                  <a:srgbClr val="22D3EE"/>
                </a:solidFill>
                <a:latin typeface="Calibri"/>
              </a:rPr>
              <a:t>   2022</a:t>
            </a:r>
          </a:p>
          <a:p>
            <a:pPr algn="l">
              <a:lnSpc>
                <a:spcPct val="110000"/>
              </a:lnSpc>
              <a:spcAft>
                <a:spcPts val="300"/>
              </a:spcAft>
            </a:pPr>
            <a:r>
              <a:rPr sz="1150" b="0" i="0">
                <a:solidFill>
                  <a:srgbClr val="D1D5DB"/>
                </a:solidFill>
                <a:latin typeface="Calibri"/>
              </a:rPr>
              <a:t>Answers questions from what it learnt in training. Impressive, unreliable, forgetful.</a:t>
            </a:r>
          </a:p>
        </p:txBody>
      </p:sp>
      <p:cxnSp>
        <p:nvCxnSpPr>
          <p:cNvPr id="6" name="Connector 5"/>
          <p:cNvCxnSpPr/>
          <p:nvPr/>
        </p:nvCxnSpPr>
        <p:spPr>
          <a:xfrm flipV="1">
            <a:off x="2697480" y="4562856"/>
            <a:ext cx="137160" cy="658368"/>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834640" y="3776472"/>
            <a:ext cx="2148840" cy="1572768"/>
          </a:xfrm>
          <a:prstGeom prst="roundRect">
            <a:avLst>
              <a:gd name="adj" fmla="val 12000"/>
            </a:avLst>
          </a:prstGeom>
          <a:solidFill>
            <a:srgbClr val="1B2027"/>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6809" bIns="76809" wrap="square">
            <a:noAutofit/>
          </a:bodyPr>
          <a:lstStyle/>
          <a:p>
            <a:pPr algn="l">
              <a:lnSpc>
                <a:spcPct val="110000"/>
              </a:lnSpc>
              <a:spcAft>
                <a:spcPts val="400"/>
              </a:spcAft>
            </a:pPr>
            <a:r>
              <a:rPr sz="1350" b="1" i="0">
                <a:solidFill>
                  <a:srgbClr val="F5F5F0"/>
                </a:solidFill>
                <a:latin typeface="Calibri"/>
              </a:rPr>
              <a:t>2 · Long context</a:t>
            </a:r>
            <a:r>
              <a:rPr sz="1050" b="0" i="0">
                <a:solidFill>
                  <a:srgbClr val="22D3EE"/>
                </a:solidFill>
                <a:latin typeface="Calibri"/>
              </a:rPr>
              <a:t>   2024</a:t>
            </a:r>
          </a:p>
          <a:p>
            <a:pPr algn="l">
              <a:lnSpc>
                <a:spcPct val="110000"/>
              </a:lnSpc>
              <a:spcAft>
                <a:spcPts val="300"/>
              </a:spcAft>
            </a:pPr>
            <a:r>
              <a:rPr sz="1150" b="0" i="0">
                <a:solidFill>
                  <a:srgbClr val="D1D5DB"/>
                </a:solidFill>
                <a:latin typeface="Calibri"/>
              </a:rPr>
              <a:t>Reads a million tokens, about 2,500 pages, in one prompt: whole filings, whole books.</a:t>
            </a:r>
          </a:p>
        </p:txBody>
      </p:sp>
      <p:cxnSp>
        <p:nvCxnSpPr>
          <p:cNvPr id="8" name="Connector 7"/>
          <p:cNvCxnSpPr/>
          <p:nvPr/>
        </p:nvCxnSpPr>
        <p:spPr>
          <a:xfrm flipV="1">
            <a:off x="4983480" y="3904488"/>
            <a:ext cx="137160" cy="658368"/>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120640" y="3118103"/>
            <a:ext cx="2148840" cy="1572768"/>
          </a:xfrm>
          <a:prstGeom prst="roundRect">
            <a:avLst>
              <a:gd name="adj" fmla="val 12000"/>
            </a:avLst>
          </a:prstGeom>
          <a:solidFill>
            <a:srgbClr val="1B2027"/>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6809" bIns="76809" wrap="square">
            <a:noAutofit/>
          </a:bodyPr>
          <a:lstStyle/>
          <a:p>
            <a:pPr algn="l">
              <a:lnSpc>
                <a:spcPct val="110000"/>
              </a:lnSpc>
              <a:spcAft>
                <a:spcPts val="400"/>
              </a:spcAft>
            </a:pPr>
            <a:r>
              <a:rPr sz="1350" b="1" i="0">
                <a:solidFill>
                  <a:srgbClr val="F5F5F0"/>
                </a:solidFill>
                <a:latin typeface="Calibri"/>
              </a:rPr>
              <a:t>3 · Tools</a:t>
            </a:r>
            <a:r>
              <a:rPr sz="1050" b="0" i="0">
                <a:solidFill>
                  <a:srgbClr val="22D3EE"/>
                </a:solidFill>
                <a:latin typeface="Calibri"/>
              </a:rPr>
              <a:t>   2024–25</a:t>
            </a:r>
          </a:p>
          <a:p>
            <a:pPr algn="l">
              <a:lnSpc>
                <a:spcPct val="110000"/>
              </a:lnSpc>
              <a:spcAft>
                <a:spcPts val="300"/>
              </a:spcAft>
            </a:pPr>
            <a:r>
              <a:rPr sz="1150" b="0" i="0">
                <a:solidFill>
                  <a:srgbClr val="D1D5DB"/>
                </a:solidFill>
                <a:latin typeface="Calibri"/>
              </a:rPr>
              <a:t>Browses the web, runs code, reads and writes files, calls data APIs. Computes instead of guessing.</a:t>
            </a:r>
          </a:p>
        </p:txBody>
      </p:sp>
      <p:cxnSp>
        <p:nvCxnSpPr>
          <p:cNvPr id="10" name="Connector 9"/>
          <p:cNvCxnSpPr/>
          <p:nvPr/>
        </p:nvCxnSpPr>
        <p:spPr>
          <a:xfrm flipV="1">
            <a:off x="7269479" y="3246120"/>
            <a:ext cx="137161" cy="658367"/>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406640" y="2459735"/>
            <a:ext cx="2148840" cy="1572768"/>
          </a:xfrm>
          <a:prstGeom prst="roundRect">
            <a:avLst>
              <a:gd name="adj" fmla="val 12000"/>
            </a:avLst>
          </a:prstGeom>
          <a:solidFill>
            <a:srgbClr val="1B2027"/>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6809" bIns="76809" wrap="square">
            <a:noAutofit/>
          </a:bodyPr>
          <a:lstStyle/>
          <a:p>
            <a:pPr algn="l">
              <a:lnSpc>
                <a:spcPct val="110000"/>
              </a:lnSpc>
              <a:spcAft>
                <a:spcPts val="400"/>
              </a:spcAft>
            </a:pPr>
            <a:r>
              <a:rPr sz="1350" b="1" i="0">
                <a:solidFill>
                  <a:srgbClr val="F5F5F0"/>
                </a:solidFill>
                <a:latin typeface="Calibri"/>
              </a:rPr>
              <a:t>4 · Agents</a:t>
            </a:r>
            <a:r>
              <a:rPr sz="1050" b="0" i="0">
                <a:solidFill>
                  <a:srgbClr val="22D3EE"/>
                </a:solidFill>
                <a:latin typeface="Calibri"/>
              </a:rPr>
              <a:t>   2025–26</a:t>
            </a:r>
          </a:p>
          <a:p>
            <a:pPr algn="l">
              <a:lnSpc>
                <a:spcPct val="110000"/>
              </a:lnSpc>
              <a:spcAft>
                <a:spcPts val="300"/>
              </a:spcAft>
            </a:pPr>
            <a:r>
              <a:rPr sz="1150" b="0" i="0">
                <a:solidFill>
                  <a:srgbClr val="D1D5DB"/>
                </a:solidFill>
                <a:latin typeface="Calibri"/>
              </a:rPr>
              <a:t>Plans and executes multi-step jobs over minutes or hours; checks its own work; asks when blocked.</a:t>
            </a:r>
          </a:p>
        </p:txBody>
      </p:sp>
      <p:cxnSp>
        <p:nvCxnSpPr>
          <p:cNvPr id="12" name="Connector 11"/>
          <p:cNvCxnSpPr/>
          <p:nvPr/>
        </p:nvCxnSpPr>
        <p:spPr>
          <a:xfrm flipV="1">
            <a:off x="9555480" y="2587751"/>
            <a:ext cx="137160" cy="658368"/>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692640" y="1801367"/>
            <a:ext cx="2148840" cy="1572768"/>
          </a:xfrm>
          <a:prstGeom prst="roundRect">
            <a:avLst>
              <a:gd name="adj" fmla="val 12000"/>
            </a:avLst>
          </a:prstGeom>
          <a:solidFill>
            <a:srgbClr val="0E4F63"/>
          </a:solidFill>
          <a:ln w="12700">
            <a:solidFill>
              <a:srgbClr val="0891B2"/>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6809" bIns="76809" wrap="square">
            <a:noAutofit/>
          </a:bodyPr>
          <a:lstStyle/>
          <a:p>
            <a:pPr algn="l">
              <a:lnSpc>
                <a:spcPct val="110000"/>
              </a:lnSpc>
              <a:spcAft>
                <a:spcPts val="400"/>
              </a:spcAft>
            </a:pPr>
            <a:r>
              <a:rPr sz="1350" b="1" i="0">
                <a:solidFill>
                  <a:srgbClr val="F5F5F0"/>
                </a:solidFill>
                <a:latin typeface="Calibri"/>
              </a:rPr>
              <a:t>5 · Systems</a:t>
            </a:r>
            <a:r>
              <a:rPr sz="1050" b="0" i="0">
                <a:solidFill>
                  <a:srgbClr val="22D3EE"/>
                </a:solidFill>
                <a:latin typeface="Calibri"/>
              </a:rPr>
              <a:t>   2026</a:t>
            </a:r>
          </a:p>
          <a:p>
            <a:pPr algn="l">
              <a:lnSpc>
                <a:spcPct val="110000"/>
              </a:lnSpc>
              <a:spcAft>
                <a:spcPts val="300"/>
              </a:spcAft>
            </a:pPr>
            <a:r>
              <a:rPr sz="1150" b="0" i="0">
                <a:solidFill>
                  <a:srgbClr val="FFFFFF"/>
                </a:solidFill>
                <a:latin typeface="Calibri"/>
              </a:rPr>
              <a:t>Agents on schedules, teams of agents that verify each other, rules enforced outside the model.</a:t>
            </a:r>
          </a:p>
        </p:txBody>
      </p:sp>
      <p:sp>
        <p:nvSpPr>
          <p:cNvPr id="14" name="TextBox 13"/>
          <p:cNvSpPr txBox="1"/>
          <p:nvPr/>
        </p:nvSpPr>
        <p:spPr>
          <a:xfrm>
            <a:off x="548640" y="6144768"/>
            <a:ext cx="11064240" cy="365760"/>
          </a:xfrm>
          <a:prstGeom prst="rect">
            <a:avLst/>
          </a:prstGeom>
          <a:noFill/>
        </p:spPr>
        <p:txBody>
          <a:bodyPr wrap="square" lIns="45720" rIns="45720" anchor="t">
            <a:noAutofit/>
          </a:bodyPr>
          <a:lstStyle/>
          <a:p>
            <a:pPr algn="l">
              <a:lnSpc>
                <a:spcPct val="112000"/>
              </a:lnSpc>
              <a:spcAft>
                <a:spcPts val="400"/>
              </a:spcAft>
            </a:pPr>
            <a:r>
              <a:rPr sz="1300" b="0" i="1">
                <a:solidFill>
                  <a:srgbClr val="22D3EE"/>
                </a:solidFill>
                <a:latin typeface="Calibri"/>
              </a:rPr>
              <a:t>Each rung is a capability the rung below lacked. Most investment use is still on rung 1.</a:t>
            </a:r>
          </a:p>
        </p:txBody>
      </p:sp>
      <p:sp>
        <p:nvSpPr>
          <p:cNvPr id="15" name="footer"/>
          <p:cNvSpPr txBox="1"/>
          <p:nvPr/>
        </p:nvSpPr>
        <p:spPr>
          <a:xfrm>
            <a:off x="548640" y="6446520"/>
            <a:ext cx="7772400" cy="274320"/>
          </a:xfrm>
          <a:prstGeom prst="rect">
            <a:avLst/>
          </a:prstGeom>
          <a:noFill/>
        </p:spPr>
        <p:txBody>
          <a:bodyPr wrap="square" lIns="45720" rIns="45720" anchor="t">
            <a:noAutofit/>
          </a:bodyPr>
          <a:lstStyle/>
          <a:p>
            <a:pPr algn="l">
              <a:lnSpc>
                <a:spcPct val="112000"/>
              </a:lnSpc>
              <a:spcAft>
                <a:spcPts val="400"/>
              </a:spcAft>
            </a:pPr>
            <a:r>
              <a:rPr sz="900" b="0" i="0">
                <a:solidFill>
                  <a:srgbClr val="6B7280"/>
                </a:solidFill>
                <a:latin typeface="Calibri"/>
              </a:rPr>
              <a:t>Laniakea Partners · A Second Brain for Investing · August 2026  ·  Part 1</a:t>
            </a:r>
          </a:p>
        </p:txBody>
      </p:sp>
      <p:sp>
        <p:nvSpPr>
          <p:cNvPr id="16" name="footer"/>
          <p:cNvSpPr txBox="1"/>
          <p:nvPr/>
        </p:nvSpPr>
        <p:spPr>
          <a:xfrm>
            <a:off x="10332720" y="6446520"/>
            <a:ext cx="1325880" cy="274320"/>
          </a:xfrm>
          <a:prstGeom prst="rect">
            <a:avLst/>
          </a:prstGeom>
          <a:noFill/>
        </p:spPr>
        <p:txBody>
          <a:bodyPr wrap="square" lIns="45720" rIns="45720" anchor="t">
            <a:noAutofit/>
          </a:bodyPr>
          <a:lstStyle/>
          <a:p>
            <a:pPr algn="r">
              <a:lnSpc>
                <a:spcPct val="112000"/>
              </a:lnSpc>
              <a:spcAft>
                <a:spcPts val="400"/>
              </a:spcAft>
            </a:pPr>
            <a:r>
              <a:rPr sz="900" b="0" i="0">
                <a:solidFill>
                  <a:srgbClr val="6B7280"/>
                </a:solidFill>
                <a:latin typeface="Calibri"/>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548640" y="292608"/>
            <a:ext cx="10972800" cy="320040"/>
          </a:xfrm>
          <a:prstGeom prst="rect">
            <a:avLst/>
          </a:prstGeom>
          <a:noFill/>
        </p:spPr>
        <p:txBody>
          <a:bodyPr wrap="square" lIns="45720" rIns="45720" anchor="t">
            <a:noAutofit/>
          </a:bodyPr>
          <a:lstStyle/>
          <a:p>
            <a:pPr algn="l">
              <a:lnSpc>
                <a:spcPct val="112000"/>
              </a:lnSpc>
              <a:spcAft>
                <a:spcPts val="400"/>
              </a:spcAft>
            </a:pPr>
            <a:r>
              <a:rPr sz="1100" b="1" i="0">
                <a:solidFill>
                  <a:srgbClr val="22D3EE"/>
                </a:solidFill>
                <a:latin typeface="Calibri"/>
              </a:rPr>
              <a:t>PART 1 · WHAT AI IS</a:t>
            </a:r>
          </a:p>
        </p:txBody>
      </p:sp>
      <p:sp>
        <p:nvSpPr>
          <p:cNvPr id="3" name="TextBox 2"/>
          <p:cNvSpPr txBox="1"/>
          <p:nvPr/>
        </p:nvSpPr>
        <p:spPr>
          <a:xfrm>
            <a:off x="548640" y="566928"/>
            <a:ext cx="11064240" cy="868680"/>
          </a:xfrm>
          <a:prstGeom prst="rect">
            <a:avLst/>
          </a:prstGeom>
          <a:noFill/>
        </p:spPr>
        <p:txBody>
          <a:bodyPr wrap="square" lIns="45720" rIns="45720" anchor="t">
            <a:noAutofit/>
          </a:bodyPr>
          <a:lstStyle/>
          <a:p>
            <a:pPr algn="l">
              <a:lnSpc>
                <a:spcPct val="100000"/>
              </a:lnSpc>
              <a:spcAft>
                <a:spcPts val="400"/>
              </a:spcAft>
            </a:pPr>
            <a:r>
              <a:rPr sz="2800" b="0" i="0">
                <a:solidFill>
                  <a:srgbClr val="F5F5F0"/>
                </a:solidFill>
                <a:latin typeface="Georgia"/>
              </a:rPr>
              <a:t>What it does well, and where it fails without help</a:t>
            </a:r>
          </a:p>
        </p:txBody>
      </p:sp>
      <p:cxnSp>
        <p:nvCxnSpPr>
          <p:cNvPr id="4" name="Connector 3"/>
          <p:cNvCxnSpPr/>
          <p:nvPr/>
        </p:nvCxnSpPr>
        <p:spPr>
          <a:xfrm>
            <a:off x="594360" y="1389888"/>
            <a:ext cx="914400" cy="0"/>
          </a:xfrm>
          <a:prstGeom prst="line">
            <a:avLst/>
          </a:prstGeom>
          <a:ln w="31750">
            <a:solidFill>
              <a:srgbClr val="0891B2"/>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1645920"/>
            <a:ext cx="5394959" cy="3840480"/>
          </a:xfrm>
          <a:prstGeom prst="roundRect">
            <a:avLst>
              <a:gd name="adj" fmla="val 12000"/>
            </a:avLst>
          </a:prstGeom>
          <a:solidFill>
            <a:srgbClr val="1B2027"/>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a:noAutofit/>
          </a:bodyPr>
          <a:lstStyle/>
          <a:p>
            <a:pPr algn="ctr"/>
          </a:p>
        </p:txBody>
      </p:sp>
      <p:sp>
        <p:nvSpPr>
          <p:cNvPr id="6" name="TextBox 5"/>
          <p:cNvSpPr txBox="1"/>
          <p:nvPr/>
        </p:nvSpPr>
        <p:spPr>
          <a:xfrm>
            <a:off x="731520" y="1783080"/>
            <a:ext cx="5029199" cy="411480"/>
          </a:xfrm>
          <a:prstGeom prst="rect">
            <a:avLst/>
          </a:prstGeom>
          <a:noFill/>
        </p:spPr>
        <p:txBody>
          <a:bodyPr wrap="square" lIns="45720" rIns="45720" anchor="t">
            <a:noAutofit/>
          </a:bodyPr>
          <a:lstStyle/>
          <a:p>
            <a:pPr algn="l">
              <a:lnSpc>
                <a:spcPct val="112000"/>
              </a:lnSpc>
              <a:spcAft>
                <a:spcPts val="400"/>
              </a:spcAft>
            </a:pPr>
            <a:r>
              <a:rPr sz="1500" b="1" i="0">
                <a:solidFill>
                  <a:srgbClr val="34D399"/>
                </a:solidFill>
                <a:latin typeface="Calibri"/>
              </a:rPr>
              <a:t>Does well</a:t>
            </a:r>
          </a:p>
        </p:txBody>
      </p:sp>
      <p:sp>
        <p:nvSpPr>
          <p:cNvPr id="7" name="TextBox 6"/>
          <p:cNvSpPr txBox="1"/>
          <p:nvPr/>
        </p:nvSpPr>
        <p:spPr>
          <a:xfrm>
            <a:off x="731520" y="2240280"/>
            <a:ext cx="5029199" cy="3108960"/>
          </a:xfrm>
          <a:prstGeom prst="rect">
            <a:avLst/>
          </a:prstGeom>
          <a:noFill/>
        </p:spPr>
        <p:txBody>
          <a:bodyPr wrap="square" lIns="45720" rIns="45720" anchor="t">
            <a:noAutofit/>
          </a:bodyPr>
          <a:lstStyle/>
          <a:p>
            <a:pPr algn="l" marL="219456" indent="-182880">
              <a:lnSpc>
                <a:spcPct val="112000"/>
              </a:lnSpc>
              <a:spcAft>
                <a:spcPts val="500"/>
              </a:spcAft>
              <a:buClr>
                <a:srgbClr val="34D399"/>
              </a:buClr>
              <a:buFont typeface="Arial"/>
              <a:buChar char="•"/>
            </a:pPr>
            <a:r>
              <a:rPr sz="1400" b="0" i="0">
                <a:solidFill>
                  <a:srgbClr val="D1D5DB"/>
                </a:solidFill>
                <a:latin typeface="Calibri"/>
              </a:rPr>
              <a:t>Reads a 100-page filing or a two-hour transcript in seconds</a:t>
            </a:r>
          </a:p>
          <a:p>
            <a:pPr algn="l" marL="219456" indent="-182880">
              <a:lnSpc>
                <a:spcPct val="112000"/>
              </a:lnSpc>
              <a:spcAft>
                <a:spcPts val="500"/>
              </a:spcAft>
              <a:buClr>
                <a:srgbClr val="34D399"/>
              </a:buClr>
              <a:buFont typeface="Arial"/>
              <a:buChar char="•"/>
            </a:pPr>
            <a:r>
              <a:rPr sz="1400" b="0" i="0">
                <a:solidFill>
                  <a:srgbClr val="D1D5DB"/>
                </a:solidFill>
                <a:latin typeface="Calibri"/>
              </a:rPr>
              <a:t>Extracts structured data from messy text</a:t>
            </a:r>
          </a:p>
          <a:p>
            <a:pPr algn="l" marL="219456" indent="-182880">
              <a:lnSpc>
                <a:spcPct val="112000"/>
              </a:lnSpc>
              <a:spcAft>
                <a:spcPts val="500"/>
              </a:spcAft>
              <a:buClr>
                <a:srgbClr val="34D399"/>
              </a:buClr>
              <a:buFont typeface="Arial"/>
              <a:buChar char="•"/>
            </a:pPr>
            <a:r>
              <a:rPr sz="1400" b="0" i="0">
                <a:solidFill>
                  <a:srgbClr val="D1D5DB"/>
                </a:solidFill>
                <a:latin typeface="Calibri"/>
              </a:rPr>
              <a:t>Drafts in a house style once shown the style</a:t>
            </a:r>
          </a:p>
          <a:p>
            <a:pPr algn="l" marL="219456" indent="-182880">
              <a:lnSpc>
                <a:spcPct val="112000"/>
              </a:lnSpc>
              <a:spcAft>
                <a:spcPts val="500"/>
              </a:spcAft>
              <a:buClr>
                <a:srgbClr val="34D399"/>
              </a:buClr>
              <a:buFont typeface="Arial"/>
              <a:buChar char="•"/>
            </a:pPr>
            <a:r>
              <a:rPr sz="1400" b="0" i="0">
                <a:solidFill>
                  <a:srgbClr val="D1D5DB"/>
                </a:solidFill>
                <a:latin typeface="Calibri"/>
              </a:rPr>
              <a:t>Writes and runs code, so arithmetic is computed rather than guessed</a:t>
            </a:r>
          </a:p>
          <a:p>
            <a:pPr algn="l" marL="219456" indent="-182880">
              <a:lnSpc>
                <a:spcPct val="112000"/>
              </a:lnSpc>
              <a:spcAft>
                <a:spcPts val="500"/>
              </a:spcAft>
              <a:buClr>
                <a:srgbClr val="34D399"/>
              </a:buClr>
              <a:buFont typeface="Arial"/>
              <a:buChar char="•"/>
            </a:pPr>
            <a:r>
              <a:rPr sz="1400" b="0" i="0">
                <a:solidFill>
                  <a:srgbClr val="D1D5DB"/>
                </a:solidFill>
                <a:latin typeface="Calibri"/>
              </a:rPr>
              <a:t>Runs multi-step jobs across many files and reports what it touched</a:t>
            </a:r>
          </a:p>
        </p:txBody>
      </p:sp>
      <p:sp>
        <p:nvSpPr>
          <p:cNvPr id="8" name="Rounded Rectangle 7"/>
          <p:cNvSpPr/>
          <p:nvPr/>
        </p:nvSpPr>
        <p:spPr>
          <a:xfrm>
            <a:off x="6217919" y="1645920"/>
            <a:ext cx="5394959" cy="3840480"/>
          </a:xfrm>
          <a:prstGeom prst="roundRect">
            <a:avLst>
              <a:gd name="adj" fmla="val 12000"/>
            </a:avLst>
          </a:prstGeom>
          <a:solidFill>
            <a:srgbClr val="1B2027"/>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a:noAutofit/>
          </a:bodyPr>
          <a:lstStyle/>
          <a:p>
            <a:pPr algn="ctr"/>
          </a:p>
        </p:txBody>
      </p:sp>
      <p:sp>
        <p:nvSpPr>
          <p:cNvPr id="9" name="TextBox 8"/>
          <p:cNvSpPr txBox="1"/>
          <p:nvPr/>
        </p:nvSpPr>
        <p:spPr>
          <a:xfrm>
            <a:off x="6400799" y="1783080"/>
            <a:ext cx="5029199" cy="411480"/>
          </a:xfrm>
          <a:prstGeom prst="rect">
            <a:avLst/>
          </a:prstGeom>
          <a:noFill/>
        </p:spPr>
        <p:txBody>
          <a:bodyPr wrap="square" lIns="45720" rIns="45720" anchor="t">
            <a:noAutofit/>
          </a:bodyPr>
          <a:lstStyle/>
          <a:p>
            <a:pPr algn="l">
              <a:lnSpc>
                <a:spcPct val="112000"/>
              </a:lnSpc>
              <a:spcAft>
                <a:spcPts val="400"/>
              </a:spcAft>
            </a:pPr>
            <a:r>
              <a:rPr sz="1500" b="1" i="0">
                <a:solidFill>
                  <a:srgbClr val="F87171"/>
                </a:solidFill>
                <a:latin typeface="Calibri"/>
              </a:rPr>
              <a:t>Fails without help</a:t>
            </a:r>
          </a:p>
        </p:txBody>
      </p:sp>
      <p:sp>
        <p:nvSpPr>
          <p:cNvPr id="10" name="TextBox 9"/>
          <p:cNvSpPr txBox="1"/>
          <p:nvPr/>
        </p:nvSpPr>
        <p:spPr>
          <a:xfrm>
            <a:off x="6400799" y="2240280"/>
            <a:ext cx="5029199" cy="3108960"/>
          </a:xfrm>
          <a:prstGeom prst="rect">
            <a:avLst/>
          </a:prstGeom>
          <a:noFill/>
        </p:spPr>
        <p:txBody>
          <a:bodyPr wrap="square" lIns="45720" rIns="45720" anchor="t">
            <a:noAutofit/>
          </a:bodyPr>
          <a:lstStyle/>
          <a:p>
            <a:pPr algn="l" marL="219456" indent="-182880">
              <a:lnSpc>
                <a:spcPct val="112000"/>
              </a:lnSpc>
              <a:spcAft>
                <a:spcPts val="500"/>
              </a:spcAft>
              <a:buClr>
                <a:srgbClr val="F87171"/>
              </a:buClr>
              <a:buFont typeface="Arial"/>
              <a:buChar char="•"/>
            </a:pPr>
            <a:r>
              <a:rPr sz="1400" b="0" i="0">
                <a:solidFill>
                  <a:srgbClr val="D1D5DB"/>
                </a:solidFill>
                <a:latin typeface="Calibri"/>
              </a:rPr>
              <a:t>Knows nothing about your positions unless told</a:t>
            </a:r>
          </a:p>
          <a:p>
            <a:pPr algn="l" marL="219456" indent="-182880">
              <a:lnSpc>
                <a:spcPct val="112000"/>
              </a:lnSpc>
              <a:spcAft>
                <a:spcPts val="500"/>
              </a:spcAft>
              <a:buClr>
                <a:srgbClr val="F87171"/>
              </a:buClr>
              <a:buFont typeface="Arial"/>
              <a:buChar char="•"/>
            </a:pPr>
            <a:r>
              <a:rPr sz="1400" b="0" i="0">
                <a:solidFill>
                  <a:srgbClr val="D1D5DB"/>
                </a:solidFill>
                <a:latin typeface="Calibri"/>
              </a:rPr>
              <a:t>Forgets everything between sessions</a:t>
            </a:r>
          </a:p>
          <a:p>
            <a:pPr algn="l" marL="219456" indent="-182880">
              <a:lnSpc>
                <a:spcPct val="112000"/>
              </a:lnSpc>
              <a:spcAft>
                <a:spcPts val="500"/>
              </a:spcAft>
              <a:buClr>
                <a:srgbClr val="F87171"/>
              </a:buClr>
              <a:buFont typeface="Arial"/>
              <a:buChar char="•"/>
            </a:pPr>
            <a:r>
              <a:rPr sz="1400" b="0" i="0">
                <a:solidFill>
                  <a:srgbClr val="D1D5DB"/>
                </a:solidFill>
                <a:latin typeface="Calibri"/>
              </a:rPr>
              <a:t>States wrong facts fluently, with no built-in doubt</a:t>
            </a:r>
          </a:p>
          <a:p>
            <a:pPr algn="l" marL="219456" indent="-182880">
              <a:lnSpc>
                <a:spcPct val="112000"/>
              </a:lnSpc>
              <a:spcAft>
                <a:spcPts val="500"/>
              </a:spcAft>
              <a:buClr>
                <a:srgbClr val="F87171"/>
              </a:buClr>
              <a:buFont typeface="Arial"/>
              <a:buChar char="•"/>
            </a:pPr>
            <a:r>
              <a:rPr sz="1400" b="0" i="0">
                <a:solidFill>
                  <a:srgbClr val="D1D5DB"/>
                </a:solidFill>
                <a:latin typeface="Calibri"/>
              </a:rPr>
              <a:t>Drifts: the same request gives a differently shaped answer tomorrow</a:t>
            </a:r>
          </a:p>
          <a:p>
            <a:pPr algn="l" marL="219456" indent="-182880">
              <a:lnSpc>
                <a:spcPct val="112000"/>
              </a:lnSpc>
              <a:spcAft>
                <a:spcPts val="500"/>
              </a:spcAft>
              <a:buClr>
                <a:srgbClr val="F87171"/>
              </a:buClr>
              <a:buFont typeface="Arial"/>
              <a:buChar char="•"/>
            </a:pPr>
            <a:r>
              <a:rPr sz="1400" b="0" i="0">
                <a:solidFill>
                  <a:srgbClr val="D1D5DB"/>
                </a:solidFill>
                <a:latin typeface="Calibri"/>
              </a:rPr>
              <a:t>Overwrites where it should append; fills gaps with plausible invention</a:t>
            </a:r>
          </a:p>
        </p:txBody>
      </p:sp>
      <p:sp>
        <p:nvSpPr>
          <p:cNvPr id="11" name="TextBox 10"/>
          <p:cNvSpPr txBox="1"/>
          <p:nvPr/>
        </p:nvSpPr>
        <p:spPr>
          <a:xfrm>
            <a:off x="548640" y="5715000"/>
            <a:ext cx="11064240" cy="731520"/>
          </a:xfrm>
          <a:prstGeom prst="rect">
            <a:avLst/>
          </a:prstGeom>
          <a:noFill/>
        </p:spPr>
        <p:txBody>
          <a:bodyPr wrap="square" lIns="45720" rIns="45720" anchor="t">
            <a:noAutofit/>
          </a:bodyPr>
          <a:lstStyle/>
          <a:p>
            <a:pPr algn="l">
              <a:lnSpc>
                <a:spcPct val="112000"/>
              </a:lnSpc>
              <a:spcAft>
                <a:spcPts val="400"/>
              </a:spcAft>
            </a:pPr>
            <a:r>
              <a:rPr sz="1400" b="0" i="1">
                <a:solidFill>
                  <a:srgbClr val="22D3EE"/>
                </a:solidFill>
                <a:latin typeface="Calibri"/>
              </a:rPr>
              <a:t>None of the right-hand failures is fixed by a better model. They are fixed by what surrounds it: memory, sources, written procedure and rules enforced outside the model.</a:t>
            </a:r>
          </a:p>
        </p:txBody>
      </p:sp>
      <p:sp>
        <p:nvSpPr>
          <p:cNvPr id="12" name="footer"/>
          <p:cNvSpPr txBox="1"/>
          <p:nvPr/>
        </p:nvSpPr>
        <p:spPr>
          <a:xfrm>
            <a:off x="548640" y="6446520"/>
            <a:ext cx="7772400" cy="274320"/>
          </a:xfrm>
          <a:prstGeom prst="rect">
            <a:avLst/>
          </a:prstGeom>
          <a:noFill/>
        </p:spPr>
        <p:txBody>
          <a:bodyPr wrap="square" lIns="45720" rIns="45720" anchor="t">
            <a:noAutofit/>
          </a:bodyPr>
          <a:lstStyle/>
          <a:p>
            <a:pPr algn="l">
              <a:lnSpc>
                <a:spcPct val="112000"/>
              </a:lnSpc>
              <a:spcAft>
                <a:spcPts val="400"/>
              </a:spcAft>
            </a:pPr>
            <a:r>
              <a:rPr sz="900" b="0" i="0">
                <a:solidFill>
                  <a:srgbClr val="6B7280"/>
                </a:solidFill>
                <a:latin typeface="Calibri"/>
              </a:rPr>
              <a:t>Laniakea Partners · A Second Brain for Investing · August 2026  ·  Part 1</a:t>
            </a:r>
          </a:p>
        </p:txBody>
      </p:sp>
      <p:sp>
        <p:nvSpPr>
          <p:cNvPr id="13" name="footer"/>
          <p:cNvSpPr txBox="1"/>
          <p:nvPr/>
        </p:nvSpPr>
        <p:spPr>
          <a:xfrm>
            <a:off x="10332720" y="6446520"/>
            <a:ext cx="1325880" cy="274320"/>
          </a:xfrm>
          <a:prstGeom prst="rect">
            <a:avLst/>
          </a:prstGeom>
          <a:noFill/>
        </p:spPr>
        <p:txBody>
          <a:bodyPr wrap="square" lIns="45720" rIns="45720" anchor="t">
            <a:noAutofit/>
          </a:bodyPr>
          <a:lstStyle/>
          <a:p>
            <a:pPr algn="r">
              <a:lnSpc>
                <a:spcPct val="112000"/>
              </a:lnSpc>
              <a:spcAft>
                <a:spcPts val="400"/>
              </a:spcAft>
            </a:pPr>
            <a:r>
              <a:rPr sz="900" b="0" i="0">
                <a:solidFill>
                  <a:srgbClr val="6B7280"/>
                </a:solidFill>
                <a:latin typeface="Calibri"/>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822960" y="1463040"/>
            <a:ext cx="2743200" cy="1280160"/>
          </a:xfrm>
          <a:prstGeom prst="rect">
            <a:avLst/>
          </a:prstGeom>
          <a:noFill/>
        </p:spPr>
        <p:txBody>
          <a:bodyPr wrap="square" lIns="45720" rIns="45720" anchor="t">
            <a:noAutofit/>
          </a:bodyPr>
          <a:lstStyle/>
          <a:p>
            <a:pPr algn="l">
              <a:lnSpc>
                <a:spcPct val="112000"/>
              </a:lnSpc>
              <a:spcAft>
                <a:spcPts val="400"/>
              </a:spcAft>
            </a:pPr>
            <a:r>
              <a:rPr sz="6400" b="0" i="0">
                <a:solidFill>
                  <a:srgbClr val="0891B2"/>
                </a:solidFill>
                <a:latin typeface="Georgia"/>
              </a:rPr>
              <a:t>02</a:t>
            </a:r>
          </a:p>
        </p:txBody>
      </p:sp>
      <p:sp>
        <p:nvSpPr>
          <p:cNvPr id="3" name="TextBox 2"/>
          <p:cNvSpPr txBox="1"/>
          <p:nvPr/>
        </p:nvSpPr>
        <p:spPr>
          <a:xfrm>
            <a:off x="822960" y="2697480"/>
            <a:ext cx="10515600" cy="1143000"/>
          </a:xfrm>
          <a:prstGeom prst="rect">
            <a:avLst/>
          </a:prstGeom>
          <a:noFill/>
        </p:spPr>
        <p:txBody>
          <a:bodyPr wrap="square" lIns="45720" rIns="45720" anchor="t">
            <a:noAutofit/>
          </a:bodyPr>
          <a:lstStyle/>
          <a:p>
            <a:pPr algn="l">
              <a:lnSpc>
                <a:spcPct val="100000"/>
              </a:lnSpc>
              <a:spcAft>
                <a:spcPts val="400"/>
              </a:spcAft>
            </a:pPr>
            <a:r>
              <a:rPr sz="3200" b="0" i="0">
                <a:solidFill>
                  <a:srgbClr val="F5F5F0"/>
                </a:solidFill>
                <a:latin typeface="Georgia"/>
              </a:rPr>
              <a:t>How AI is used in investing today, and what it fixes</a:t>
            </a:r>
          </a:p>
        </p:txBody>
      </p:sp>
      <p:cxnSp>
        <p:nvCxnSpPr>
          <p:cNvPr id="4" name="Connector 3"/>
          <p:cNvCxnSpPr/>
          <p:nvPr/>
        </p:nvCxnSpPr>
        <p:spPr>
          <a:xfrm>
            <a:off x="868680" y="3886200"/>
            <a:ext cx="1325880" cy="0"/>
          </a:xfrm>
          <a:prstGeom prst="line">
            <a:avLst/>
          </a:prstGeom>
          <a:ln w="31750">
            <a:solidFill>
              <a:srgbClr val="0891B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22960" y="4069080"/>
            <a:ext cx="10058400" cy="1828800"/>
          </a:xfrm>
          <a:prstGeom prst="rect">
            <a:avLst/>
          </a:prstGeom>
          <a:noFill/>
        </p:spPr>
        <p:txBody>
          <a:bodyPr wrap="square" lIns="45720" rIns="45720" anchor="t">
            <a:noAutofit/>
          </a:bodyPr>
          <a:lstStyle/>
          <a:p>
            <a:pPr algn="l" marL="219456" indent="-182880">
              <a:lnSpc>
                <a:spcPct val="112000"/>
              </a:lnSpc>
              <a:spcAft>
                <a:spcPts val="600"/>
              </a:spcAft>
              <a:buClr>
                <a:srgbClr val="22D3EE"/>
              </a:buClr>
              <a:buFont typeface="Arial"/>
              <a:buChar char="•"/>
            </a:pPr>
            <a:r>
              <a:rPr sz="1600" b="0" i="0">
                <a:solidFill>
                  <a:srgbClr val="D1D5DB"/>
                </a:solidFill>
                <a:latin typeface="Calibri"/>
              </a:rPr>
              <a:t>Adoption is mainstream; systems are not</a:t>
            </a:r>
          </a:p>
          <a:p>
            <a:pPr algn="l" marL="219456" indent="-182880">
              <a:lnSpc>
                <a:spcPct val="112000"/>
              </a:lnSpc>
              <a:spcAft>
                <a:spcPts val="600"/>
              </a:spcAft>
              <a:buClr>
                <a:srgbClr val="22D3EE"/>
              </a:buClr>
              <a:buFont typeface="Arial"/>
              <a:buChar char="•"/>
            </a:pPr>
            <a:r>
              <a:rPr sz="1600" b="0" i="0">
                <a:solidFill>
                  <a:srgbClr val="D1D5DB"/>
                </a:solidFill>
                <a:latin typeface="Calibri"/>
              </a:rPr>
              <a:t>Where AI sits in the research workflow, and what stays human</a:t>
            </a:r>
          </a:p>
          <a:p>
            <a:pPr algn="l" marL="219456" indent="-182880">
              <a:lnSpc>
                <a:spcPct val="112000"/>
              </a:lnSpc>
              <a:spcAft>
                <a:spcPts val="600"/>
              </a:spcAft>
              <a:buClr>
                <a:srgbClr val="22D3EE"/>
              </a:buClr>
              <a:buFont typeface="Arial"/>
              <a:buChar char="•"/>
            </a:pPr>
            <a:r>
              <a:rPr sz="1600" b="0" i="0">
                <a:solidFill>
                  <a:srgbClr val="D1D5DB"/>
                </a:solidFill>
                <a:latin typeface="Calibri"/>
              </a:rPr>
              <a:t>The problems of the manual process, and why a chat window does not solve them</a:t>
            </a:r>
          </a:p>
        </p:txBody>
      </p:sp>
      <p:sp>
        <p:nvSpPr>
          <p:cNvPr id="6" name="footer"/>
          <p:cNvSpPr txBox="1"/>
          <p:nvPr/>
        </p:nvSpPr>
        <p:spPr>
          <a:xfrm>
            <a:off x="548640" y="6446520"/>
            <a:ext cx="7772400" cy="274320"/>
          </a:xfrm>
          <a:prstGeom prst="rect">
            <a:avLst/>
          </a:prstGeom>
          <a:noFill/>
        </p:spPr>
        <p:txBody>
          <a:bodyPr wrap="square" lIns="45720" rIns="45720" anchor="t">
            <a:noAutofit/>
          </a:bodyPr>
          <a:lstStyle/>
          <a:p>
            <a:pPr algn="l">
              <a:lnSpc>
                <a:spcPct val="112000"/>
              </a:lnSpc>
              <a:spcAft>
                <a:spcPts val="400"/>
              </a:spcAft>
            </a:pPr>
            <a:r>
              <a:rPr sz="900" b="0" i="0">
                <a:solidFill>
                  <a:srgbClr val="6B7280"/>
                </a:solidFill>
                <a:latin typeface="Calibri"/>
              </a:rPr>
              <a:t>Laniakea Partners · A Second Brain for Investing · August 2026  ·  Part 2</a:t>
            </a:r>
          </a:p>
        </p:txBody>
      </p:sp>
      <p:sp>
        <p:nvSpPr>
          <p:cNvPr id="7" name="footer"/>
          <p:cNvSpPr txBox="1"/>
          <p:nvPr/>
        </p:nvSpPr>
        <p:spPr>
          <a:xfrm>
            <a:off x="10332720" y="6446520"/>
            <a:ext cx="1325880" cy="274320"/>
          </a:xfrm>
          <a:prstGeom prst="rect">
            <a:avLst/>
          </a:prstGeom>
          <a:noFill/>
        </p:spPr>
        <p:txBody>
          <a:bodyPr wrap="square" lIns="45720" rIns="45720" anchor="t">
            <a:noAutofit/>
          </a:bodyPr>
          <a:lstStyle/>
          <a:p>
            <a:pPr algn="r">
              <a:lnSpc>
                <a:spcPct val="112000"/>
              </a:lnSpc>
              <a:spcAft>
                <a:spcPts val="400"/>
              </a:spcAft>
            </a:pPr>
            <a:r>
              <a:rPr sz="900" b="0" i="0">
                <a:solidFill>
                  <a:srgbClr val="6B7280"/>
                </a:solidFill>
                <a:latin typeface="Calibri"/>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548640" y="292608"/>
            <a:ext cx="10972800" cy="320040"/>
          </a:xfrm>
          <a:prstGeom prst="rect">
            <a:avLst/>
          </a:prstGeom>
          <a:noFill/>
        </p:spPr>
        <p:txBody>
          <a:bodyPr wrap="square" lIns="45720" rIns="45720" anchor="t">
            <a:noAutofit/>
          </a:bodyPr>
          <a:lstStyle/>
          <a:p>
            <a:pPr algn="l">
              <a:lnSpc>
                <a:spcPct val="112000"/>
              </a:lnSpc>
              <a:spcAft>
                <a:spcPts val="400"/>
              </a:spcAft>
            </a:pPr>
            <a:r>
              <a:rPr sz="1100" b="1" i="0">
                <a:solidFill>
                  <a:srgbClr val="22D3EE"/>
                </a:solidFill>
                <a:latin typeface="Calibri"/>
              </a:rPr>
              <a:t>PART 2 · AI IN INVESTING TODAY</a:t>
            </a:r>
          </a:p>
        </p:txBody>
      </p:sp>
      <p:sp>
        <p:nvSpPr>
          <p:cNvPr id="3" name="TextBox 2"/>
          <p:cNvSpPr txBox="1"/>
          <p:nvPr/>
        </p:nvSpPr>
        <p:spPr>
          <a:xfrm>
            <a:off x="548640" y="566928"/>
            <a:ext cx="11064240" cy="868680"/>
          </a:xfrm>
          <a:prstGeom prst="rect">
            <a:avLst/>
          </a:prstGeom>
          <a:noFill/>
        </p:spPr>
        <p:txBody>
          <a:bodyPr wrap="square" lIns="45720" rIns="45720" anchor="t">
            <a:noAutofit/>
          </a:bodyPr>
          <a:lstStyle/>
          <a:p>
            <a:pPr algn="l">
              <a:lnSpc>
                <a:spcPct val="100000"/>
              </a:lnSpc>
              <a:spcAft>
                <a:spcPts val="400"/>
              </a:spcAft>
            </a:pPr>
            <a:r>
              <a:rPr sz="2800" b="0" i="0">
                <a:solidFill>
                  <a:srgbClr val="F5F5F0"/>
                </a:solidFill>
                <a:latin typeface="Georgia"/>
              </a:rPr>
              <a:t>Adoption is mainstream; systems are not</a:t>
            </a:r>
          </a:p>
        </p:txBody>
      </p:sp>
      <p:cxnSp>
        <p:nvCxnSpPr>
          <p:cNvPr id="4" name="Connector 3"/>
          <p:cNvCxnSpPr/>
          <p:nvPr/>
        </p:nvCxnSpPr>
        <p:spPr>
          <a:xfrm>
            <a:off x="594360" y="1389888"/>
            <a:ext cx="914400" cy="0"/>
          </a:xfrm>
          <a:prstGeom prst="line">
            <a:avLst/>
          </a:prstGeom>
          <a:ln w="31750">
            <a:solidFill>
              <a:srgbClr val="0891B2"/>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1691640"/>
            <a:ext cx="2606040" cy="2331720"/>
          </a:xfrm>
          <a:prstGeom prst="roundRect">
            <a:avLst>
              <a:gd name="adj" fmla="val 12000"/>
            </a:avLst>
          </a:prstGeom>
          <a:solidFill>
            <a:srgbClr val="1B2027"/>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a:noAutofit/>
          </a:bodyPr>
          <a:lstStyle/>
          <a:p>
            <a:pPr algn="ctr"/>
          </a:p>
        </p:txBody>
      </p:sp>
      <p:sp>
        <p:nvSpPr>
          <p:cNvPr id="6" name="TextBox 5"/>
          <p:cNvSpPr txBox="1"/>
          <p:nvPr/>
        </p:nvSpPr>
        <p:spPr>
          <a:xfrm>
            <a:off x="685800" y="1801368"/>
            <a:ext cx="2331720" cy="822960"/>
          </a:xfrm>
          <a:prstGeom prst="rect">
            <a:avLst/>
          </a:prstGeom>
          <a:noFill/>
        </p:spPr>
        <p:txBody>
          <a:bodyPr wrap="square" lIns="45720" rIns="45720" anchor="t">
            <a:noAutofit/>
          </a:bodyPr>
          <a:lstStyle/>
          <a:p>
            <a:pPr algn="l">
              <a:lnSpc>
                <a:spcPct val="112000"/>
              </a:lnSpc>
              <a:spcAft>
                <a:spcPts val="400"/>
              </a:spcAft>
            </a:pPr>
            <a:r>
              <a:rPr sz="3400" b="0" i="0">
                <a:solidFill>
                  <a:srgbClr val="22D3EE"/>
                </a:solidFill>
                <a:latin typeface="Georgia"/>
              </a:rPr>
              <a:t>95%</a:t>
            </a:r>
          </a:p>
        </p:txBody>
      </p:sp>
      <p:sp>
        <p:nvSpPr>
          <p:cNvPr id="7" name="TextBox 6"/>
          <p:cNvSpPr txBox="1"/>
          <p:nvPr/>
        </p:nvSpPr>
        <p:spPr>
          <a:xfrm>
            <a:off x="685800" y="2606040"/>
            <a:ext cx="2331720" cy="1280160"/>
          </a:xfrm>
          <a:prstGeom prst="rect">
            <a:avLst/>
          </a:prstGeom>
          <a:noFill/>
        </p:spPr>
        <p:txBody>
          <a:bodyPr wrap="square" lIns="45720" rIns="45720" anchor="t">
            <a:noAutofit/>
          </a:bodyPr>
          <a:lstStyle/>
          <a:p>
            <a:pPr algn="l">
              <a:lnSpc>
                <a:spcPct val="110000"/>
              </a:lnSpc>
              <a:spcAft>
                <a:spcPts val="400"/>
              </a:spcAft>
            </a:pPr>
            <a:r>
              <a:rPr sz="1250" b="0" i="0">
                <a:solidFill>
                  <a:srgbClr val="D1D5DB"/>
                </a:solidFill>
                <a:latin typeface="Calibri"/>
              </a:rPr>
              <a:t>of fund managers use generative AI in their work, up from 86% in 2023</a:t>
            </a:r>
          </a:p>
          <a:p>
            <a:pPr algn="l">
              <a:lnSpc>
                <a:spcPct val="110000"/>
              </a:lnSpc>
              <a:spcAft>
                <a:spcPts val="400"/>
              </a:spcAft>
            </a:pPr>
            <a:r>
              <a:rPr sz="950" b="0" i="0">
                <a:solidFill>
                  <a:srgbClr val="6B7280"/>
                </a:solidFill>
                <a:latin typeface="Calibri"/>
              </a:rPr>
              <a:t>AIMA</a:t>
            </a:r>
          </a:p>
        </p:txBody>
      </p:sp>
      <p:sp>
        <p:nvSpPr>
          <p:cNvPr id="8" name="Rounded Rectangle 7"/>
          <p:cNvSpPr/>
          <p:nvPr/>
        </p:nvSpPr>
        <p:spPr>
          <a:xfrm>
            <a:off x="3337560" y="1691640"/>
            <a:ext cx="2606040" cy="2331720"/>
          </a:xfrm>
          <a:prstGeom prst="roundRect">
            <a:avLst>
              <a:gd name="adj" fmla="val 12000"/>
            </a:avLst>
          </a:prstGeom>
          <a:solidFill>
            <a:srgbClr val="1B2027"/>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a:noAutofit/>
          </a:bodyPr>
          <a:lstStyle/>
          <a:p>
            <a:pPr algn="ctr"/>
          </a:p>
        </p:txBody>
      </p:sp>
      <p:sp>
        <p:nvSpPr>
          <p:cNvPr id="9" name="TextBox 8"/>
          <p:cNvSpPr txBox="1"/>
          <p:nvPr/>
        </p:nvSpPr>
        <p:spPr>
          <a:xfrm>
            <a:off x="3474720" y="1801368"/>
            <a:ext cx="2331720" cy="822960"/>
          </a:xfrm>
          <a:prstGeom prst="rect">
            <a:avLst/>
          </a:prstGeom>
          <a:noFill/>
        </p:spPr>
        <p:txBody>
          <a:bodyPr wrap="square" lIns="45720" rIns="45720" anchor="t">
            <a:noAutofit/>
          </a:bodyPr>
          <a:lstStyle/>
          <a:p>
            <a:pPr algn="l">
              <a:lnSpc>
                <a:spcPct val="112000"/>
              </a:lnSpc>
              <a:spcAft>
                <a:spcPts val="400"/>
              </a:spcAft>
            </a:pPr>
            <a:r>
              <a:rPr sz="3400" b="0" i="0">
                <a:solidFill>
                  <a:srgbClr val="22D3EE"/>
                </a:solidFill>
                <a:latin typeface="Georgia"/>
              </a:rPr>
              <a:t>70%</a:t>
            </a:r>
          </a:p>
        </p:txBody>
      </p:sp>
      <p:sp>
        <p:nvSpPr>
          <p:cNvPr id="10" name="TextBox 9"/>
          <p:cNvSpPr txBox="1"/>
          <p:nvPr/>
        </p:nvSpPr>
        <p:spPr>
          <a:xfrm>
            <a:off x="3474720" y="2606040"/>
            <a:ext cx="2331720" cy="1280160"/>
          </a:xfrm>
          <a:prstGeom prst="rect">
            <a:avLst/>
          </a:prstGeom>
          <a:noFill/>
        </p:spPr>
        <p:txBody>
          <a:bodyPr wrap="square" lIns="45720" rIns="45720" anchor="t">
            <a:noAutofit/>
          </a:bodyPr>
          <a:lstStyle/>
          <a:p>
            <a:pPr algn="l">
              <a:lnSpc>
                <a:spcPct val="110000"/>
              </a:lnSpc>
              <a:spcAft>
                <a:spcPts val="400"/>
              </a:spcAft>
            </a:pPr>
            <a:r>
              <a:rPr sz="1250" b="0" i="0">
                <a:solidFill>
                  <a:srgbClr val="D1D5DB"/>
                </a:solidFill>
                <a:latin typeface="Calibri"/>
              </a:rPr>
              <a:t>of buy-side firms use AI to support the front office</a:t>
            </a:r>
          </a:p>
          <a:p>
            <a:pPr algn="l">
              <a:lnSpc>
                <a:spcPct val="110000"/>
              </a:lnSpc>
              <a:spcAft>
                <a:spcPts val="400"/>
              </a:spcAft>
            </a:pPr>
            <a:r>
              <a:rPr sz="950" b="0" i="0">
                <a:solidFill>
                  <a:srgbClr val="6B7280"/>
                </a:solidFill>
                <a:latin typeface="Calibri"/>
              </a:rPr>
              <a:t>SimCorp InvestOps 2026</a:t>
            </a:r>
          </a:p>
        </p:txBody>
      </p:sp>
      <p:sp>
        <p:nvSpPr>
          <p:cNvPr id="11" name="Rounded Rectangle 10"/>
          <p:cNvSpPr/>
          <p:nvPr/>
        </p:nvSpPr>
        <p:spPr>
          <a:xfrm>
            <a:off x="6126479" y="1691640"/>
            <a:ext cx="2606040" cy="2331720"/>
          </a:xfrm>
          <a:prstGeom prst="roundRect">
            <a:avLst>
              <a:gd name="adj" fmla="val 12000"/>
            </a:avLst>
          </a:prstGeom>
          <a:solidFill>
            <a:srgbClr val="1B2027"/>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a:noAutofit/>
          </a:bodyPr>
          <a:lstStyle/>
          <a:p>
            <a:pPr algn="ctr"/>
          </a:p>
        </p:txBody>
      </p:sp>
      <p:sp>
        <p:nvSpPr>
          <p:cNvPr id="12" name="TextBox 11"/>
          <p:cNvSpPr txBox="1"/>
          <p:nvPr/>
        </p:nvSpPr>
        <p:spPr>
          <a:xfrm>
            <a:off x="6263640" y="1801368"/>
            <a:ext cx="2331720" cy="822960"/>
          </a:xfrm>
          <a:prstGeom prst="rect">
            <a:avLst/>
          </a:prstGeom>
          <a:noFill/>
        </p:spPr>
        <p:txBody>
          <a:bodyPr wrap="square" lIns="45720" rIns="45720" anchor="t">
            <a:noAutofit/>
          </a:bodyPr>
          <a:lstStyle/>
          <a:p>
            <a:pPr algn="l">
              <a:lnSpc>
                <a:spcPct val="112000"/>
              </a:lnSpc>
              <a:spcAft>
                <a:spcPts val="400"/>
              </a:spcAft>
            </a:pPr>
            <a:r>
              <a:rPr sz="3400" b="0" i="0">
                <a:solidFill>
                  <a:srgbClr val="22D3EE"/>
                </a:solidFill>
                <a:latin typeface="Georgia"/>
              </a:rPr>
              <a:t>55%</a:t>
            </a:r>
          </a:p>
        </p:txBody>
      </p:sp>
      <p:sp>
        <p:nvSpPr>
          <p:cNvPr id="13" name="TextBox 12"/>
          <p:cNvSpPr txBox="1"/>
          <p:nvPr/>
        </p:nvSpPr>
        <p:spPr>
          <a:xfrm>
            <a:off x="6263640" y="2606040"/>
            <a:ext cx="2331720" cy="1280160"/>
          </a:xfrm>
          <a:prstGeom prst="rect">
            <a:avLst/>
          </a:prstGeom>
          <a:noFill/>
        </p:spPr>
        <p:txBody>
          <a:bodyPr wrap="square" lIns="45720" rIns="45720" anchor="t">
            <a:noAutofit/>
          </a:bodyPr>
          <a:lstStyle/>
          <a:p>
            <a:pPr algn="l">
              <a:lnSpc>
                <a:spcPct val="110000"/>
              </a:lnSpc>
              <a:spcAft>
                <a:spcPts val="400"/>
              </a:spcAft>
            </a:pPr>
            <a:r>
              <a:rPr sz="1250" b="0" i="0">
                <a:solidFill>
                  <a:srgbClr val="D1D5DB"/>
                </a:solidFill>
                <a:latin typeface="Calibri"/>
              </a:rPr>
              <a:t>of hedge funds have integrated it into the investment process</a:t>
            </a:r>
          </a:p>
          <a:p>
            <a:pPr algn="l">
              <a:lnSpc>
                <a:spcPct val="110000"/>
              </a:lnSpc>
              <a:spcAft>
                <a:spcPts val="400"/>
              </a:spcAft>
            </a:pPr>
            <a:r>
              <a:rPr sz="950" b="0" i="0">
                <a:solidFill>
                  <a:srgbClr val="6B7280"/>
                </a:solidFill>
                <a:latin typeface="Calibri"/>
              </a:rPr>
              <a:t>Barclays Hedge Fund Outlook 2026</a:t>
            </a:r>
          </a:p>
        </p:txBody>
      </p:sp>
      <p:sp>
        <p:nvSpPr>
          <p:cNvPr id="14" name="Rounded Rectangle 13"/>
          <p:cNvSpPr/>
          <p:nvPr/>
        </p:nvSpPr>
        <p:spPr>
          <a:xfrm>
            <a:off x="8915399" y="1691640"/>
            <a:ext cx="2606040" cy="2331720"/>
          </a:xfrm>
          <a:prstGeom prst="roundRect">
            <a:avLst>
              <a:gd name="adj" fmla="val 12000"/>
            </a:avLst>
          </a:prstGeom>
          <a:solidFill>
            <a:srgbClr val="1B2027"/>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a:noAutofit/>
          </a:bodyPr>
          <a:lstStyle/>
          <a:p>
            <a:pPr algn="ctr"/>
          </a:p>
        </p:txBody>
      </p:sp>
      <p:sp>
        <p:nvSpPr>
          <p:cNvPr id="15" name="TextBox 14"/>
          <p:cNvSpPr txBox="1"/>
          <p:nvPr/>
        </p:nvSpPr>
        <p:spPr>
          <a:xfrm>
            <a:off x="9052559" y="1801368"/>
            <a:ext cx="2331720" cy="822960"/>
          </a:xfrm>
          <a:prstGeom prst="rect">
            <a:avLst/>
          </a:prstGeom>
          <a:noFill/>
        </p:spPr>
        <p:txBody>
          <a:bodyPr wrap="square" lIns="45720" rIns="45720" anchor="t">
            <a:noAutofit/>
          </a:bodyPr>
          <a:lstStyle/>
          <a:p>
            <a:pPr algn="l">
              <a:lnSpc>
                <a:spcPct val="112000"/>
              </a:lnSpc>
              <a:spcAft>
                <a:spcPts val="400"/>
              </a:spcAft>
            </a:pPr>
            <a:r>
              <a:rPr sz="3400" b="0" i="0">
                <a:solidFill>
                  <a:srgbClr val="22D3EE"/>
                </a:solidFill>
                <a:latin typeface="Georgia"/>
              </a:rPr>
              <a:t>58%</a:t>
            </a:r>
          </a:p>
        </p:txBody>
      </p:sp>
      <p:sp>
        <p:nvSpPr>
          <p:cNvPr id="16" name="TextBox 15"/>
          <p:cNvSpPr txBox="1"/>
          <p:nvPr/>
        </p:nvSpPr>
        <p:spPr>
          <a:xfrm>
            <a:off x="9052559" y="2606040"/>
            <a:ext cx="2331720" cy="1280160"/>
          </a:xfrm>
          <a:prstGeom prst="rect">
            <a:avLst/>
          </a:prstGeom>
          <a:noFill/>
        </p:spPr>
        <p:txBody>
          <a:bodyPr wrap="square" lIns="45720" rIns="45720" anchor="t">
            <a:noAutofit/>
          </a:bodyPr>
          <a:lstStyle/>
          <a:p>
            <a:pPr algn="l">
              <a:lnSpc>
                <a:spcPct val="110000"/>
              </a:lnSpc>
              <a:spcAft>
                <a:spcPts val="400"/>
              </a:spcAft>
            </a:pPr>
            <a:r>
              <a:rPr sz="1250" b="0" i="0">
                <a:solidFill>
                  <a:srgbClr val="D1D5DB"/>
                </a:solidFill>
                <a:latin typeface="Calibri"/>
              </a:rPr>
              <a:t>expect to increase use in investment processes next year, up from 20% in 2023</a:t>
            </a:r>
          </a:p>
          <a:p>
            <a:pPr algn="l">
              <a:lnSpc>
                <a:spcPct val="110000"/>
              </a:lnSpc>
              <a:spcAft>
                <a:spcPts val="400"/>
              </a:spcAft>
            </a:pPr>
            <a:r>
              <a:rPr sz="950" b="0" i="0">
                <a:solidFill>
                  <a:srgbClr val="6B7280"/>
                </a:solidFill>
                <a:latin typeface="Calibri"/>
              </a:rPr>
              <a:t>AIMA</a:t>
            </a:r>
          </a:p>
        </p:txBody>
      </p:sp>
      <p:sp>
        <p:nvSpPr>
          <p:cNvPr id="17" name="TextBox 16"/>
          <p:cNvSpPr txBox="1"/>
          <p:nvPr/>
        </p:nvSpPr>
        <p:spPr>
          <a:xfrm>
            <a:off x="548640" y="4389120"/>
            <a:ext cx="11064240" cy="1645920"/>
          </a:xfrm>
          <a:prstGeom prst="rect">
            <a:avLst/>
          </a:prstGeom>
          <a:noFill/>
        </p:spPr>
        <p:txBody>
          <a:bodyPr wrap="square" lIns="45720" rIns="45720" anchor="t">
            <a:noAutofit/>
          </a:bodyPr>
          <a:lstStyle/>
          <a:p>
            <a:pPr algn="l">
              <a:lnSpc>
                <a:spcPct val="112000"/>
              </a:lnSpc>
              <a:spcAft>
                <a:spcPts val="800"/>
              </a:spcAft>
            </a:pPr>
            <a:r>
              <a:rPr sz="1700" b="0" i="0">
                <a:solidFill>
                  <a:srgbClr val="F5F5F0"/>
                </a:solidFill>
                <a:latin typeface="Calibri"/>
              </a:rPr>
              <a:t>Most of that use is a chat window: summarise this, draft that, explain this filing.</a:t>
            </a:r>
          </a:p>
          <a:p>
            <a:pPr algn="l">
              <a:lnSpc>
                <a:spcPct val="112000"/>
              </a:lnSpc>
              <a:spcAft>
                <a:spcPts val="400"/>
              </a:spcAft>
            </a:pPr>
            <a:r>
              <a:rPr sz="1450" b="0" i="0">
                <a:solidFill>
                  <a:srgbClr val="D1D5DB"/>
                </a:solidFill>
                <a:latin typeface="Calibri"/>
              </a:rPr>
              <a:t>It saves reading time. It does not remember what was read, connect it to the positions held, or notice when a new datapoint contradicts an old claim.</a:t>
            </a:r>
          </a:p>
        </p:txBody>
      </p:sp>
      <p:sp>
        <p:nvSpPr>
          <p:cNvPr id="18" name="footer"/>
          <p:cNvSpPr txBox="1"/>
          <p:nvPr/>
        </p:nvSpPr>
        <p:spPr>
          <a:xfrm>
            <a:off x="548640" y="6446520"/>
            <a:ext cx="7772400" cy="274320"/>
          </a:xfrm>
          <a:prstGeom prst="rect">
            <a:avLst/>
          </a:prstGeom>
          <a:noFill/>
        </p:spPr>
        <p:txBody>
          <a:bodyPr wrap="square" lIns="45720" rIns="45720" anchor="t">
            <a:noAutofit/>
          </a:bodyPr>
          <a:lstStyle/>
          <a:p>
            <a:pPr algn="l">
              <a:lnSpc>
                <a:spcPct val="112000"/>
              </a:lnSpc>
              <a:spcAft>
                <a:spcPts val="400"/>
              </a:spcAft>
            </a:pPr>
            <a:r>
              <a:rPr sz="900" b="0" i="0">
                <a:solidFill>
                  <a:srgbClr val="6B7280"/>
                </a:solidFill>
                <a:latin typeface="Calibri"/>
              </a:rPr>
              <a:t>Laniakea Partners · A Second Brain for Investing · August 2026  ·  Part 2</a:t>
            </a:r>
          </a:p>
        </p:txBody>
      </p:sp>
      <p:sp>
        <p:nvSpPr>
          <p:cNvPr id="19" name="footer"/>
          <p:cNvSpPr txBox="1"/>
          <p:nvPr/>
        </p:nvSpPr>
        <p:spPr>
          <a:xfrm>
            <a:off x="10332720" y="6446520"/>
            <a:ext cx="1325880" cy="274320"/>
          </a:xfrm>
          <a:prstGeom prst="rect">
            <a:avLst/>
          </a:prstGeom>
          <a:noFill/>
        </p:spPr>
        <p:txBody>
          <a:bodyPr wrap="square" lIns="45720" rIns="45720" anchor="t">
            <a:noAutofit/>
          </a:bodyPr>
          <a:lstStyle/>
          <a:p>
            <a:pPr algn="r">
              <a:lnSpc>
                <a:spcPct val="112000"/>
              </a:lnSpc>
              <a:spcAft>
                <a:spcPts val="400"/>
              </a:spcAft>
            </a:pPr>
            <a:r>
              <a:rPr sz="900" b="0" i="0">
                <a:solidFill>
                  <a:srgbClr val="6B7280"/>
                </a:solidFill>
                <a:latin typeface="Calibri"/>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548640" y="292608"/>
            <a:ext cx="10972800" cy="320040"/>
          </a:xfrm>
          <a:prstGeom prst="rect">
            <a:avLst/>
          </a:prstGeom>
          <a:noFill/>
        </p:spPr>
        <p:txBody>
          <a:bodyPr wrap="square" lIns="45720" rIns="45720" anchor="t">
            <a:noAutofit/>
          </a:bodyPr>
          <a:lstStyle/>
          <a:p>
            <a:pPr algn="l">
              <a:lnSpc>
                <a:spcPct val="112000"/>
              </a:lnSpc>
              <a:spcAft>
                <a:spcPts val="400"/>
              </a:spcAft>
            </a:pPr>
            <a:r>
              <a:rPr sz="1100" b="1" i="0">
                <a:solidFill>
                  <a:srgbClr val="22D3EE"/>
                </a:solidFill>
                <a:latin typeface="Calibri"/>
              </a:rPr>
              <a:t>PART 2 · AI IN INVESTING TODAY</a:t>
            </a:r>
          </a:p>
        </p:txBody>
      </p:sp>
      <p:sp>
        <p:nvSpPr>
          <p:cNvPr id="3" name="TextBox 2"/>
          <p:cNvSpPr txBox="1"/>
          <p:nvPr/>
        </p:nvSpPr>
        <p:spPr>
          <a:xfrm>
            <a:off x="548640" y="566928"/>
            <a:ext cx="11064240" cy="868680"/>
          </a:xfrm>
          <a:prstGeom prst="rect">
            <a:avLst/>
          </a:prstGeom>
          <a:noFill/>
        </p:spPr>
        <p:txBody>
          <a:bodyPr wrap="square" lIns="45720" rIns="45720" anchor="t">
            <a:noAutofit/>
          </a:bodyPr>
          <a:lstStyle/>
          <a:p>
            <a:pPr algn="l">
              <a:lnSpc>
                <a:spcPct val="100000"/>
              </a:lnSpc>
              <a:spcAft>
                <a:spcPts val="400"/>
              </a:spcAft>
            </a:pPr>
            <a:r>
              <a:rPr sz="2800" b="0" i="0">
                <a:solidFill>
                  <a:srgbClr val="F5F5F0"/>
                </a:solidFill>
                <a:latin typeface="Georgia"/>
              </a:rPr>
              <a:t>Where AI sits in the research workflow today</a:t>
            </a:r>
          </a:p>
        </p:txBody>
      </p:sp>
      <p:cxnSp>
        <p:nvCxnSpPr>
          <p:cNvPr id="4" name="Connector 3"/>
          <p:cNvCxnSpPr/>
          <p:nvPr/>
        </p:nvCxnSpPr>
        <p:spPr>
          <a:xfrm>
            <a:off x="594360" y="1389888"/>
            <a:ext cx="914400" cy="0"/>
          </a:xfrm>
          <a:prstGeom prst="line">
            <a:avLst/>
          </a:prstGeom>
          <a:ln w="31750">
            <a:solidFill>
              <a:srgbClr val="0891B2"/>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548640" y="1645920"/>
          <a:ext cx="11064240" cy="4023355"/>
        </p:xfrm>
        <a:graphic>
          <a:graphicData uri="http://schemas.openxmlformats.org/drawingml/2006/table">
            <a:tbl>
              <a:tblPr firstRow="1">
                <a:tableStyleId>{5C22544A-7EE6-4342-B048-85BDC9FD1C3A}</a:tableStyleId>
              </a:tblPr>
              <a:tblGrid>
                <a:gridCol w="1371600"/>
                <a:gridCol w="6309360"/>
                <a:gridCol w="3383280"/>
              </a:tblGrid>
              <a:tr h="574765">
                <a:tc>
                  <a:txBody>
                    <a:bodyPr wrap="square"/>
                    <a:lstStyle/>
                    <a:p>
                      <a:pPr algn="l">
                        <a:lnSpc>
                          <a:spcPct val="108000"/>
                        </a:lnSpc>
                        <a:spcAft>
                          <a:spcPts val="200"/>
                        </a:spcAft>
                      </a:pPr>
                      <a:r>
                        <a:rPr sz="1300" b="1" i="0">
                          <a:solidFill>
                            <a:srgbClr val="FFFFFF"/>
                          </a:solidFill>
                          <a:latin typeface="Calibri"/>
                        </a:rPr>
                        <a:t>Stage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0E4F63"/>
                    </a:solidFill>
                  </a:tcPr>
                </a:tc>
                <a:tc>
                  <a:txBody>
                    <a:bodyPr wrap="square"/>
                    <a:lstStyle/>
                    <a:p>
                      <a:pPr algn="l">
                        <a:lnSpc>
                          <a:spcPct val="108000"/>
                        </a:lnSpc>
                        <a:spcAft>
                          <a:spcPts val="200"/>
                        </a:spcAft>
                      </a:pPr>
                      <a:r>
                        <a:rPr sz="1300" b="1" i="0">
                          <a:solidFill>
                            <a:srgbClr val="FFFFFF"/>
                          </a:solidFill>
                          <a:latin typeface="Calibri"/>
                        </a:rPr>
                        <a:t>What AI does today</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0E4F63"/>
                    </a:solidFill>
                  </a:tcPr>
                </a:tc>
                <a:tc>
                  <a:txBody>
                    <a:bodyPr wrap="square"/>
                    <a:lstStyle/>
                    <a:p>
                      <a:pPr algn="l">
                        <a:lnSpc>
                          <a:spcPct val="108000"/>
                        </a:lnSpc>
                        <a:spcAft>
                          <a:spcPts val="200"/>
                        </a:spcAft>
                      </a:pPr>
                      <a:r>
                        <a:rPr sz="1300" b="1" i="0">
                          <a:solidFill>
                            <a:srgbClr val="FFFFFF"/>
                          </a:solidFill>
                          <a:latin typeface="Calibri"/>
                        </a:rPr>
                        <a:t>What stays human</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0E4F63"/>
                    </a:solidFill>
                  </a:tcPr>
                </a:tc>
              </a:tr>
              <a:tr h="574765">
                <a:tc>
                  <a:txBody>
                    <a:bodyPr wrap="square"/>
                    <a:lstStyle/>
                    <a:p>
                      <a:pPr algn="l">
                        <a:lnSpc>
                          <a:spcPct val="108000"/>
                        </a:lnSpc>
                        <a:spcAft>
                          <a:spcPts val="200"/>
                        </a:spcAft>
                      </a:pPr>
                      <a:r>
                        <a:rPr sz="1300" b="1" i="0">
                          <a:solidFill>
                            <a:srgbClr val="F5F5F0"/>
                          </a:solidFill>
                          <a:latin typeface="Calibri"/>
                        </a:rPr>
                        <a:t>Sense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300" b="0" i="0">
                          <a:solidFill>
                            <a:srgbClr val="D1D5DB"/>
                          </a:solidFill>
                          <a:latin typeface="Calibri"/>
                        </a:rPr>
                        <a:t>Scans news, filings and social media at volume; scores and clusters what is new</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300" b="0" i="0">
                          <a:solidFill>
                            <a:srgbClr val="D1D5DB"/>
                          </a:solidFill>
                          <a:latin typeface="Calibri"/>
                        </a:rPr>
                        <a:t>Picks the few stories that matter</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r>
              <a:tr h="574765">
                <a:tc>
                  <a:txBody>
                    <a:bodyPr wrap="square"/>
                    <a:lstStyle/>
                    <a:p>
                      <a:pPr algn="l">
                        <a:lnSpc>
                          <a:spcPct val="108000"/>
                        </a:lnSpc>
                        <a:spcAft>
                          <a:spcPts val="200"/>
                        </a:spcAft>
                      </a:pPr>
                      <a:r>
                        <a:rPr sz="1300" b="1" i="0">
                          <a:solidFill>
                            <a:srgbClr val="F5F5F0"/>
                          </a:solidFill>
                          <a:latin typeface="Calibri"/>
                        </a:rPr>
                        <a:t>Read</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300" b="0" i="0">
                          <a:solidFill>
                            <a:srgbClr val="D1D5DB"/>
                          </a:solidFill>
                          <a:latin typeface="Calibri"/>
                        </a:rPr>
                        <a:t>Summarises transcripts and reports; extracts figures from filings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300" b="0" i="0">
                          <a:solidFill>
                            <a:srgbClr val="D1D5DB"/>
                          </a:solidFill>
                          <a:latin typeface="Calibri"/>
                        </a:rPr>
                        <a:t>Decides what the source changes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r>
              <a:tr h="574765">
                <a:tc>
                  <a:txBody>
                    <a:bodyPr wrap="square"/>
                    <a:lstStyle/>
                    <a:p>
                      <a:pPr algn="l">
                        <a:lnSpc>
                          <a:spcPct val="108000"/>
                        </a:lnSpc>
                        <a:spcAft>
                          <a:spcPts val="200"/>
                        </a:spcAft>
                      </a:pPr>
                      <a:r>
                        <a:rPr sz="1300" b="1" i="0">
                          <a:solidFill>
                            <a:srgbClr val="F5F5F0"/>
                          </a:solidFill>
                          <a:latin typeface="Calibri"/>
                        </a:rPr>
                        <a:t>File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300" b="0" i="0">
                          <a:solidFill>
                            <a:srgbClr val="D1D5DB"/>
                          </a:solidFill>
                          <a:latin typeface="Calibri"/>
                        </a:rPr>
                        <a:t>Structures the note, cross-links it, updates the affected positions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300" b="0" i="0">
                          <a:solidFill>
                            <a:srgbClr val="D1D5DB"/>
                          </a:solidFill>
                          <a:latin typeface="Calibri"/>
                        </a:rPr>
                        <a:t>Corrects the draft</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r>
              <a:tr h="574765">
                <a:tc>
                  <a:txBody>
                    <a:bodyPr wrap="square"/>
                    <a:lstStyle/>
                    <a:p>
                      <a:pPr algn="l">
                        <a:lnSpc>
                          <a:spcPct val="108000"/>
                        </a:lnSpc>
                        <a:spcAft>
                          <a:spcPts val="200"/>
                        </a:spcAft>
                      </a:pPr>
                      <a:r>
                        <a:rPr sz="1300" b="1" i="0">
                          <a:solidFill>
                            <a:srgbClr val="F5F5F0"/>
                          </a:solidFill>
                          <a:latin typeface="Calibri"/>
                        </a:rPr>
                        <a:t>Analyse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300" b="0" i="0">
                          <a:solidFill>
                            <a:srgbClr val="D1D5DB"/>
                          </a:solidFill>
                          <a:latin typeface="Calibri"/>
                        </a:rPr>
                        <a:t>Drafts bull and bear cases, runs a short-seller pass, models a scenario across a portfolio</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300" b="0" i="0">
                          <a:solidFill>
                            <a:srgbClr val="D1D5DB"/>
                          </a:solidFill>
                          <a:latin typeface="Calibri"/>
                        </a:rPr>
                        <a:t>Judges the argument</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r>
              <a:tr h="574765">
                <a:tc>
                  <a:txBody>
                    <a:bodyPr wrap="square"/>
                    <a:lstStyle/>
                    <a:p>
                      <a:pPr algn="l">
                        <a:lnSpc>
                          <a:spcPct val="108000"/>
                        </a:lnSpc>
                        <a:spcAft>
                          <a:spcPts val="200"/>
                        </a:spcAft>
                      </a:pPr>
                      <a:r>
                        <a:rPr sz="1300" b="1" i="0">
                          <a:solidFill>
                            <a:srgbClr val="F5F5F0"/>
                          </a:solidFill>
                          <a:latin typeface="Calibri"/>
                        </a:rPr>
                        <a:t>Decide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300" b="0" i="0">
                          <a:solidFill>
                            <a:srgbClr val="D1D5DB"/>
                          </a:solidFill>
                          <a:latin typeface="Calibri"/>
                        </a:rPr>
                        <a:t>Recommends, with as much force as the evidence supports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300" b="0" i="0">
                          <a:solidFill>
                            <a:srgbClr val="D1D5DB"/>
                          </a:solidFill>
                          <a:latin typeface="Calibri"/>
                        </a:rPr>
                        <a:t>Every conviction and sizing decision</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r>
              <a:tr h="574765">
                <a:tc>
                  <a:txBody>
                    <a:bodyPr wrap="square"/>
                    <a:lstStyle/>
                    <a:p>
                      <a:pPr algn="l">
                        <a:lnSpc>
                          <a:spcPct val="108000"/>
                        </a:lnSpc>
                        <a:spcAft>
                          <a:spcPts val="200"/>
                        </a:spcAft>
                      </a:pPr>
                      <a:r>
                        <a:rPr sz="1300" b="1" i="0">
                          <a:solidFill>
                            <a:srgbClr val="F5F5F0"/>
                          </a:solidFill>
                          <a:latin typeface="Calibri"/>
                        </a:rPr>
                        <a:t>Review</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300" b="0" i="0">
                          <a:solidFill>
                            <a:srgbClr val="D1D5DB"/>
                          </a:solidFill>
                          <a:latin typeface="Calibri"/>
                        </a:rPr>
                        <a:t>Overlays what was written against what the price did</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300" b="0" i="0">
                          <a:solidFill>
                            <a:srgbClr val="D1D5DB"/>
                          </a:solidFill>
                          <a:latin typeface="Calibri"/>
                        </a:rPr>
                        <a:t>Acts, or declines to act, on the gap</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r>
            </a:tbl>
          </a:graphicData>
        </a:graphic>
      </p:graphicFrame>
      <p:sp>
        <p:nvSpPr>
          <p:cNvPr id="6" name="TextBox 5"/>
          <p:cNvSpPr txBox="1"/>
          <p:nvPr/>
        </p:nvSpPr>
        <p:spPr>
          <a:xfrm>
            <a:off x="548640" y="5897880"/>
            <a:ext cx="11064240" cy="457200"/>
          </a:xfrm>
          <a:prstGeom prst="rect">
            <a:avLst/>
          </a:prstGeom>
          <a:noFill/>
        </p:spPr>
        <p:txBody>
          <a:bodyPr wrap="square" lIns="45720" rIns="45720" anchor="t">
            <a:noAutofit/>
          </a:bodyPr>
          <a:lstStyle/>
          <a:p>
            <a:pPr algn="l">
              <a:lnSpc>
                <a:spcPct val="112000"/>
              </a:lnSpc>
              <a:spcAft>
                <a:spcPts val="400"/>
              </a:spcAft>
            </a:pPr>
            <a:r>
              <a:rPr sz="1400" b="0" i="1">
                <a:solidFill>
                  <a:srgbClr val="22D3EE"/>
                </a:solidFill>
                <a:latin typeface="Calibri"/>
              </a:rPr>
              <a:t>Sensing is constant and cheap; judgement stays scheduled and human.</a:t>
            </a:r>
          </a:p>
        </p:txBody>
      </p:sp>
      <p:sp>
        <p:nvSpPr>
          <p:cNvPr id="7" name="footer"/>
          <p:cNvSpPr txBox="1"/>
          <p:nvPr/>
        </p:nvSpPr>
        <p:spPr>
          <a:xfrm>
            <a:off x="548640" y="6446520"/>
            <a:ext cx="7772400" cy="274320"/>
          </a:xfrm>
          <a:prstGeom prst="rect">
            <a:avLst/>
          </a:prstGeom>
          <a:noFill/>
        </p:spPr>
        <p:txBody>
          <a:bodyPr wrap="square" lIns="45720" rIns="45720" anchor="t">
            <a:noAutofit/>
          </a:bodyPr>
          <a:lstStyle/>
          <a:p>
            <a:pPr algn="l">
              <a:lnSpc>
                <a:spcPct val="112000"/>
              </a:lnSpc>
              <a:spcAft>
                <a:spcPts val="400"/>
              </a:spcAft>
            </a:pPr>
            <a:r>
              <a:rPr sz="900" b="0" i="0">
                <a:solidFill>
                  <a:srgbClr val="6B7280"/>
                </a:solidFill>
                <a:latin typeface="Calibri"/>
              </a:rPr>
              <a:t>Laniakea Partners · A Second Brain for Investing · August 2026  ·  Part 2</a:t>
            </a:r>
          </a:p>
        </p:txBody>
      </p:sp>
      <p:sp>
        <p:nvSpPr>
          <p:cNvPr id="8" name="footer"/>
          <p:cNvSpPr txBox="1"/>
          <p:nvPr/>
        </p:nvSpPr>
        <p:spPr>
          <a:xfrm>
            <a:off x="10332720" y="6446520"/>
            <a:ext cx="1325880" cy="274320"/>
          </a:xfrm>
          <a:prstGeom prst="rect">
            <a:avLst/>
          </a:prstGeom>
          <a:noFill/>
        </p:spPr>
        <p:txBody>
          <a:bodyPr wrap="square" lIns="45720" rIns="45720" anchor="t">
            <a:noAutofit/>
          </a:bodyPr>
          <a:lstStyle/>
          <a:p>
            <a:pPr algn="r">
              <a:lnSpc>
                <a:spcPct val="112000"/>
              </a:lnSpc>
              <a:spcAft>
                <a:spcPts val="400"/>
              </a:spcAft>
            </a:pPr>
            <a:r>
              <a:rPr sz="900" b="0" i="0">
                <a:solidFill>
                  <a:srgbClr val="6B7280"/>
                </a:solidFill>
                <a:latin typeface="Calibri"/>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548640" y="292608"/>
            <a:ext cx="10972800" cy="320040"/>
          </a:xfrm>
          <a:prstGeom prst="rect">
            <a:avLst/>
          </a:prstGeom>
          <a:noFill/>
        </p:spPr>
        <p:txBody>
          <a:bodyPr wrap="square" lIns="45720" rIns="45720" anchor="t">
            <a:noAutofit/>
          </a:bodyPr>
          <a:lstStyle/>
          <a:p>
            <a:pPr algn="l">
              <a:lnSpc>
                <a:spcPct val="112000"/>
              </a:lnSpc>
              <a:spcAft>
                <a:spcPts val="400"/>
              </a:spcAft>
            </a:pPr>
            <a:r>
              <a:rPr sz="1100" b="1" i="0">
                <a:solidFill>
                  <a:srgbClr val="22D3EE"/>
                </a:solidFill>
                <a:latin typeface="Calibri"/>
              </a:rPr>
              <a:t>PART 2 · AI IN INVESTING TODAY</a:t>
            </a:r>
          </a:p>
        </p:txBody>
      </p:sp>
      <p:sp>
        <p:nvSpPr>
          <p:cNvPr id="3" name="TextBox 2"/>
          <p:cNvSpPr txBox="1"/>
          <p:nvPr/>
        </p:nvSpPr>
        <p:spPr>
          <a:xfrm>
            <a:off x="548640" y="566928"/>
            <a:ext cx="11064240" cy="868680"/>
          </a:xfrm>
          <a:prstGeom prst="rect">
            <a:avLst/>
          </a:prstGeom>
          <a:noFill/>
        </p:spPr>
        <p:txBody>
          <a:bodyPr wrap="square" lIns="45720" rIns="45720" anchor="t">
            <a:noAutofit/>
          </a:bodyPr>
          <a:lstStyle/>
          <a:p>
            <a:pPr algn="l">
              <a:lnSpc>
                <a:spcPct val="100000"/>
              </a:lnSpc>
              <a:spcAft>
                <a:spcPts val="400"/>
              </a:spcAft>
            </a:pPr>
            <a:r>
              <a:rPr sz="2800" b="0" i="0">
                <a:solidFill>
                  <a:srgbClr val="F5F5F0"/>
                </a:solidFill>
                <a:latin typeface="Georgia"/>
              </a:rPr>
              <a:t>The problems it solves over a manual process</a:t>
            </a:r>
          </a:p>
        </p:txBody>
      </p:sp>
      <p:cxnSp>
        <p:nvCxnSpPr>
          <p:cNvPr id="4" name="Connector 3"/>
          <p:cNvCxnSpPr/>
          <p:nvPr/>
        </p:nvCxnSpPr>
        <p:spPr>
          <a:xfrm>
            <a:off x="594360" y="1389888"/>
            <a:ext cx="914400" cy="0"/>
          </a:xfrm>
          <a:prstGeom prst="line">
            <a:avLst/>
          </a:prstGeom>
          <a:ln w="31750">
            <a:solidFill>
              <a:srgbClr val="0891B2"/>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548640" y="1645920"/>
          <a:ext cx="11064240" cy="4206237"/>
        </p:xfrm>
        <a:graphic>
          <a:graphicData uri="http://schemas.openxmlformats.org/drawingml/2006/table">
            <a:tbl>
              <a:tblPr firstRow="1">
                <a:tableStyleId>{5C22544A-7EE6-4342-B048-85BDC9FD1C3A}</a:tableStyleId>
              </a:tblPr>
              <a:tblGrid>
                <a:gridCol w="2377440"/>
                <a:gridCol w="4343400"/>
                <a:gridCol w="4343400"/>
              </a:tblGrid>
              <a:tr h="600891">
                <a:tc>
                  <a:txBody>
                    <a:bodyPr wrap="square"/>
                    <a:lstStyle/>
                    <a:p>
                      <a:pPr algn="l">
                        <a:lnSpc>
                          <a:spcPct val="108000"/>
                        </a:lnSpc>
                        <a:spcAft>
                          <a:spcPts val="200"/>
                        </a:spcAft>
                      </a:pPr>
                      <a:r>
                        <a:rPr sz="1200" b="1" i="0">
                          <a:solidFill>
                            <a:srgbClr val="FFFFFF"/>
                          </a:solidFill>
                          <a:latin typeface="Calibri"/>
                        </a:rPr>
                        <a:t>Problem</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0E4F63"/>
                    </a:solidFill>
                  </a:tcPr>
                </a:tc>
                <a:tc>
                  <a:txBody>
                    <a:bodyPr wrap="square"/>
                    <a:lstStyle/>
                    <a:p>
                      <a:pPr algn="l">
                        <a:lnSpc>
                          <a:spcPct val="108000"/>
                        </a:lnSpc>
                        <a:spcAft>
                          <a:spcPts val="200"/>
                        </a:spcAft>
                      </a:pPr>
                      <a:r>
                        <a:rPr sz="1200" b="1" i="0">
                          <a:solidFill>
                            <a:srgbClr val="FFFFFF"/>
                          </a:solidFill>
                          <a:latin typeface="Calibri"/>
                        </a:rPr>
                        <a:t>Manual process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0E4F63"/>
                    </a:solidFill>
                  </a:tcPr>
                </a:tc>
                <a:tc>
                  <a:txBody>
                    <a:bodyPr wrap="square"/>
                    <a:lstStyle/>
                    <a:p>
                      <a:pPr algn="l">
                        <a:lnSpc>
                          <a:spcPct val="108000"/>
                        </a:lnSpc>
                        <a:spcAft>
                          <a:spcPts val="200"/>
                        </a:spcAft>
                      </a:pPr>
                      <a:r>
                        <a:rPr sz="1200" b="1" i="0">
                          <a:solidFill>
                            <a:srgbClr val="FFFFFF"/>
                          </a:solidFill>
                          <a:latin typeface="Calibri"/>
                        </a:rPr>
                        <a:t>With a research system</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0E4F63"/>
                    </a:solidFill>
                  </a:tcPr>
                </a:tc>
              </a:tr>
              <a:tr h="600891">
                <a:tc>
                  <a:txBody>
                    <a:bodyPr wrap="square"/>
                    <a:lstStyle/>
                    <a:p>
                      <a:pPr algn="l">
                        <a:lnSpc>
                          <a:spcPct val="108000"/>
                        </a:lnSpc>
                        <a:spcAft>
                          <a:spcPts val="200"/>
                        </a:spcAft>
                      </a:pPr>
                      <a:r>
                        <a:rPr sz="1200" b="1" i="0">
                          <a:solidFill>
                            <a:srgbClr val="F5F5F0"/>
                          </a:solidFill>
                          <a:latin typeface="Calibri"/>
                        </a:rPr>
                        <a:t>The firehose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200" b="0" i="0">
                          <a:solidFill>
                            <a:srgbClr val="D1D5DB"/>
                          </a:solidFill>
                          <a:latin typeface="Calibri"/>
                        </a:rPr>
                        <a:t>Thousands of items a day; a handful matter; finding them costs the morning</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200" b="0" i="0">
                          <a:solidFill>
                            <a:srgbClr val="D1D5DB"/>
                          </a:solidFill>
                          <a:latin typeface="Calibri"/>
                        </a:rPr>
                        <a:t>Scored, clustered, and tied to the positions held before the day starts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r>
              <a:tr h="600891">
                <a:tc>
                  <a:txBody>
                    <a:bodyPr wrap="square"/>
                    <a:lstStyle/>
                    <a:p>
                      <a:pPr algn="l">
                        <a:lnSpc>
                          <a:spcPct val="108000"/>
                        </a:lnSpc>
                        <a:spcAft>
                          <a:spcPts val="200"/>
                        </a:spcAft>
                      </a:pPr>
                      <a:r>
                        <a:rPr sz="1200" b="1" i="0">
                          <a:solidFill>
                            <a:srgbClr val="F5F5F0"/>
                          </a:solidFill>
                          <a:latin typeface="Calibri"/>
                        </a:rPr>
                        <a:t>Reading is not filing</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200" b="0" i="0">
                          <a:solidFill>
                            <a:srgbClr val="D1D5DB"/>
                          </a:solidFill>
                          <a:latin typeface="Calibri"/>
                        </a:rPr>
                        <a:t>Insight stays in the reader's head; cross-references decay within weeks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200" b="0" i="0">
                          <a:solidFill>
                            <a:srgbClr val="D1D5DB"/>
                          </a:solidFill>
                          <a:latin typeface="Calibri"/>
                        </a:rPr>
                        <a:t>Every source becomes a structured note, filed where it changes a claim</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r>
              <a:tr h="600891">
                <a:tc>
                  <a:txBody>
                    <a:bodyPr wrap="square"/>
                    <a:lstStyle/>
                    <a:p>
                      <a:pPr algn="l">
                        <a:lnSpc>
                          <a:spcPct val="108000"/>
                        </a:lnSpc>
                        <a:spcAft>
                          <a:spcPts val="200"/>
                        </a:spcAft>
                      </a:pPr>
                      <a:r>
                        <a:rPr sz="1200" b="1" i="0">
                          <a:solidFill>
                            <a:srgbClr val="F5F5F0"/>
                          </a:solidFill>
                          <a:latin typeface="Calibri"/>
                        </a:rPr>
                        <a:t>Blind spots across positions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200" b="0" i="0">
                          <a:solidFill>
                            <a:srgbClr val="D1D5DB"/>
                          </a:solidFill>
                          <a:latin typeface="Calibri"/>
                        </a:rPr>
                        <a:t>Nobody holds fifty theses in their head; shared assumptions go unexamined</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200" b="0" i="0">
                          <a:solidFill>
                            <a:srgbClr val="D1D5DB"/>
                          </a:solidFill>
                          <a:latin typeface="Calibri"/>
                        </a:rPr>
                        <a:t>The whole portfolio's research can be searched, and diffed against itself</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r>
              <a:tr h="600891">
                <a:tc>
                  <a:txBody>
                    <a:bodyPr wrap="square"/>
                    <a:lstStyle/>
                    <a:p>
                      <a:pPr algn="l">
                        <a:lnSpc>
                          <a:spcPct val="108000"/>
                        </a:lnSpc>
                        <a:spcAft>
                          <a:spcPts val="200"/>
                        </a:spcAft>
                      </a:pPr>
                      <a:r>
                        <a:rPr sz="1200" b="1" i="0">
                          <a:solidFill>
                            <a:srgbClr val="F5F5F0"/>
                          </a:solidFill>
                          <a:latin typeface="Calibri"/>
                        </a:rPr>
                        <a:t>Falsifiers never written down</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200" b="0" i="0">
                          <a:solidFill>
                            <a:srgbClr val="D1D5DB"/>
                          </a:solidFill>
                          <a:latin typeface="Calibri"/>
                        </a:rPr>
                        <a:t>Positions defended out of loyalty two years in</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200" b="0" i="0">
                          <a:solidFill>
                            <a:srgbClr val="D1D5DB"/>
                          </a:solidFill>
                          <a:latin typeface="Calibri"/>
                        </a:rPr>
                        <a:t>Raise / cut / close conditions written in advance and tested on every datapoint</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r>
              <a:tr h="600891">
                <a:tc>
                  <a:txBody>
                    <a:bodyPr wrap="square"/>
                    <a:lstStyle/>
                    <a:p>
                      <a:pPr algn="l">
                        <a:lnSpc>
                          <a:spcPct val="108000"/>
                        </a:lnSpc>
                        <a:spcAft>
                          <a:spcPts val="200"/>
                        </a:spcAft>
                      </a:pPr>
                      <a:r>
                        <a:rPr sz="1200" b="1" i="0">
                          <a:solidFill>
                            <a:srgbClr val="F5F5F0"/>
                          </a:solidFill>
                          <a:latin typeface="Calibri"/>
                        </a:rPr>
                        <a:t>Hierarchy compresses evidence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200" b="0" i="0">
                          <a:solidFill>
                            <a:srgbClr val="D1D5DB"/>
                          </a:solidFill>
                          <a:latin typeface="Calibri"/>
                        </a:rPr>
                        <a:t>Analyst → sector head → PM: three hops and several weeks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200" b="0" i="0">
                          <a:solidFill>
                            <a:srgbClr val="D1D5DB"/>
                          </a:solidFill>
                          <a:latin typeface="Calibri"/>
                        </a:rPr>
                        <a:t>Evidence, thesis and falsifier live in one place, read whole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r>
              <a:tr h="600891">
                <a:tc>
                  <a:txBody>
                    <a:bodyPr wrap="square"/>
                    <a:lstStyle/>
                    <a:p>
                      <a:pPr algn="l">
                        <a:lnSpc>
                          <a:spcPct val="108000"/>
                        </a:lnSpc>
                        <a:spcAft>
                          <a:spcPts val="200"/>
                        </a:spcAft>
                      </a:pPr>
                      <a:r>
                        <a:rPr sz="1200" b="1" i="0">
                          <a:solidFill>
                            <a:srgbClr val="F5F5F0"/>
                          </a:solidFill>
                          <a:latin typeface="Calibri"/>
                        </a:rPr>
                        <a:t>Nothing compounds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200" b="0" i="0">
                          <a:solidFill>
                            <a:srgbClr val="D1D5DB"/>
                          </a:solidFill>
                          <a:latin typeface="Calibri"/>
                        </a:rPr>
                        <a:t>Context rebuilt every morning, discarded every night</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200" b="0" i="0">
                          <a:solidFill>
                            <a:srgbClr val="D1D5DB"/>
                          </a:solidFill>
                          <a:latin typeface="Calibri"/>
                        </a:rPr>
                        <a:t>Knowledge written back and cited months later</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r>
            </a:tbl>
          </a:graphicData>
        </a:graphic>
      </p:graphicFrame>
      <p:sp>
        <p:nvSpPr>
          <p:cNvPr id="6" name="footer"/>
          <p:cNvSpPr txBox="1"/>
          <p:nvPr/>
        </p:nvSpPr>
        <p:spPr>
          <a:xfrm>
            <a:off x="548640" y="6446520"/>
            <a:ext cx="7772400" cy="274320"/>
          </a:xfrm>
          <a:prstGeom prst="rect">
            <a:avLst/>
          </a:prstGeom>
          <a:noFill/>
        </p:spPr>
        <p:txBody>
          <a:bodyPr wrap="square" lIns="45720" rIns="45720" anchor="t">
            <a:noAutofit/>
          </a:bodyPr>
          <a:lstStyle/>
          <a:p>
            <a:pPr algn="l">
              <a:lnSpc>
                <a:spcPct val="112000"/>
              </a:lnSpc>
              <a:spcAft>
                <a:spcPts val="400"/>
              </a:spcAft>
            </a:pPr>
            <a:r>
              <a:rPr sz="900" b="0" i="0">
                <a:solidFill>
                  <a:srgbClr val="6B7280"/>
                </a:solidFill>
                <a:latin typeface="Calibri"/>
              </a:rPr>
              <a:t>Laniakea Partners · A Second Brain for Investing · August 2026  ·  Part 2</a:t>
            </a:r>
          </a:p>
        </p:txBody>
      </p:sp>
      <p:sp>
        <p:nvSpPr>
          <p:cNvPr id="7" name="footer"/>
          <p:cNvSpPr txBox="1"/>
          <p:nvPr/>
        </p:nvSpPr>
        <p:spPr>
          <a:xfrm>
            <a:off x="10332720" y="6446520"/>
            <a:ext cx="1325880" cy="274320"/>
          </a:xfrm>
          <a:prstGeom prst="rect">
            <a:avLst/>
          </a:prstGeom>
          <a:noFill/>
        </p:spPr>
        <p:txBody>
          <a:bodyPr wrap="square" lIns="45720" rIns="45720" anchor="t">
            <a:noAutofit/>
          </a:bodyPr>
          <a:lstStyle/>
          <a:p>
            <a:pPr algn="r">
              <a:lnSpc>
                <a:spcPct val="112000"/>
              </a:lnSpc>
              <a:spcAft>
                <a:spcPts val="400"/>
              </a:spcAft>
            </a:pPr>
            <a:r>
              <a:rPr sz="900" b="0" i="0">
                <a:solidFill>
                  <a:srgbClr val="6B7280"/>
                </a:solidFill>
                <a:latin typeface="Calibri"/>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548640" y="292608"/>
            <a:ext cx="10972800" cy="320040"/>
          </a:xfrm>
          <a:prstGeom prst="rect">
            <a:avLst/>
          </a:prstGeom>
          <a:noFill/>
        </p:spPr>
        <p:txBody>
          <a:bodyPr wrap="square" lIns="45720" rIns="45720" anchor="t">
            <a:noAutofit/>
          </a:bodyPr>
          <a:lstStyle/>
          <a:p>
            <a:pPr algn="l">
              <a:lnSpc>
                <a:spcPct val="112000"/>
              </a:lnSpc>
              <a:spcAft>
                <a:spcPts val="400"/>
              </a:spcAft>
            </a:pPr>
            <a:r>
              <a:rPr sz="1100" b="1" i="0">
                <a:solidFill>
                  <a:srgbClr val="22D3EE"/>
                </a:solidFill>
                <a:latin typeface="Calibri"/>
              </a:rPr>
              <a:t>PART 2 · AI IN INVESTING TODAY</a:t>
            </a:r>
          </a:p>
        </p:txBody>
      </p:sp>
      <p:sp>
        <p:nvSpPr>
          <p:cNvPr id="3" name="TextBox 2"/>
          <p:cNvSpPr txBox="1"/>
          <p:nvPr/>
        </p:nvSpPr>
        <p:spPr>
          <a:xfrm>
            <a:off x="548640" y="566928"/>
            <a:ext cx="11064240" cy="868680"/>
          </a:xfrm>
          <a:prstGeom prst="rect">
            <a:avLst/>
          </a:prstGeom>
          <a:noFill/>
        </p:spPr>
        <p:txBody>
          <a:bodyPr wrap="square" lIns="45720" rIns="45720" anchor="t">
            <a:noAutofit/>
          </a:bodyPr>
          <a:lstStyle/>
          <a:p>
            <a:pPr algn="l">
              <a:lnSpc>
                <a:spcPct val="100000"/>
              </a:lnSpc>
              <a:spcAft>
                <a:spcPts val="400"/>
              </a:spcAft>
            </a:pPr>
            <a:r>
              <a:rPr sz="2800" b="0" i="0">
                <a:solidFill>
                  <a:srgbClr val="F5F5F0"/>
                </a:solidFill>
                <a:latin typeface="Georgia"/>
              </a:rPr>
              <a:t>Chat is not a research system</a:t>
            </a:r>
          </a:p>
        </p:txBody>
      </p:sp>
      <p:cxnSp>
        <p:nvCxnSpPr>
          <p:cNvPr id="4" name="Connector 3"/>
          <p:cNvCxnSpPr/>
          <p:nvPr/>
        </p:nvCxnSpPr>
        <p:spPr>
          <a:xfrm>
            <a:off x="594360" y="1389888"/>
            <a:ext cx="914400" cy="0"/>
          </a:xfrm>
          <a:prstGeom prst="line">
            <a:avLst/>
          </a:prstGeom>
          <a:ln w="31750">
            <a:solidFill>
              <a:srgbClr val="0891B2"/>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548640" y="1645920"/>
          <a:ext cx="11064240" cy="2926080"/>
        </p:xfrm>
        <a:graphic>
          <a:graphicData uri="http://schemas.openxmlformats.org/drawingml/2006/table">
            <a:tbl>
              <a:tblPr firstRow="1">
                <a:tableStyleId>{5C22544A-7EE6-4342-B048-85BDC9FD1C3A}</a:tableStyleId>
              </a:tblPr>
              <a:tblGrid>
                <a:gridCol w="2468880"/>
                <a:gridCol w="2377440"/>
                <a:gridCol w="2926080"/>
                <a:gridCol w="3291840"/>
              </a:tblGrid>
              <a:tr h="585216">
                <a:tc>
                  <a:txBody>
                    <a:bodyPr wrap="square"/>
                    <a:lstStyle/>
                    <a:p>
                      <a:pPr algn="l">
                        <a:lnSpc>
                          <a:spcPct val="108000"/>
                        </a:lnSpc>
                        <a:spcAft>
                          <a:spcPts val="200"/>
                        </a:spcAft>
                      </a:pPr>
                      <a:r>
                        <a:rPr sz="1300" b="1" i="0">
                          <a:solidFill>
                            <a:srgbClr val="FFFFFF"/>
                          </a:solidFill>
                          <a:latin typeface="Calibri"/>
                        </a:rPr>
                        <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0E4F63"/>
                    </a:solidFill>
                  </a:tcPr>
                </a:tc>
                <a:tc>
                  <a:txBody>
                    <a:bodyPr wrap="square"/>
                    <a:lstStyle/>
                    <a:p>
                      <a:pPr algn="l">
                        <a:lnSpc>
                          <a:spcPct val="108000"/>
                        </a:lnSpc>
                        <a:spcAft>
                          <a:spcPts val="200"/>
                        </a:spcAft>
                      </a:pPr>
                      <a:r>
                        <a:rPr sz="1300" b="1" i="0">
                          <a:solidFill>
                            <a:srgbClr val="FFFFFF"/>
                          </a:solidFill>
                          <a:latin typeface="Calibri"/>
                        </a:rPr>
                        <a:t>Chat window</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0E4F63"/>
                    </a:solidFill>
                  </a:tcPr>
                </a:tc>
                <a:tc>
                  <a:txBody>
                    <a:bodyPr wrap="square"/>
                    <a:lstStyle/>
                    <a:p>
                      <a:pPr algn="l">
                        <a:lnSpc>
                          <a:spcPct val="108000"/>
                        </a:lnSpc>
                        <a:spcAft>
                          <a:spcPts val="200"/>
                        </a:spcAft>
                      </a:pPr>
                      <a:r>
                        <a:rPr sz="1300" b="1" i="0">
                          <a:solidFill>
                            <a:srgbClr val="FFFFFF"/>
                          </a:solidFill>
                          <a:latin typeface="Calibri"/>
                        </a:rPr>
                        <a:t>Search over your files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0E4F63"/>
                    </a:solidFill>
                  </a:tcPr>
                </a:tc>
                <a:tc>
                  <a:txBody>
                    <a:bodyPr wrap="square"/>
                    <a:lstStyle/>
                    <a:p>
                      <a:pPr algn="l">
                        <a:lnSpc>
                          <a:spcPct val="108000"/>
                        </a:lnSpc>
                        <a:spcAft>
                          <a:spcPts val="200"/>
                        </a:spcAft>
                      </a:pPr>
                      <a:r>
                        <a:rPr sz="1300" b="1" i="0">
                          <a:solidFill>
                            <a:srgbClr val="FFFFFF"/>
                          </a:solidFill>
                          <a:latin typeface="Calibri"/>
                        </a:rPr>
                        <a:t>Compiled research wiki</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0E4F63"/>
                    </a:solidFill>
                  </a:tcPr>
                </a:tc>
              </a:tr>
              <a:tr h="585216">
                <a:tc>
                  <a:txBody>
                    <a:bodyPr wrap="square"/>
                    <a:lstStyle/>
                    <a:p>
                      <a:pPr algn="l">
                        <a:lnSpc>
                          <a:spcPct val="108000"/>
                        </a:lnSpc>
                        <a:spcAft>
                          <a:spcPts val="200"/>
                        </a:spcAft>
                      </a:pPr>
                      <a:r>
                        <a:rPr sz="1300" b="1" i="0">
                          <a:solidFill>
                            <a:srgbClr val="F5F5F0"/>
                          </a:solidFill>
                          <a:latin typeface="Calibri"/>
                        </a:rPr>
                        <a:t>Memory between sessions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300" b="0" i="0">
                          <a:solidFill>
                            <a:srgbClr val="D1D5DB"/>
                          </a:solidFill>
                          <a:latin typeface="Calibri"/>
                        </a:rPr>
                        <a:t>None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300" b="0" i="0">
                          <a:solidFill>
                            <a:srgbClr val="D1D5DB"/>
                          </a:solidFill>
                          <a:latin typeface="Calibri"/>
                        </a:rPr>
                        <a:t>An index; nothing is learnt</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300" b="0" i="0">
                          <a:solidFill>
                            <a:srgbClr val="D1D5DB"/>
                          </a:solidFill>
                          <a:latin typeface="Calibri"/>
                        </a:rPr>
                        <a:t>Written back into the notes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r>
              <a:tr h="585216">
                <a:tc>
                  <a:txBody>
                    <a:bodyPr wrap="square"/>
                    <a:lstStyle/>
                    <a:p>
                      <a:pPr algn="l">
                        <a:lnSpc>
                          <a:spcPct val="108000"/>
                        </a:lnSpc>
                        <a:spcAft>
                          <a:spcPts val="200"/>
                        </a:spcAft>
                      </a:pPr>
                      <a:r>
                        <a:rPr sz="1300" b="1" i="0">
                          <a:solidFill>
                            <a:srgbClr val="F5F5F0"/>
                          </a:solidFill>
                          <a:latin typeface="Calibri"/>
                        </a:rPr>
                        <a:t>Cross-references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300" b="0" i="0">
                          <a:solidFill>
                            <a:srgbClr val="D1D5DB"/>
                          </a:solidFill>
                          <a:latin typeface="Calibri"/>
                        </a:rPr>
                        <a:t>None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300" b="0" i="0">
                          <a:solidFill>
                            <a:srgbClr val="D1D5DB"/>
                          </a:solidFill>
                          <a:latin typeface="Calibri"/>
                        </a:rPr>
                        <a:t>None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300" b="0" i="0">
                          <a:solidFill>
                            <a:srgbClr val="D1D5DB"/>
                          </a:solidFill>
                          <a:latin typeface="Calibri"/>
                        </a:rPr>
                        <a:t>Built at write time, kept current</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r>
              <a:tr h="585216">
                <a:tc>
                  <a:txBody>
                    <a:bodyPr wrap="square"/>
                    <a:lstStyle/>
                    <a:p>
                      <a:pPr algn="l">
                        <a:lnSpc>
                          <a:spcPct val="108000"/>
                        </a:lnSpc>
                        <a:spcAft>
                          <a:spcPts val="200"/>
                        </a:spcAft>
                      </a:pPr>
                      <a:r>
                        <a:rPr sz="1300" b="1" i="0">
                          <a:solidFill>
                            <a:srgbClr val="F5F5F0"/>
                          </a:solidFill>
                          <a:latin typeface="Calibri"/>
                        </a:rPr>
                        <a:t>Contradictions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300" b="0" i="0">
                          <a:solidFill>
                            <a:srgbClr val="D1D5DB"/>
                          </a:solidFill>
                          <a:latin typeface="Calibri"/>
                        </a:rPr>
                        <a:t>Unflagged</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300" b="0" i="0">
                          <a:solidFill>
                            <a:srgbClr val="D1D5DB"/>
                          </a:solidFill>
                          <a:latin typeface="Calibri"/>
                        </a:rPr>
                        <a:t>Unflagged</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300" b="0" i="0">
                          <a:solidFill>
                            <a:srgbClr val="D1D5DB"/>
                          </a:solidFill>
                          <a:latin typeface="Calibri"/>
                        </a:rPr>
                        <a:t>Checked every time a source is filed</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r>
              <a:tr h="585216">
                <a:tc>
                  <a:txBody>
                    <a:bodyPr wrap="square"/>
                    <a:lstStyle/>
                    <a:p>
                      <a:pPr algn="l">
                        <a:lnSpc>
                          <a:spcPct val="108000"/>
                        </a:lnSpc>
                        <a:spcAft>
                          <a:spcPts val="200"/>
                        </a:spcAft>
                      </a:pPr>
                      <a:r>
                        <a:rPr sz="1300" b="1" i="0">
                          <a:solidFill>
                            <a:srgbClr val="F5F5F0"/>
                          </a:solidFill>
                          <a:latin typeface="Calibri"/>
                        </a:rPr>
                        <a:t>Audit trail</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300" b="0" i="0">
                          <a:solidFill>
                            <a:srgbClr val="D1D5DB"/>
                          </a:solidFill>
                          <a:latin typeface="Calibri"/>
                        </a:rPr>
                        <a:t>None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300" b="0" i="0">
                          <a:solidFill>
                            <a:srgbClr val="D1D5DB"/>
                          </a:solidFill>
                          <a:latin typeface="Calibri"/>
                        </a:rPr>
                        <a:t>None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300" b="0" i="0">
                          <a:solidFill>
                            <a:srgbClr val="D1D5DB"/>
                          </a:solidFill>
                          <a:latin typeface="Calibri"/>
                        </a:rPr>
                        <a:t>Dated, append-only log per position</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r>
            </a:tbl>
          </a:graphicData>
        </a:graphic>
      </p:graphicFrame>
      <p:sp>
        <p:nvSpPr>
          <p:cNvPr id="6" name="TextBox 5"/>
          <p:cNvSpPr txBox="1"/>
          <p:nvPr/>
        </p:nvSpPr>
        <p:spPr>
          <a:xfrm>
            <a:off x="548640" y="4892040"/>
            <a:ext cx="11064240" cy="1371600"/>
          </a:xfrm>
          <a:prstGeom prst="rect">
            <a:avLst/>
          </a:prstGeom>
          <a:noFill/>
        </p:spPr>
        <p:txBody>
          <a:bodyPr wrap="square" lIns="45720" rIns="45720" anchor="t">
            <a:noAutofit/>
          </a:bodyPr>
          <a:lstStyle/>
          <a:p>
            <a:pPr algn="l">
              <a:lnSpc>
                <a:spcPct val="112000"/>
              </a:lnSpc>
              <a:spcAft>
                <a:spcPts val="400"/>
              </a:spcAft>
            </a:pPr>
            <a:r>
              <a:rPr sz="2200" b="0" i="0">
                <a:solidFill>
                  <a:srgbClr val="F5F5F0"/>
                </a:solidFill>
                <a:latin typeface="Georgia"/>
              </a:rPr>
              <a:t>Compilation, not retrieval.</a:t>
            </a:r>
          </a:p>
          <a:p>
            <a:pPr algn="l">
              <a:lnSpc>
                <a:spcPct val="112000"/>
              </a:lnSpc>
              <a:spcAft>
                <a:spcPts val="400"/>
              </a:spcAft>
            </a:pPr>
            <a:r>
              <a:rPr sz="1350" b="0" i="0">
                <a:solidFill>
                  <a:srgbClr val="D1D5DB"/>
                </a:solidFill>
                <a:latin typeface="Calibri"/>
              </a:rPr>
              <a:t>Andrej Karpathy's 'LLM wiki' pattern (April 2026): the model compiles raw sources into a persistent, interlinked body of notes, built once and kept current rather than re-derived on every question. The note-taking app is the IDE, the model is the programmer, the wiki is the codebase.</a:t>
            </a:r>
          </a:p>
        </p:txBody>
      </p:sp>
      <p:sp>
        <p:nvSpPr>
          <p:cNvPr id="7" name="footer"/>
          <p:cNvSpPr txBox="1"/>
          <p:nvPr/>
        </p:nvSpPr>
        <p:spPr>
          <a:xfrm>
            <a:off x="548640" y="6446520"/>
            <a:ext cx="7772400" cy="274320"/>
          </a:xfrm>
          <a:prstGeom prst="rect">
            <a:avLst/>
          </a:prstGeom>
          <a:noFill/>
        </p:spPr>
        <p:txBody>
          <a:bodyPr wrap="square" lIns="45720" rIns="45720" anchor="t">
            <a:noAutofit/>
          </a:bodyPr>
          <a:lstStyle/>
          <a:p>
            <a:pPr algn="l">
              <a:lnSpc>
                <a:spcPct val="112000"/>
              </a:lnSpc>
              <a:spcAft>
                <a:spcPts val="400"/>
              </a:spcAft>
            </a:pPr>
            <a:r>
              <a:rPr sz="900" b="0" i="0">
                <a:solidFill>
                  <a:srgbClr val="6B7280"/>
                </a:solidFill>
                <a:latin typeface="Calibri"/>
              </a:rPr>
              <a:t>Laniakea Partners · A Second Brain for Investing · August 2026  ·  Part 2</a:t>
            </a:r>
          </a:p>
        </p:txBody>
      </p:sp>
      <p:sp>
        <p:nvSpPr>
          <p:cNvPr id="8" name="footer"/>
          <p:cNvSpPr txBox="1"/>
          <p:nvPr/>
        </p:nvSpPr>
        <p:spPr>
          <a:xfrm>
            <a:off x="10332720" y="6446520"/>
            <a:ext cx="1325880" cy="274320"/>
          </a:xfrm>
          <a:prstGeom prst="rect">
            <a:avLst/>
          </a:prstGeom>
          <a:noFill/>
        </p:spPr>
        <p:txBody>
          <a:bodyPr wrap="square" lIns="45720" rIns="45720" anchor="t">
            <a:noAutofit/>
          </a:bodyPr>
          <a:lstStyle/>
          <a:p>
            <a:pPr algn="r">
              <a:lnSpc>
                <a:spcPct val="112000"/>
              </a:lnSpc>
              <a:spcAft>
                <a:spcPts val="400"/>
              </a:spcAft>
            </a:pPr>
            <a:r>
              <a:rPr sz="900" b="0" i="0">
                <a:solidFill>
                  <a:srgbClr val="6B7280"/>
                </a:solidFill>
                <a:latin typeface="Calibri"/>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822960" y="1463040"/>
            <a:ext cx="2743200" cy="1280160"/>
          </a:xfrm>
          <a:prstGeom prst="rect">
            <a:avLst/>
          </a:prstGeom>
          <a:noFill/>
        </p:spPr>
        <p:txBody>
          <a:bodyPr wrap="square" lIns="45720" rIns="45720" anchor="t">
            <a:noAutofit/>
          </a:bodyPr>
          <a:lstStyle/>
          <a:p>
            <a:pPr algn="l">
              <a:lnSpc>
                <a:spcPct val="112000"/>
              </a:lnSpc>
              <a:spcAft>
                <a:spcPts val="400"/>
              </a:spcAft>
            </a:pPr>
            <a:r>
              <a:rPr sz="6400" b="0" i="0">
                <a:solidFill>
                  <a:srgbClr val="0891B2"/>
                </a:solidFill>
                <a:latin typeface="Georgia"/>
              </a:rPr>
              <a:t>03</a:t>
            </a:r>
          </a:p>
        </p:txBody>
      </p:sp>
      <p:sp>
        <p:nvSpPr>
          <p:cNvPr id="3" name="TextBox 2"/>
          <p:cNvSpPr txBox="1"/>
          <p:nvPr/>
        </p:nvSpPr>
        <p:spPr>
          <a:xfrm>
            <a:off x="822960" y="2697480"/>
            <a:ext cx="10515600" cy="1143000"/>
          </a:xfrm>
          <a:prstGeom prst="rect">
            <a:avLst/>
          </a:prstGeom>
          <a:noFill/>
        </p:spPr>
        <p:txBody>
          <a:bodyPr wrap="square" lIns="45720" rIns="45720" anchor="t">
            <a:noAutofit/>
          </a:bodyPr>
          <a:lstStyle/>
          <a:p>
            <a:pPr algn="l">
              <a:lnSpc>
                <a:spcPct val="100000"/>
              </a:lnSpc>
              <a:spcAft>
                <a:spcPts val="400"/>
              </a:spcAft>
            </a:pPr>
            <a:r>
              <a:rPr sz="3200" b="0" i="0">
                <a:solidFill>
                  <a:srgbClr val="F5F5F0"/>
                </a:solidFill>
                <a:latin typeface="Georgia"/>
              </a:rPr>
              <a:t>Inside a second brain: our own system</a:t>
            </a:r>
          </a:p>
        </p:txBody>
      </p:sp>
      <p:cxnSp>
        <p:nvCxnSpPr>
          <p:cNvPr id="4" name="Connector 3"/>
          <p:cNvCxnSpPr/>
          <p:nvPr/>
        </p:nvCxnSpPr>
        <p:spPr>
          <a:xfrm>
            <a:off x="868680" y="3886200"/>
            <a:ext cx="1325880" cy="0"/>
          </a:xfrm>
          <a:prstGeom prst="line">
            <a:avLst/>
          </a:prstGeom>
          <a:ln w="31750">
            <a:solidFill>
              <a:srgbClr val="0891B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22960" y="4069080"/>
            <a:ext cx="10058400" cy="1828800"/>
          </a:xfrm>
          <a:prstGeom prst="rect">
            <a:avLst/>
          </a:prstGeom>
          <a:noFill/>
        </p:spPr>
        <p:txBody>
          <a:bodyPr wrap="square" lIns="45720" rIns="45720" anchor="t">
            <a:noAutofit/>
          </a:bodyPr>
          <a:lstStyle/>
          <a:p>
            <a:pPr algn="l" marL="219456" indent="-182880">
              <a:lnSpc>
                <a:spcPct val="112000"/>
              </a:lnSpc>
              <a:spcAft>
                <a:spcPts val="600"/>
              </a:spcAft>
              <a:buClr>
                <a:srgbClr val="22D3EE"/>
              </a:buClr>
              <a:buFont typeface="Arial"/>
              <a:buChar char="•"/>
            </a:pPr>
            <a:r>
              <a:rPr sz="1600" b="0" i="0">
                <a:solidFill>
                  <a:srgbClr val="D1D5DB"/>
                </a:solidFill>
                <a:latin typeface="Calibri"/>
              </a:rPr>
              <a:t>What a second brain is: a compiled, interlinked wiki that the model maintains</a:t>
            </a:r>
          </a:p>
          <a:p>
            <a:pPr algn="l" marL="219456" indent="-182880">
              <a:lnSpc>
                <a:spcPct val="112000"/>
              </a:lnSpc>
              <a:spcAft>
                <a:spcPts val="600"/>
              </a:spcAft>
              <a:buClr>
                <a:srgbClr val="22D3EE"/>
              </a:buClr>
              <a:buFont typeface="Arial"/>
              <a:buChar char="•"/>
            </a:pPr>
            <a:r>
              <a:rPr sz="1600" b="0" i="0">
                <a:solidFill>
                  <a:srgbClr val="D1D5DB"/>
                </a:solidFill>
                <a:latin typeface="Calibri"/>
              </a:rPr>
              <a:t>How the notes link, and how the model finds its context</a:t>
            </a:r>
          </a:p>
          <a:p>
            <a:pPr algn="l" marL="219456" indent="-182880">
              <a:lnSpc>
                <a:spcPct val="112000"/>
              </a:lnSpc>
              <a:spcAft>
                <a:spcPts val="600"/>
              </a:spcAft>
              <a:buClr>
                <a:srgbClr val="22D3EE"/>
              </a:buClr>
              <a:buFont typeface="Arial"/>
              <a:buChar char="•"/>
            </a:pPr>
            <a:r>
              <a:rPr sz="1600" b="0" i="0">
                <a:solidFill>
                  <a:srgbClr val="D1D5DB"/>
                </a:solidFill>
                <a:latin typeface="Calibri"/>
              </a:rPr>
              <a:t>Context files, mental models, templates, skills, and the overnight sensing layer</a:t>
            </a:r>
          </a:p>
        </p:txBody>
      </p:sp>
      <p:sp>
        <p:nvSpPr>
          <p:cNvPr id="6" name="footer"/>
          <p:cNvSpPr txBox="1"/>
          <p:nvPr/>
        </p:nvSpPr>
        <p:spPr>
          <a:xfrm>
            <a:off x="548640" y="6446520"/>
            <a:ext cx="7772400" cy="274320"/>
          </a:xfrm>
          <a:prstGeom prst="rect">
            <a:avLst/>
          </a:prstGeom>
          <a:noFill/>
        </p:spPr>
        <p:txBody>
          <a:bodyPr wrap="square" lIns="45720" rIns="45720" anchor="t">
            <a:noAutofit/>
          </a:bodyPr>
          <a:lstStyle/>
          <a:p>
            <a:pPr algn="l">
              <a:lnSpc>
                <a:spcPct val="112000"/>
              </a:lnSpc>
              <a:spcAft>
                <a:spcPts val="400"/>
              </a:spcAft>
            </a:pPr>
            <a:r>
              <a:rPr sz="900" b="0" i="0">
                <a:solidFill>
                  <a:srgbClr val="6B7280"/>
                </a:solidFill>
                <a:latin typeface="Calibri"/>
              </a:rPr>
              <a:t>Laniakea Partners · A Second Brain for Investing · August 2026  ·  Part 3</a:t>
            </a:r>
          </a:p>
        </p:txBody>
      </p:sp>
      <p:sp>
        <p:nvSpPr>
          <p:cNvPr id="7" name="footer"/>
          <p:cNvSpPr txBox="1"/>
          <p:nvPr/>
        </p:nvSpPr>
        <p:spPr>
          <a:xfrm>
            <a:off x="10332720" y="6446520"/>
            <a:ext cx="1325880" cy="274320"/>
          </a:xfrm>
          <a:prstGeom prst="rect">
            <a:avLst/>
          </a:prstGeom>
          <a:noFill/>
        </p:spPr>
        <p:txBody>
          <a:bodyPr wrap="square" lIns="45720" rIns="45720" anchor="t">
            <a:noAutofit/>
          </a:bodyPr>
          <a:lstStyle/>
          <a:p>
            <a:pPr algn="r">
              <a:lnSpc>
                <a:spcPct val="112000"/>
              </a:lnSpc>
              <a:spcAft>
                <a:spcPts val="400"/>
              </a:spcAft>
            </a:pPr>
            <a:r>
              <a:rPr sz="900" b="0" i="0">
                <a:solidFill>
                  <a:srgbClr val="6B7280"/>
                </a:solidFill>
                <a:latin typeface="Calibri"/>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548640" y="292608"/>
            <a:ext cx="10972800" cy="320040"/>
          </a:xfrm>
          <a:prstGeom prst="rect">
            <a:avLst/>
          </a:prstGeom>
          <a:noFill/>
        </p:spPr>
        <p:txBody>
          <a:bodyPr wrap="square" lIns="45720" rIns="45720" anchor="t">
            <a:noAutofit/>
          </a:bodyPr>
          <a:lstStyle/>
          <a:p>
            <a:pPr algn="l">
              <a:lnSpc>
                <a:spcPct val="112000"/>
              </a:lnSpc>
              <a:spcAft>
                <a:spcPts val="400"/>
              </a:spcAft>
            </a:pPr>
            <a:r>
              <a:rPr sz="1100" b="1" i="0">
                <a:solidFill>
                  <a:srgbClr val="22D3EE"/>
                </a:solidFill>
                <a:latin typeface="Calibri"/>
              </a:rPr>
              <a:t>PART 3 · INSIDE A SECOND BRAIN</a:t>
            </a:r>
          </a:p>
        </p:txBody>
      </p:sp>
      <p:sp>
        <p:nvSpPr>
          <p:cNvPr id="3" name="TextBox 2"/>
          <p:cNvSpPr txBox="1"/>
          <p:nvPr/>
        </p:nvSpPr>
        <p:spPr>
          <a:xfrm>
            <a:off x="548640" y="566928"/>
            <a:ext cx="11064240" cy="868680"/>
          </a:xfrm>
          <a:prstGeom prst="rect">
            <a:avLst/>
          </a:prstGeom>
          <a:noFill/>
        </p:spPr>
        <p:txBody>
          <a:bodyPr wrap="square" lIns="45720" rIns="45720" anchor="t">
            <a:noAutofit/>
          </a:bodyPr>
          <a:lstStyle/>
          <a:p>
            <a:pPr algn="l">
              <a:lnSpc>
                <a:spcPct val="100000"/>
              </a:lnSpc>
              <a:spcAft>
                <a:spcPts val="400"/>
              </a:spcAft>
            </a:pPr>
            <a:r>
              <a:rPr sz="2800" b="0" i="0">
                <a:solidFill>
                  <a:srgbClr val="F5F5F0"/>
                </a:solidFill>
                <a:latin typeface="Georgia"/>
              </a:rPr>
              <a:t>What a second brain is</a:t>
            </a:r>
          </a:p>
        </p:txBody>
      </p:sp>
      <p:cxnSp>
        <p:nvCxnSpPr>
          <p:cNvPr id="4" name="Connector 3"/>
          <p:cNvCxnSpPr/>
          <p:nvPr/>
        </p:nvCxnSpPr>
        <p:spPr>
          <a:xfrm>
            <a:off x="594360" y="1389888"/>
            <a:ext cx="914400" cy="0"/>
          </a:xfrm>
          <a:prstGeom prst="line">
            <a:avLst/>
          </a:prstGeom>
          <a:ln w="31750">
            <a:solidFill>
              <a:srgbClr val="0891B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554480"/>
            <a:ext cx="11064240" cy="914400"/>
          </a:xfrm>
          <a:prstGeom prst="rect">
            <a:avLst/>
          </a:prstGeom>
          <a:noFill/>
        </p:spPr>
        <p:txBody>
          <a:bodyPr wrap="square" lIns="45720" rIns="45720" anchor="t">
            <a:noAutofit/>
          </a:bodyPr>
          <a:lstStyle/>
          <a:p>
            <a:pPr algn="l">
              <a:lnSpc>
                <a:spcPct val="115000"/>
              </a:lnSpc>
              <a:spcAft>
                <a:spcPts val="400"/>
              </a:spcAft>
            </a:pPr>
            <a:r>
              <a:rPr sz="1600" b="0" i="0">
                <a:solidFill>
                  <a:srgbClr val="D1D5DB"/>
                </a:solidFill>
                <a:latin typeface="Calibri"/>
              </a:rPr>
              <a:t>A persistent, interlinked body of notes that the model maintains, sitting between us and the raw sources. Knowledge is compiled once, cross-referenced when it is written, and kept current, rather than re-derived on every question.</a:t>
            </a:r>
          </a:p>
        </p:txBody>
      </p:sp>
      <p:graphicFrame>
        <p:nvGraphicFramePr>
          <p:cNvPr id="6" name="Table 5"/>
          <p:cNvGraphicFramePr>
            <a:graphicFrameLocks noGrp="1"/>
          </p:cNvGraphicFramePr>
          <p:nvPr/>
        </p:nvGraphicFramePr>
        <p:xfrm>
          <a:off x="548640" y="2606040"/>
          <a:ext cx="11064240" cy="2468880"/>
        </p:xfrm>
        <a:graphic>
          <a:graphicData uri="http://schemas.openxmlformats.org/drawingml/2006/table">
            <a:tbl>
              <a:tblPr firstRow="1">
                <a:tableStyleId>{5C22544A-7EE6-4342-B048-85BDC9FD1C3A}</a:tableStyleId>
              </a:tblPr>
              <a:tblGrid>
                <a:gridCol w="1737360"/>
                <a:gridCol w="6126480"/>
                <a:gridCol w="3200400"/>
              </a:tblGrid>
              <a:tr h="617220">
                <a:tc>
                  <a:txBody>
                    <a:bodyPr wrap="square"/>
                    <a:lstStyle/>
                    <a:p>
                      <a:pPr algn="l">
                        <a:lnSpc>
                          <a:spcPct val="108000"/>
                        </a:lnSpc>
                        <a:spcAft>
                          <a:spcPts val="200"/>
                        </a:spcAft>
                      </a:pPr>
                      <a:r>
                        <a:rPr sz="1250" b="1" i="0">
                          <a:solidFill>
                            <a:srgbClr val="FFFFFF"/>
                          </a:solidFill>
                          <a:latin typeface="Calibri"/>
                        </a:rPr>
                        <a:t>Layer</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0E4F63"/>
                    </a:solidFill>
                  </a:tcPr>
                </a:tc>
                <a:tc>
                  <a:txBody>
                    <a:bodyPr wrap="square"/>
                    <a:lstStyle/>
                    <a:p>
                      <a:pPr algn="l">
                        <a:lnSpc>
                          <a:spcPct val="108000"/>
                        </a:lnSpc>
                        <a:spcAft>
                          <a:spcPts val="200"/>
                        </a:spcAft>
                      </a:pPr>
                      <a:r>
                        <a:rPr sz="1250" b="1" i="0">
                          <a:solidFill>
                            <a:srgbClr val="FFFFFF"/>
                          </a:solidFill>
                          <a:latin typeface="Calibri"/>
                        </a:rPr>
                        <a:t>Contents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0E4F63"/>
                    </a:solidFill>
                  </a:tcPr>
                </a:tc>
                <a:tc>
                  <a:txBody>
                    <a:bodyPr wrap="square"/>
                    <a:lstStyle/>
                    <a:p>
                      <a:pPr algn="l">
                        <a:lnSpc>
                          <a:spcPct val="108000"/>
                        </a:lnSpc>
                        <a:spcAft>
                          <a:spcPts val="200"/>
                        </a:spcAft>
                      </a:pPr>
                      <a:r>
                        <a:rPr sz="1250" b="1" i="0">
                          <a:solidFill>
                            <a:srgbClr val="FFFFFF"/>
                          </a:solidFill>
                          <a:latin typeface="Calibri"/>
                        </a:rPr>
                        <a:t>Who writes it</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0E4F63"/>
                    </a:solidFill>
                  </a:tcPr>
                </a:tc>
              </a:tr>
              <a:tr h="617220">
                <a:tc>
                  <a:txBody>
                    <a:bodyPr wrap="square"/>
                    <a:lstStyle/>
                    <a:p>
                      <a:pPr algn="l">
                        <a:lnSpc>
                          <a:spcPct val="108000"/>
                        </a:lnSpc>
                        <a:spcAft>
                          <a:spcPts val="200"/>
                        </a:spcAft>
                      </a:pPr>
                      <a:r>
                        <a:rPr sz="1250" b="1" i="0">
                          <a:solidFill>
                            <a:srgbClr val="F5F5F0"/>
                          </a:solidFill>
                          <a:latin typeface="Calibri"/>
                        </a:rPr>
                        <a:t>Raw sources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250" b="0" i="0">
                          <a:solidFill>
                            <a:srgbClr val="D1D5DB"/>
                          </a:solidFill>
                          <a:latin typeface="Calibri"/>
                        </a:rPr>
                        <a:t>Inbox deposits, overnight news and X sweeps, market data, our own objections in the margins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250" b="0" i="0">
                          <a:solidFill>
                            <a:srgbClr val="D1D5DB"/>
                          </a:solidFill>
                          <a:latin typeface="Calibri"/>
                        </a:rPr>
                        <a:t>The world and us. The model never modifies a source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r>
              <a:tr h="617220">
                <a:tc>
                  <a:txBody>
                    <a:bodyPr wrap="square"/>
                    <a:lstStyle/>
                    <a:p>
                      <a:pPr algn="l">
                        <a:lnSpc>
                          <a:spcPct val="108000"/>
                        </a:lnSpc>
                        <a:spcAft>
                          <a:spcPts val="200"/>
                        </a:spcAft>
                      </a:pPr>
                      <a:r>
                        <a:rPr sz="1250" b="1" i="0">
                          <a:solidFill>
                            <a:srgbClr val="F5F5F0"/>
                          </a:solidFill>
                          <a:latin typeface="Calibri"/>
                        </a:rPr>
                        <a:t>The wiki</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250" b="0" i="0">
                          <a:solidFill>
                            <a:srgbClr val="D1D5DB"/>
                          </a:solidFill>
                          <a:latin typeface="Calibri"/>
                        </a:rPr>
                        <a:t>97 theses, 53 sector maps, 12 macro frameworks, 376 research notes, plus the state files: session memory, dependency graph, follow-up register, catalyst calendar</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250" b="0" i="0">
                          <a:solidFill>
                            <a:srgbClr val="D1D5DB"/>
                          </a:solidFill>
                          <a:latin typeface="Calibri"/>
                        </a:rPr>
                        <a:t>The model, through named skills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r>
              <a:tr h="617220">
                <a:tc>
                  <a:txBody>
                    <a:bodyPr wrap="square"/>
                    <a:lstStyle/>
                    <a:p>
                      <a:pPr algn="l">
                        <a:lnSpc>
                          <a:spcPct val="108000"/>
                        </a:lnSpc>
                        <a:spcAft>
                          <a:spcPts val="200"/>
                        </a:spcAft>
                      </a:pPr>
                      <a:r>
                        <a:rPr sz="1250" b="1" i="0">
                          <a:solidFill>
                            <a:srgbClr val="F5F5F0"/>
                          </a:solidFill>
                          <a:latin typeface="Calibri"/>
                        </a:rPr>
                        <a:t>The schema</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250" b="0" i="0">
                          <a:solidFill>
                            <a:srgbClr val="D1D5DB"/>
                          </a:solidFill>
                          <a:latin typeface="Calibri"/>
                        </a:rPr>
                        <a:t>A rulebook, four note templates, the skill specifications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250" b="0" i="0">
                          <a:solidFill>
                            <a:srgbClr val="D1D5DB"/>
                          </a:solidFill>
                          <a:latin typeface="Calibri"/>
                        </a:rPr>
                        <a:t>Us, rarely</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r>
            </a:tbl>
          </a:graphicData>
        </a:graphic>
      </p:graphicFrame>
      <p:sp>
        <p:nvSpPr>
          <p:cNvPr id="7" name="TextBox 6"/>
          <p:cNvSpPr txBox="1"/>
          <p:nvPr/>
        </p:nvSpPr>
        <p:spPr>
          <a:xfrm>
            <a:off x="548640" y="5349240"/>
            <a:ext cx="11064240" cy="1005840"/>
          </a:xfrm>
          <a:prstGeom prst="rect">
            <a:avLst/>
          </a:prstGeom>
          <a:noFill/>
        </p:spPr>
        <p:txBody>
          <a:bodyPr wrap="square" lIns="45720" rIns="45720" anchor="t">
            <a:noAutofit/>
          </a:bodyPr>
          <a:lstStyle/>
          <a:p>
            <a:pPr algn="l">
              <a:lnSpc>
                <a:spcPct val="112000"/>
              </a:lnSpc>
              <a:spcAft>
                <a:spcPts val="400"/>
              </a:spcAft>
            </a:pPr>
            <a:r>
              <a:rPr sz="1350" b="0" i="0">
                <a:solidFill>
                  <a:srgbClr val="D1D5DB"/>
                </a:solidFill>
                <a:latin typeface="Calibri"/>
              </a:rPr>
              <a:t>Sources are immutable, so provenance survives every rewrite above them. The schema keeps a thousand machine-written files structurally identical, which is what makes them readable as a set rather than one at a time.</a:t>
            </a:r>
          </a:p>
        </p:txBody>
      </p:sp>
      <p:sp>
        <p:nvSpPr>
          <p:cNvPr id="8" name="footer"/>
          <p:cNvSpPr txBox="1"/>
          <p:nvPr/>
        </p:nvSpPr>
        <p:spPr>
          <a:xfrm>
            <a:off x="548640" y="6446520"/>
            <a:ext cx="7772400" cy="274320"/>
          </a:xfrm>
          <a:prstGeom prst="rect">
            <a:avLst/>
          </a:prstGeom>
          <a:noFill/>
        </p:spPr>
        <p:txBody>
          <a:bodyPr wrap="square" lIns="45720" rIns="45720" anchor="t">
            <a:noAutofit/>
          </a:bodyPr>
          <a:lstStyle/>
          <a:p>
            <a:pPr algn="l">
              <a:lnSpc>
                <a:spcPct val="112000"/>
              </a:lnSpc>
              <a:spcAft>
                <a:spcPts val="400"/>
              </a:spcAft>
            </a:pPr>
            <a:r>
              <a:rPr sz="900" b="0" i="0">
                <a:solidFill>
                  <a:srgbClr val="6B7280"/>
                </a:solidFill>
                <a:latin typeface="Calibri"/>
              </a:rPr>
              <a:t>Laniakea Partners · A Second Brain for Investing · August 2026  ·  Part 3</a:t>
            </a:r>
          </a:p>
        </p:txBody>
      </p:sp>
      <p:sp>
        <p:nvSpPr>
          <p:cNvPr id="9" name="footer"/>
          <p:cNvSpPr txBox="1"/>
          <p:nvPr/>
        </p:nvSpPr>
        <p:spPr>
          <a:xfrm>
            <a:off x="10332720" y="6446520"/>
            <a:ext cx="1325880" cy="274320"/>
          </a:xfrm>
          <a:prstGeom prst="rect">
            <a:avLst/>
          </a:prstGeom>
          <a:noFill/>
        </p:spPr>
        <p:txBody>
          <a:bodyPr wrap="square" lIns="45720" rIns="45720" anchor="t">
            <a:noAutofit/>
          </a:bodyPr>
          <a:lstStyle/>
          <a:p>
            <a:pPr algn="r">
              <a:lnSpc>
                <a:spcPct val="112000"/>
              </a:lnSpc>
              <a:spcAft>
                <a:spcPts val="400"/>
              </a:spcAft>
            </a:pPr>
            <a:r>
              <a:rPr sz="900" b="0" i="0">
                <a:solidFill>
                  <a:srgbClr val="6B7280"/>
                </a:solidFill>
                <a:latin typeface="Calibri"/>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548640" y="292608"/>
            <a:ext cx="10972800" cy="320040"/>
          </a:xfrm>
          <a:prstGeom prst="rect">
            <a:avLst/>
          </a:prstGeom>
          <a:noFill/>
        </p:spPr>
        <p:txBody>
          <a:bodyPr wrap="square" lIns="45720" rIns="45720" anchor="t">
            <a:noAutofit/>
          </a:bodyPr>
          <a:lstStyle/>
          <a:p>
            <a:pPr algn="l">
              <a:lnSpc>
                <a:spcPct val="112000"/>
              </a:lnSpc>
              <a:spcAft>
                <a:spcPts val="400"/>
              </a:spcAft>
            </a:pPr>
            <a:r>
              <a:rPr sz="1100" b="1" i="0">
                <a:solidFill>
                  <a:srgbClr val="22D3EE"/>
                </a:solidFill>
                <a:latin typeface="Calibri"/>
              </a:rPr>
              <a:t>PART 3 · INSIDE A SECOND BRAIN</a:t>
            </a:r>
          </a:p>
        </p:txBody>
      </p:sp>
      <p:sp>
        <p:nvSpPr>
          <p:cNvPr id="3" name="TextBox 2"/>
          <p:cNvSpPr txBox="1"/>
          <p:nvPr/>
        </p:nvSpPr>
        <p:spPr>
          <a:xfrm>
            <a:off x="548640" y="566928"/>
            <a:ext cx="11064240" cy="868680"/>
          </a:xfrm>
          <a:prstGeom prst="rect">
            <a:avLst/>
          </a:prstGeom>
          <a:noFill/>
        </p:spPr>
        <p:txBody>
          <a:bodyPr wrap="square" lIns="45720" rIns="45720" anchor="t">
            <a:noAutofit/>
          </a:bodyPr>
          <a:lstStyle/>
          <a:p>
            <a:pPr algn="l">
              <a:lnSpc>
                <a:spcPct val="100000"/>
              </a:lnSpc>
              <a:spcAft>
                <a:spcPts val="400"/>
              </a:spcAft>
            </a:pPr>
            <a:r>
              <a:rPr sz="2800" b="0" i="0">
                <a:solidFill>
                  <a:srgbClr val="F5F5F0"/>
                </a:solidFill>
                <a:latin typeface="Georgia"/>
              </a:rPr>
              <a:t>Everything is linked: how the model finds its context</a:t>
            </a:r>
          </a:p>
        </p:txBody>
      </p:sp>
      <p:cxnSp>
        <p:nvCxnSpPr>
          <p:cNvPr id="4" name="Connector 3"/>
          <p:cNvCxnSpPr/>
          <p:nvPr/>
        </p:nvCxnSpPr>
        <p:spPr>
          <a:xfrm>
            <a:off x="594360" y="1389888"/>
            <a:ext cx="914400" cy="0"/>
          </a:xfrm>
          <a:prstGeom prst="line">
            <a:avLst/>
          </a:prstGeom>
          <a:ln w="31750">
            <a:solidFill>
              <a:srgbClr val="0891B2"/>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43400" y="2743200"/>
            <a:ext cx="3200400" cy="1234440"/>
          </a:xfrm>
          <a:prstGeom prst="roundRect">
            <a:avLst>
              <a:gd name="adj" fmla="val 12000"/>
            </a:avLst>
          </a:prstGeom>
          <a:solidFill>
            <a:srgbClr val="0E4F63"/>
          </a:solidFill>
          <a:ln w="12700">
            <a:solidFill>
              <a:srgbClr val="0891B2"/>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noAutofit/>
          </a:bodyPr>
          <a:lstStyle/>
          <a:p>
            <a:pPr algn="ctr">
              <a:lnSpc>
                <a:spcPct val="110000"/>
              </a:lnSpc>
              <a:spcAft>
                <a:spcPts val="200"/>
              </a:spcAft>
            </a:pPr>
            <a:r>
              <a:rPr sz="1500" b="1" i="0">
                <a:solidFill>
                  <a:srgbClr val="FFFFFF"/>
                </a:solidFill>
                <a:latin typeface="Calibri"/>
              </a:rPr>
              <a:t>Thesis · NVDA</a:t>
            </a:r>
          </a:p>
          <a:p>
            <a:pPr algn="ctr">
              <a:lnSpc>
                <a:spcPct val="110000"/>
              </a:lnSpc>
              <a:spcAft>
                <a:spcPts val="300"/>
              </a:spcAft>
            </a:pPr>
            <a:r>
              <a:rPr sz="1050" b="0" i="0">
                <a:solidFill>
                  <a:srgbClr val="22D3EE"/>
                </a:solidFill>
                <a:latin typeface="Calibri"/>
              </a:rPr>
              <a:t>15 sections: insights, triggers, bull, bear, log</a:t>
            </a:r>
          </a:p>
        </p:txBody>
      </p:sp>
      <p:sp>
        <p:nvSpPr>
          <p:cNvPr id="6" name="Rounded Rectangle 5"/>
          <p:cNvSpPr/>
          <p:nvPr/>
        </p:nvSpPr>
        <p:spPr>
          <a:xfrm>
            <a:off x="4343400" y="1600200"/>
            <a:ext cx="3200400" cy="822960"/>
          </a:xfrm>
          <a:prstGeom prst="roundRect">
            <a:avLst>
              <a:gd name="adj" fmla="val 12000"/>
            </a:avLst>
          </a:prstGeom>
          <a:solidFill>
            <a:srgbClr val="1B2027"/>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noAutofit/>
          </a:bodyPr>
          <a:lstStyle/>
          <a:p>
            <a:pPr algn="ctr">
              <a:lnSpc>
                <a:spcPct val="110000"/>
              </a:lnSpc>
              <a:spcAft>
                <a:spcPts val="200"/>
              </a:spcAft>
            </a:pPr>
            <a:r>
              <a:rPr sz="1300" b="1" i="0">
                <a:solidFill>
                  <a:srgbClr val="F5F5F0"/>
                </a:solidFill>
                <a:latin typeface="Calibri"/>
              </a:rPr>
              <a:t>Mental Models</a:t>
            </a:r>
          </a:p>
          <a:p>
            <a:pPr algn="ctr">
              <a:lnSpc>
                <a:spcPct val="110000"/>
              </a:lnSpc>
              <a:spcAft>
                <a:spcPts val="300"/>
              </a:spcAft>
            </a:pPr>
            <a:r>
              <a:rPr sz="1050" b="0" i="0">
                <a:solidFill>
                  <a:srgbClr val="9CA3AF"/>
                </a:solidFill>
                <a:latin typeface="Calibri"/>
              </a:rPr>
              <a:t>which lenses fired, held as hypotheses</a:t>
            </a:r>
          </a:p>
        </p:txBody>
      </p:sp>
      <p:sp>
        <p:nvSpPr>
          <p:cNvPr id="7" name="Rounded Rectangle 6"/>
          <p:cNvSpPr/>
          <p:nvPr/>
        </p:nvSpPr>
        <p:spPr>
          <a:xfrm>
            <a:off x="4343400" y="4297680"/>
            <a:ext cx="3200400" cy="822960"/>
          </a:xfrm>
          <a:prstGeom prst="roundRect">
            <a:avLst>
              <a:gd name="adj" fmla="val 12000"/>
            </a:avLst>
          </a:prstGeom>
          <a:solidFill>
            <a:srgbClr val="1B2027"/>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noAutofit/>
          </a:bodyPr>
          <a:lstStyle/>
          <a:p>
            <a:pPr algn="ctr">
              <a:lnSpc>
                <a:spcPct val="110000"/>
              </a:lnSpc>
              <a:spcAft>
                <a:spcPts val="200"/>
              </a:spcAft>
            </a:pPr>
            <a:r>
              <a:rPr sz="1300" b="1" i="0">
                <a:solidFill>
                  <a:srgbClr val="F5F5F0"/>
                </a:solidFill>
                <a:latin typeface="Calibri"/>
              </a:rPr>
              <a:t>_graph.md</a:t>
            </a:r>
          </a:p>
          <a:p>
            <a:pPr algn="ctr">
              <a:lnSpc>
                <a:spcPct val="110000"/>
              </a:lnSpc>
              <a:spcAft>
                <a:spcPts val="300"/>
              </a:spcAft>
            </a:pPr>
            <a:r>
              <a:rPr sz="1050" b="0" i="0">
                <a:solidFill>
                  <a:srgbClr val="9CA3AF"/>
                </a:solidFill>
                <a:latin typeface="Calibri"/>
              </a:rPr>
              <a:t>compiles every link: 1,926 edges, one block per name</a:t>
            </a:r>
          </a:p>
        </p:txBody>
      </p:sp>
      <p:sp>
        <p:nvSpPr>
          <p:cNvPr id="8" name="Rounded Rectangle 7"/>
          <p:cNvSpPr/>
          <p:nvPr/>
        </p:nvSpPr>
        <p:spPr>
          <a:xfrm>
            <a:off x="548640" y="1783080"/>
            <a:ext cx="3200400" cy="1097280"/>
          </a:xfrm>
          <a:prstGeom prst="roundRect">
            <a:avLst>
              <a:gd name="adj" fmla="val 12000"/>
            </a:avLst>
          </a:prstGeom>
          <a:solidFill>
            <a:srgbClr val="1B2027"/>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noAutofit/>
          </a:bodyPr>
          <a:lstStyle/>
          <a:p>
            <a:pPr algn="ctr">
              <a:lnSpc>
                <a:spcPct val="110000"/>
              </a:lnSpc>
              <a:spcAft>
                <a:spcPts val="200"/>
              </a:spcAft>
            </a:pPr>
            <a:r>
              <a:rPr sz="1300" b="1" i="0">
                <a:solidFill>
                  <a:srgbClr val="F5F5F0"/>
                </a:solidFill>
                <a:latin typeface="Calibri"/>
              </a:rPr>
              <a:t>Research notes · 106 linked</a:t>
            </a:r>
          </a:p>
          <a:p>
            <a:pPr algn="ctr">
              <a:lnSpc>
                <a:spcPct val="110000"/>
              </a:lnSpc>
              <a:spcAft>
                <a:spcPts val="300"/>
              </a:spcAft>
            </a:pPr>
            <a:r>
              <a:rPr sz="1050" b="0" i="0">
                <a:solidFill>
                  <a:srgbClr val="9CA3AF"/>
                </a:solidFill>
                <a:latin typeface="Calibri"/>
              </a:rPr>
              <a:t>Related Research and Log entries cite the note that changed the view</a:t>
            </a:r>
          </a:p>
        </p:txBody>
      </p:sp>
      <p:sp>
        <p:nvSpPr>
          <p:cNvPr id="9" name="Rounded Rectangle 8"/>
          <p:cNvSpPr/>
          <p:nvPr/>
        </p:nvSpPr>
        <p:spPr>
          <a:xfrm>
            <a:off x="548640" y="3840480"/>
            <a:ext cx="3200400" cy="1097280"/>
          </a:xfrm>
          <a:prstGeom prst="roundRect">
            <a:avLst>
              <a:gd name="adj" fmla="val 12000"/>
            </a:avLst>
          </a:prstGeom>
          <a:solidFill>
            <a:srgbClr val="1B2027"/>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noAutofit/>
          </a:bodyPr>
          <a:lstStyle/>
          <a:p>
            <a:pPr algn="ctr">
              <a:lnSpc>
                <a:spcPct val="110000"/>
              </a:lnSpc>
              <a:spcAft>
                <a:spcPts val="200"/>
              </a:spcAft>
            </a:pPr>
            <a:r>
              <a:rPr sz="1300" b="1" i="0">
                <a:solidFill>
                  <a:srgbClr val="F5F5F0"/>
                </a:solidFill>
                <a:latin typeface="Calibri"/>
              </a:rPr>
              <a:t>Peer theses · 7</a:t>
            </a:r>
          </a:p>
          <a:p>
            <a:pPr algn="ctr">
              <a:lnSpc>
                <a:spcPct val="110000"/>
              </a:lnSpc>
              <a:spcAft>
                <a:spcPts val="300"/>
              </a:spcAft>
            </a:pPr>
            <a:r>
              <a:rPr sz="1050" b="0" i="0">
                <a:solidFill>
                  <a:srgbClr val="9CA3AF"/>
                </a:solidFill>
                <a:latin typeface="Calibri"/>
              </a:rPr>
              <a:t>names that share a mechanism: Broadcom, SanDisk, Lumentum, Palantir…</a:t>
            </a:r>
          </a:p>
        </p:txBody>
      </p:sp>
      <p:sp>
        <p:nvSpPr>
          <p:cNvPr id="10" name="Rounded Rectangle 9"/>
          <p:cNvSpPr/>
          <p:nvPr/>
        </p:nvSpPr>
        <p:spPr>
          <a:xfrm>
            <a:off x="8229600" y="1783080"/>
            <a:ext cx="3383280" cy="1097280"/>
          </a:xfrm>
          <a:prstGeom prst="roundRect">
            <a:avLst>
              <a:gd name="adj" fmla="val 12000"/>
            </a:avLst>
          </a:prstGeom>
          <a:solidFill>
            <a:srgbClr val="1B2027"/>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noAutofit/>
          </a:bodyPr>
          <a:lstStyle/>
          <a:p>
            <a:pPr algn="ctr">
              <a:lnSpc>
                <a:spcPct val="110000"/>
              </a:lnSpc>
              <a:spcAft>
                <a:spcPts val="200"/>
              </a:spcAft>
            </a:pPr>
            <a:r>
              <a:rPr sz="1300" b="1" i="0">
                <a:solidFill>
                  <a:srgbClr val="F5F5F0"/>
                </a:solidFill>
                <a:latin typeface="Calibri"/>
              </a:rPr>
              <a:t>Sector maps · 3</a:t>
            </a:r>
          </a:p>
          <a:p>
            <a:pPr algn="ctr">
              <a:lnSpc>
                <a:spcPct val="110000"/>
              </a:lnSpc>
              <a:spcAft>
                <a:spcPts val="300"/>
              </a:spcAft>
            </a:pPr>
            <a:r>
              <a:rPr sz="1050" b="0" i="0">
                <a:solidFill>
                  <a:srgbClr val="9CA3AF"/>
                </a:solidFill>
                <a:latin typeface="Calibri"/>
              </a:rPr>
              <a:t>industry history, competitive dynamics, product analysis, investor heuristics</a:t>
            </a:r>
          </a:p>
        </p:txBody>
      </p:sp>
      <p:sp>
        <p:nvSpPr>
          <p:cNvPr id="11" name="Rounded Rectangle 10"/>
          <p:cNvSpPr/>
          <p:nvPr/>
        </p:nvSpPr>
        <p:spPr>
          <a:xfrm>
            <a:off x="8229600" y="3840480"/>
            <a:ext cx="3383280" cy="1097280"/>
          </a:xfrm>
          <a:prstGeom prst="roundRect">
            <a:avLst>
              <a:gd name="adj" fmla="val 12000"/>
            </a:avLst>
          </a:prstGeom>
          <a:solidFill>
            <a:srgbClr val="1B2027"/>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noAutofit/>
          </a:bodyPr>
          <a:lstStyle/>
          <a:p>
            <a:pPr algn="ctr">
              <a:lnSpc>
                <a:spcPct val="110000"/>
              </a:lnSpc>
              <a:spcAft>
                <a:spcPts val="200"/>
              </a:spcAft>
            </a:pPr>
            <a:r>
              <a:rPr sz="1300" b="1" i="0">
                <a:solidFill>
                  <a:srgbClr val="F5F5F0"/>
                </a:solidFill>
                <a:latin typeface="Calibri"/>
              </a:rPr>
              <a:t>Macro notes · 5</a:t>
            </a:r>
          </a:p>
          <a:p>
            <a:pPr algn="ctr">
              <a:lnSpc>
                <a:spcPct val="110000"/>
              </a:lnSpc>
              <a:spcAft>
                <a:spcPts val="300"/>
              </a:spcAft>
            </a:pPr>
            <a:r>
              <a:rPr sz="1050" b="0" i="0">
                <a:solidFill>
                  <a:srgbClr val="9CA3AF"/>
                </a:solidFill>
                <a:latin typeface="Calibri"/>
              </a:rPr>
              <a:t>AI capex sustainability, 800VDC, AI supply and demand to 2030…</a:t>
            </a:r>
          </a:p>
        </p:txBody>
      </p:sp>
      <p:cxnSp>
        <p:nvCxnSpPr>
          <p:cNvPr id="12" name="Connector 11"/>
          <p:cNvCxnSpPr/>
          <p:nvPr/>
        </p:nvCxnSpPr>
        <p:spPr>
          <a:xfrm flipH="1" flipV="1">
            <a:off x="3749039" y="2377440"/>
            <a:ext cx="594361" cy="685800"/>
          </a:xfrm>
          <a:prstGeom prst="line">
            <a:avLst/>
          </a:prstGeom>
          <a:ln w="19050">
            <a:solidFill>
              <a:srgbClr val="0891B2"/>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3749039" y="3657600"/>
            <a:ext cx="594361" cy="685800"/>
          </a:xfrm>
          <a:prstGeom prst="line">
            <a:avLst/>
          </a:prstGeom>
          <a:ln w="19050">
            <a:solidFill>
              <a:srgbClr val="0891B2"/>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7543800" y="2377440"/>
            <a:ext cx="685800" cy="685800"/>
          </a:xfrm>
          <a:prstGeom prst="line">
            <a:avLst/>
          </a:prstGeom>
          <a:ln w="19050">
            <a:solidFill>
              <a:srgbClr val="0891B2"/>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543800" y="3657600"/>
            <a:ext cx="685800" cy="685800"/>
          </a:xfrm>
          <a:prstGeom prst="line">
            <a:avLst/>
          </a:prstGeom>
          <a:ln w="19050">
            <a:solidFill>
              <a:srgbClr val="0891B2"/>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5943600" y="2423160"/>
            <a:ext cx="0" cy="320040"/>
          </a:xfrm>
          <a:prstGeom prst="line">
            <a:avLst/>
          </a:prstGeom>
          <a:ln w="19050">
            <a:solidFill>
              <a:srgbClr val="0891B2"/>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943600" y="3977639"/>
            <a:ext cx="0" cy="320041"/>
          </a:xfrm>
          <a:prstGeom prst="line">
            <a:avLst/>
          </a:prstGeom>
          <a:ln w="19050">
            <a:solidFill>
              <a:srgbClr val="0891B2"/>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48640" y="5349240"/>
            <a:ext cx="11064240" cy="1005840"/>
          </a:xfrm>
          <a:prstGeom prst="roundRect">
            <a:avLst>
              <a:gd name="adj" fmla="val 12000"/>
            </a:avLst>
          </a:prstGeom>
          <a:solidFill>
            <a:srgbClr val="1B2027"/>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noAutofit/>
          </a:bodyPr>
          <a:lstStyle/>
          <a:p>
            <a:pPr algn="l">
              <a:lnSpc>
                <a:spcPct val="110000"/>
              </a:lnSpc>
              <a:spcAft>
                <a:spcPts val="300"/>
              </a:spcAft>
            </a:pPr>
            <a:r>
              <a:rPr sz="1250" b="0" i="0">
                <a:solidFill>
                  <a:srgbClr val="D1D5DB"/>
                </a:solidFill>
                <a:latin typeface="Calibri"/>
              </a:rPr>
              <a:t>When the model opens a thesis it follows the links: the evidence behind each claim, the sector context, the macro exposures, the peers that share a mechanism. Its answer is grounded in the book's own evidence rather than generic training knowledge, and a new datapoint finds the handful of files it touches in seconds instead of a scan of 1,500. About 9,700 wikilinks hold the book together.</a:t>
            </a:r>
          </a:p>
        </p:txBody>
      </p:sp>
      <p:sp>
        <p:nvSpPr>
          <p:cNvPr id="19" name="footer"/>
          <p:cNvSpPr txBox="1"/>
          <p:nvPr/>
        </p:nvSpPr>
        <p:spPr>
          <a:xfrm>
            <a:off x="548640" y="6446520"/>
            <a:ext cx="7772400" cy="274320"/>
          </a:xfrm>
          <a:prstGeom prst="rect">
            <a:avLst/>
          </a:prstGeom>
          <a:noFill/>
        </p:spPr>
        <p:txBody>
          <a:bodyPr wrap="square" lIns="45720" rIns="45720" anchor="t">
            <a:noAutofit/>
          </a:bodyPr>
          <a:lstStyle/>
          <a:p>
            <a:pPr algn="l">
              <a:lnSpc>
                <a:spcPct val="112000"/>
              </a:lnSpc>
              <a:spcAft>
                <a:spcPts val="400"/>
              </a:spcAft>
            </a:pPr>
            <a:r>
              <a:rPr sz="900" b="0" i="0">
                <a:solidFill>
                  <a:srgbClr val="6B7280"/>
                </a:solidFill>
                <a:latin typeface="Calibri"/>
              </a:rPr>
              <a:t>Laniakea Partners · A Second Brain for Investing · August 2026  ·  Part 3</a:t>
            </a:r>
          </a:p>
        </p:txBody>
      </p:sp>
      <p:sp>
        <p:nvSpPr>
          <p:cNvPr id="20" name="footer"/>
          <p:cNvSpPr txBox="1"/>
          <p:nvPr/>
        </p:nvSpPr>
        <p:spPr>
          <a:xfrm>
            <a:off x="10332720" y="6446520"/>
            <a:ext cx="1325880" cy="274320"/>
          </a:xfrm>
          <a:prstGeom prst="rect">
            <a:avLst/>
          </a:prstGeom>
          <a:noFill/>
        </p:spPr>
        <p:txBody>
          <a:bodyPr wrap="square" lIns="45720" rIns="45720" anchor="t">
            <a:noAutofit/>
          </a:bodyPr>
          <a:lstStyle/>
          <a:p>
            <a:pPr algn="r">
              <a:lnSpc>
                <a:spcPct val="112000"/>
              </a:lnSpc>
              <a:spcAft>
                <a:spcPts val="400"/>
              </a:spcAft>
            </a:pPr>
            <a:r>
              <a:rPr sz="900" b="0" i="0">
                <a:solidFill>
                  <a:srgbClr val="6B7280"/>
                </a:solidFill>
                <a:latin typeface="Calibri"/>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548640" y="292608"/>
            <a:ext cx="10972800" cy="320040"/>
          </a:xfrm>
          <a:prstGeom prst="rect">
            <a:avLst/>
          </a:prstGeom>
          <a:noFill/>
        </p:spPr>
        <p:txBody>
          <a:bodyPr wrap="square" lIns="45720" rIns="45720" anchor="t">
            <a:noAutofit/>
          </a:bodyPr>
          <a:lstStyle/>
          <a:p>
            <a:pPr algn="l">
              <a:lnSpc>
                <a:spcPct val="112000"/>
              </a:lnSpc>
              <a:spcAft>
                <a:spcPts val="400"/>
              </a:spcAft>
            </a:pPr>
            <a:r>
              <a:rPr sz="1100" b="1" i="0">
                <a:solidFill>
                  <a:srgbClr val="22D3EE"/>
                </a:solidFill>
                <a:latin typeface="Calibri"/>
              </a:rPr>
              <a:t>PART 3 · INSIDE A SECOND BRAIN</a:t>
            </a:r>
          </a:p>
        </p:txBody>
      </p:sp>
      <p:sp>
        <p:nvSpPr>
          <p:cNvPr id="3" name="TextBox 2"/>
          <p:cNvSpPr txBox="1"/>
          <p:nvPr/>
        </p:nvSpPr>
        <p:spPr>
          <a:xfrm>
            <a:off x="548640" y="566928"/>
            <a:ext cx="11064240" cy="868680"/>
          </a:xfrm>
          <a:prstGeom prst="rect">
            <a:avLst/>
          </a:prstGeom>
          <a:noFill/>
        </p:spPr>
        <p:txBody>
          <a:bodyPr wrap="square" lIns="45720" rIns="45720" anchor="t">
            <a:noAutofit/>
          </a:bodyPr>
          <a:lstStyle/>
          <a:p>
            <a:pPr algn="l">
              <a:lnSpc>
                <a:spcPct val="100000"/>
              </a:lnSpc>
              <a:spcAft>
                <a:spcPts val="400"/>
              </a:spcAft>
            </a:pPr>
            <a:r>
              <a:rPr sz="2800" b="0" i="0">
                <a:solidFill>
                  <a:srgbClr val="F5F5F0"/>
                </a:solidFill>
                <a:latin typeface="Georgia"/>
              </a:rPr>
              <a:t>The four pieces</a:t>
            </a:r>
          </a:p>
        </p:txBody>
      </p:sp>
      <p:cxnSp>
        <p:nvCxnSpPr>
          <p:cNvPr id="4" name="Connector 3"/>
          <p:cNvCxnSpPr/>
          <p:nvPr/>
        </p:nvCxnSpPr>
        <p:spPr>
          <a:xfrm>
            <a:off x="594360" y="1389888"/>
            <a:ext cx="914400" cy="0"/>
          </a:xfrm>
          <a:prstGeom prst="line">
            <a:avLst/>
          </a:prstGeom>
          <a:ln w="31750">
            <a:solidFill>
              <a:srgbClr val="0891B2"/>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2788920"/>
            <a:ext cx="1554480" cy="1097280"/>
          </a:xfrm>
          <a:prstGeom prst="roundRect">
            <a:avLst>
              <a:gd name="adj" fmla="val 12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noAutofit/>
          </a:bodyPr>
          <a:lstStyle/>
          <a:p>
            <a:pPr algn="ctr">
              <a:lnSpc>
                <a:spcPct val="110000"/>
              </a:lnSpc>
              <a:spcAft>
                <a:spcPts val="300"/>
              </a:spcAft>
            </a:pPr>
            <a:r>
              <a:rPr sz="1600" b="1" i="0">
                <a:solidFill>
                  <a:srgbClr val="14171C"/>
                </a:solidFill>
                <a:latin typeface="Calibri"/>
              </a:rPr>
              <a:t>You</a:t>
            </a:r>
          </a:p>
          <a:p>
            <a:pPr algn="ctr">
              <a:lnSpc>
                <a:spcPct val="110000"/>
              </a:lnSpc>
              <a:spcAft>
                <a:spcPts val="300"/>
              </a:spcAft>
            </a:pPr>
            <a:r>
              <a:rPr sz="1100" b="0" i="0">
                <a:solidFill>
                  <a:srgbClr val="14171C"/>
                </a:solidFill>
                <a:latin typeface="Calibri"/>
              </a:rPr>
              <a:t>the analyst</a:t>
            </a:r>
          </a:p>
        </p:txBody>
      </p:sp>
      <p:sp>
        <p:nvSpPr>
          <p:cNvPr id="6" name="Rounded Rectangle 5"/>
          <p:cNvSpPr/>
          <p:nvPr/>
        </p:nvSpPr>
        <p:spPr>
          <a:xfrm>
            <a:off x="2743200" y="1691640"/>
            <a:ext cx="4023360" cy="3657600"/>
          </a:xfrm>
          <a:prstGeom prst="roundRect">
            <a:avLst>
              <a:gd name="adj" fmla="val 12000"/>
            </a:avLst>
          </a:prstGeom>
          <a:solidFill>
            <a:srgbClr val="1B2027"/>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6809" bIns="76809" wrap="square">
            <a:noAutofit/>
          </a:bodyPr>
          <a:lstStyle/>
          <a:p>
            <a:pPr algn="ctr">
              <a:lnSpc>
                <a:spcPct val="110000"/>
              </a:lnSpc>
              <a:spcAft>
                <a:spcPts val="300"/>
              </a:spcAft>
            </a:pPr>
            <a:r>
              <a:rPr sz="1100" b="1" i="0">
                <a:solidFill>
                  <a:srgbClr val="22D3EE"/>
                </a:solidFill>
                <a:latin typeface="Calibri"/>
              </a:rPr>
              <a:t>OBSIDIAN  ·  the viewer</a:t>
            </a:r>
          </a:p>
        </p:txBody>
      </p:sp>
      <p:sp>
        <p:nvSpPr>
          <p:cNvPr id="7" name="Rounded Rectangle 6"/>
          <p:cNvSpPr/>
          <p:nvPr/>
        </p:nvSpPr>
        <p:spPr>
          <a:xfrm>
            <a:off x="3017520" y="2240280"/>
            <a:ext cx="3474720" cy="960120"/>
          </a:xfrm>
          <a:prstGeom prst="roundRect">
            <a:avLst>
              <a:gd name="adj" fmla="val 12000"/>
            </a:avLst>
          </a:prstGeom>
          <a:solidFill>
            <a:srgbClr val="232932"/>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noAutofit/>
          </a:bodyPr>
          <a:lstStyle/>
          <a:p>
            <a:pPr algn="ctr">
              <a:lnSpc>
                <a:spcPct val="110000"/>
              </a:lnSpc>
              <a:spcAft>
                <a:spcPts val="300"/>
              </a:spcAft>
            </a:pPr>
            <a:r>
              <a:rPr sz="1400" b="1" i="0">
                <a:solidFill>
                  <a:srgbClr val="F5F5F0"/>
                </a:solidFill>
                <a:latin typeface="Calibri"/>
              </a:rPr>
              <a:t>Claudian plugin</a:t>
            </a:r>
          </a:p>
          <a:p>
            <a:pPr algn="ctr">
              <a:lnSpc>
                <a:spcPct val="110000"/>
              </a:lnSpc>
              <a:spcAft>
                <a:spcPts val="300"/>
              </a:spcAft>
            </a:pPr>
            <a:r>
              <a:rPr sz="1100" b="0" i="0">
                <a:solidFill>
                  <a:srgbClr val="9CA3AF"/>
                </a:solidFill>
                <a:latin typeface="Calibri"/>
              </a:rPr>
              <a:t>a chat panel inside Obsidian</a:t>
            </a:r>
          </a:p>
        </p:txBody>
      </p:sp>
      <p:sp>
        <p:nvSpPr>
          <p:cNvPr id="8" name="Rounded Rectangle 7"/>
          <p:cNvSpPr/>
          <p:nvPr/>
        </p:nvSpPr>
        <p:spPr>
          <a:xfrm>
            <a:off x="3017520" y="3520440"/>
            <a:ext cx="3474720" cy="1600200"/>
          </a:xfrm>
          <a:prstGeom prst="roundRect">
            <a:avLst>
              <a:gd name="adj" fmla="val 12000"/>
            </a:avLst>
          </a:prstGeom>
          <a:solidFill>
            <a:srgbClr val="0E4F63"/>
          </a:solidFill>
          <a:ln w="12700">
            <a:solidFill>
              <a:srgbClr val="0891B2"/>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noAutofit/>
          </a:bodyPr>
          <a:lstStyle/>
          <a:p>
            <a:pPr algn="ctr">
              <a:lnSpc>
                <a:spcPct val="110000"/>
              </a:lnSpc>
              <a:spcAft>
                <a:spcPts val="300"/>
              </a:spcAft>
            </a:pPr>
            <a:r>
              <a:rPr sz="1400" b="1" i="0">
                <a:solidFill>
                  <a:srgbClr val="FFFFFF"/>
                </a:solidFill>
                <a:latin typeface="Calibri"/>
              </a:rPr>
              <a:t>The vault</a:t>
            </a:r>
          </a:p>
          <a:p>
            <a:pPr algn="ctr">
              <a:lnSpc>
                <a:spcPct val="110000"/>
              </a:lnSpc>
              <a:spcAft>
                <a:spcPts val="300"/>
              </a:spcAft>
            </a:pPr>
            <a:r>
              <a:rPr sz="1150" b="0" i="0">
                <a:solidFill>
                  <a:srgbClr val="FFFFFF"/>
                </a:solidFill>
                <a:latin typeface="Calibri"/>
              </a:rPr>
              <a:t>~1,500 plain markdown files: theses, research, sectors, macro, mental models, state files</a:t>
            </a:r>
          </a:p>
          <a:p>
            <a:pPr algn="ctr">
              <a:lnSpc>
                <a:spcPct val="110000"/>
              </a:lnSpc>
              <a:spcAft>
                <a:spcPts val="300"/>
              </a:spcAft>
            </a:pPr>
            <a:r>
              <a:rPr sz="1100" b="0" i="1">
                <a:solidFill>
                  <a:srgbClr val="22D3EE"/>
                </a:solidFill>
                <a:latin typeface="Calibri"/>
              </a:rPr>
              <a:t>The asset. Everything else is replaceable.</a:t>
            </a:r>
          </a:p>
        </p:txBody>
      </p:sp>
      <p:sp>
        <p:nvSpPr>
          <p:cNvPr id="9" name="Rounded Rectangle 8"/>
          <p:cNvSpPr/>
          <p:nvPr/>
        </p:nvSpPr>
        <p:spPr>
          <a:xfrm>
            <a:off x="7589520" y="2240280"/>
            <a:ext cx="2377440" cy="1600200"/>
          </a:xfrm>
          <a:prstGeom prst="roundRect">
            <a:avLst>
              <a:gd name="adj" fmla="val 12000"/>
            </a:avLst>
          </a:prstGeom>
          <a:solidFill>
            <a:srgbClr val="232932"/>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noAutofit/>
          </a:bodyPr>
          <a:lstStyle/>
          <a:p>
            <a:pPr algn="ctr">
              <a:lnSpc>
                <a:spcPct val="110000"/>
              </a:lnSpc>
              <a:spcAft>
                <a:spcPts val="300"/>
              </a:spcAft>
            </a:pPr>
            <a:r>
              <a:rPr sz="1400" b="1" i="0">
                <a:solidFill>
                  <a:srgbClr val="F5F5F0"/>
                </a:solidFill>
                <a:latin typeface="Calibri"/>
              </a:rPr>
              <a:t>Claude Code</a:t>
            </a:r>
          </a:p>
          <a:p>
            <a:pPr algn="ctr">
              <a:lnSpc>
                <a:spcPct val="110000"/>
              </a:lnSpc>
              <a:spcAft>
                <a:spcPts val="300"/>
              </a:spcAft>
            </a:pPr>
            <a:r>
              <a:rPr sz="1100" b="0" i="0">
                <a:solidFill>
                  <a:srgbClr val="9CA3AF"/>
                </a:solidFill>
                <a:latin typeface="Calibri"/>
              </a:rPr>
              <a:t>the engine: reads and writes files, runs scripts, browses, follows the skills</a:t>
            </a:r>
          </a:p>
        </p:txBody>
      </p:sp>
      <p:sp>
        <p:nvSpPr>
          <p:cNvPr id="10" name="Rounded Rectangle 9"/>
          <p:cNvSpPr/>
          <p:nvPr/>
        </p:nvSpPr>
        <p:spPr>
          <a:xfrm>
            <a:off x="7589520" y="4114800"/>
            <a:ext cx="2377440" cy="1005840"/>
          </a:xfrm>
          <a:prstGeom prst="roundRect">
            <a:avLst>
              <a:gd name="adj" fmla="val 12000"/>
            </a:avLst>
          </a:prstGeom>
          <a:solidFill>
            <a:srgbClr val="232932"/>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noAutofit/>
          </a:bodyPr>
          <a:lstStyle/>
          <a:p>
            <a:pPr algn="ctr">
              <a:lnSpc>
                <a:spcPct val="110000"/>
              </a:lnSpc>
              <a:spcAft>
                <a:spcPts val="300"/>
              </a:spcAft>
            </a:pPr>
            <a:r>
              <a:rPr sz="1300" b="1" i="0">
                <a:solidFill>
                  <a:srgbClr val="F5F5F0"/>
                </a:solidFill>
                <a:latin typeface="Calibri"/>
              </a:rPr>
              <a:t>Overnight pipelines</a:t>
            </a:r>
          </a:p>
          <a:p>
            <a:pPr algn="ctr">
              <a:lnSpc>
                <a:spcPct val="110000"/>
              </a:lnSpc>
              <a:spcAft>
                <a:spcPts val="300"/>
              </a:spcAft>
            </a:pPr>
            <a:r>
              <a:rPr sz="1100" b="0" i="0">
                <a:solidFill>
                  <a:srgbClr val="9CA3AF"/>
                </a:solidFill>
                <a:latin typeface="Calibri"/>
              </a:rPr>
              <a:t>news, X, prices, calendar</a:t>
            </a:r>
          </a:p>
        </p:txBody>
      </p:sp>
      <p:sp>
        <p:nvSpPr>
          <p:cNvPr id="11" name="Rounded Rectangle 10"/>
          <p:cNvSpPr/>
          <p:nvPr/>
        </p:nvSpPr>
        <p:spPr>
          <a:xfrm>
            <a:off x="10332720" y="2240280"/>
            <a:ext cx="1645920" cy="2880360"/>
          </a:xfrm>
          <a:prstGeom prst="roundRect">
            <a:avLst>
              <a:gd name="adj" fmla="val 12000"/>
            </a:avLst>
          </a:prstGeom>
          <a:solidFill>
            <a:srgbClr val="1B2027"/>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noAutofit/>
          </a:bodyPr>
          <a:lstStyle/>
          <a:p>
            <a:pPr algn="ctr">
              <a:lnSpc>
                <a:spcPct val="110000"/>
              </a:lnSpc>
              <a:spcAft>
                <a:spcPts val="300"/>
              </a:spcAft>
            </a:pPr>
            <a:r>
              <a:rPr sz="1300" b="1" i="0">
                <a:solidFill>
                  <a:srgbClr val="F5F5F0"/>
                </a:solidFill>
                <a:latin typeface="Calibri"/>
              </a:rPr>
              <a:t>The world</a:t>
            </a:r>
          </a:p>
          <a:p>
            <a:pPr algn="ctr">
              <a:lnSpc>
                <a:spcPct val="110000"/>
              </a:lnSpc>
              <a:spcAft>
                <a:spcPts val="300"/>
              </a:spcAft>
            </a:pPr>
            <a:r>
              <a:rPr sz="1100" b="0" i="0">
                <a:solidFill>
                  <a:srgbClr val="9CA3AF"/>
                </a:solidFill>
                <a:latin typeface="Calibri"/>
              </a:rPr>
              <a:t>web · filings · market data · X · transcripts</a:t>
            </a:r>
          </a:p>
        </p:txBody>
      </p:sp>
      <p:cxnSp>
        <p:nvCxnSpPr>
          <p:cNvPr id="12" name="Connector 11"/>
          <p:cNvCxnSpPr/>
          <p:nvPr/>
        </p:nvCxnSpPr>
        <p:spPr>
          <a:xfrm>
            <a:off x="2103120" y="3337560"/>
            <a:ext cx="640080" cy="0"/>
          </a:xfrm>
          <a:prstGeom prst="line">
            <a:avLst/>
          </a:prstGeom>
          <a:ln w="25400">
            <a:solidFill>
              <a:srgbClr val="F59E0B"/>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492240" y="2715768"/>
            <a:ext cx="1097280" cy="0"/>
          </a:xfrm>
          <a:prstGeom prst="line">
            <a:avLst/>
          </a:prstGeom>
          <a:ln w="25400">
            <a:solidFill>
              <a:srgbClr val="0891B2"/>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6492240" y="3383280"/>
            <a:ext cx="1097280" cy="914400"/>
          </a:xfrm>
          <a:prstGeom prst="line">
            <a:avLst/>
          </a:prstGeom>
          <a:ln w="25400">
            <a:solidFill>
              <a:srgbClr val="0891B2"/>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966960" y="3017520"/>
            <a:ext cx="365760" cy="0"/>
          </a:xfrm>
          <a:prstGeom prst="line">
            <a:avLst/>
          </a:prstGeom>
          <a:ln w="19050">
            <a:solidFill>
              <a:srgbClr val="6B728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966960" y="4617720"/>
            <a:ext cx="365760" cy="0"/>
          </a:xfrm>
          <a:prstGeom prst="line">
            <a:avLst/>
          </a:prstGeom>
          <a:ln w="190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6766560" y="4617720"/>
            <a:ext cx="822960" cy="0"/>
          </a:xfrm>
          <a:prstGeom prst="line">
            <a:avLst/>
          </a:prstGeom>
          <a:ln w="19050">
            <a:solidFill>
              <a:srgbClr val="6B728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48640" y="5623560"/>
            <a:ext cx="11064240" cy="731520"/>
          </a:xfrm>
          <a:prstGeom prst="rect">
            <a:avLst/>
          </a:prstGeom>
          <a:noFill/>
        </p:spPr>
        <p:txBody>
          <a:bodyPr wrap="square" lIns="45720" rIns="45720" anchor="t">
            <a:noAutofit/>
          </a:bodyPr>
          <a:lstStyle/>
          <a:p>
            <a:pPr algn="l">
              <a:lnSpc>
                <a:spcPct val="112000"/>
              </a:lnSpc>
              <a:spcAft>
                <a:spcPts val="400"/>
              </a:spcAft>
            </a:pPr>
            <a:r>
              <a:rPr sz="1350" b="0" i="0">
                <a:solidFill>
                  <a:srgbClr val="D1D5DB"/>
                </a:solidFill>
                <a:latin typeface="Calibri"/>
              </a:rPr>
              <a:t>Obsidian shows the files. Claude Code reads and writes them. The pipelines feed a scanning folder, never the spine. You sit in the loop at the chat panel.</a:t>
            </a:r>
          </a:p>
        </p:txBody>
      </p:sp>
      <p:sp>
        <p:nvSpPr>
          <p:cNvPr id="19" name="footer"/>
          <p:cNvSpPr txBox="1"/>
          <p:nvPr/>
        </p:nvSpPr>
        <p:spPr>
          <a:xfrm>
            <a:off x="548640" y="6446520"/>
            <a:ext cx="7772400" cy="274320"/>
          </a:xfrm>
          <a:prstGeom prst="rect">
            <a:avLst/>
          </a:prstGeom>
          <a:noFill/>
        </p:spPr>
        <p:txBody>
          <a:bodyPr wrap="square" lIns="45720" rIns="45720" anchor="t">
            <a:noAutofit/>
          </a:bodyPr>
          <a:lstStyle/>
          <a:p>
            <a:pPr algn="l">
              <a:lnSpc>
                <a:spcPct val="112000"/>
              </a:lnSpc>
              <a:spcAft>
                <a:spcPts val="400"/>
              </a:spcAft>
            </a:pPr>
            <a:r>
              <a:rPr sz="900" b="0" i="0">
                <a:solidFill>
                  <a:srgbClr val="6B7280"/>
                </a:solidFill>
                <a:latin typeface="Calibri"/>
              </a:rPr>
              <a:t>Laniakea Partners · A Second Brain for Investing · August 2026  ·  Part 3</a:t>
            </a:r>
          </a:p>
        </p:txBody>
      </p:sp>
      <p:sp>
        <p:nvSpPr>
          <p:cNvPr id="20" name="footer"/>
          <p:cNvSpPr txBox="1"/>
          <p:nvPr/>
        </p:nvSpPr>
        <p:spPr>
          <a:xfrm>
            <a:off x="10332720" y="6446520"/>
            <a:ext cx="1325880" cy="274320"/>
          </a:xfrm>
          <a:prstGeom prst="rect">
            <a:avLst/>
          </a:prstGeom>
          <a:noFill/>
        </p:spPr>
        <p:txBody>
          <a:bodyPr wrap="square" lIns="45720" rIns="45720" anchor="t">
            <a:noAutofit/>
          </a:bodyPr>
          <a:lstStyle/>
          <a:p>
            <a:pPr algn="r">
              <a:lnSpc>
                <a:spcPct val="112000"/>
              </a:lnSpc>
              <a:spcAft>
                <a:spcPts val="400"/>
              </a:spcAft>
            </a:pPr>
            <a:r>
              <a:rPr sz="900" b="0" i="0">
                <a:solidFill>
                  <a:srgbClr val="6B7280"/>
                </a:solidFill>
                <a:latin typeface="Calibri"/>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548640" y="292608"/>
            <a:ext cx="10972800" cy="320040"/>
          </a:xfrm>
          <a:prstGeom prst="rect">
            <a:avLst/>
          </a:prstGeom>
          <a:noFill/>
        </p:spPr>
        <p:txBody>
          <a:bodyPr wrap="square" lIns="45720" rIns="45720" anchor="t">
            <a:noAutofit/>
          </a:bodyPr>
          <a:lstStyle/>
          <a:p>
            <a:pPr algn="l">
              <a:lnSpc>
                <a:spcPct val="112000"/>
              </a:lnSpc>
              <a:spcAft>
                <a:spcPts val="400"/>
              </a:spcAft>
            </a:pPr>
            <a:r>
              <a:rPr sz="1100" b="1" i="0">
                <a:solidFill>
                  <a:srgbClr val="22D3EE"/>
                </a:solidFill>
                <a:latin typeface="Calibri"/>
              </a:rPr>
              <a:t>PART 3 · INSIDE A SECOND BRAIN</a:t>
            </a:r>
          </a:p>
        </p:txBody>
      </p:sp>
      <p:sp>
        <p:nvSpPr>
          <p:cNvPr id="3" name="TextBox 2"/>
          <p:cNvSpPr txBox="1"/>
          <p:nvPr/>
        </p:nvSpPr>
        <p:spPr>
          <a:xfrm>
            <a:off x="548640" y="566928"/>
            <a:ext cx="11064240" cy="868680"/>
          </a:xfrm>
          <a:prstGeom prst="rect">
            <a:avLst/>
          </a:prstGeom>
          <a:noFill/>
        </p:spPr>
        <p:txBody>
          <a:bodyPr wrap="square" lIns="45720" rIns="45720" anchor="t">
            <a:noAutofit/>
          </a:bodyPr>
          <a:lstStyle/>
          <a:p>
            <a:pPr algn="l">
              <a:lnSpc>
                <a:spcPct val="100000"/>
              </a:lnSpc>
              <a:spcAft>
                <a:spcPts val="400"/>
              </a:spcAft>
            </a:pPr>
            <a:r>
              <a:rPr sz="2800" b="0" i="0">
                <a:solidFill>
                  <a:srgbClr val="F5F5F0"/>
                </a:solidFill>
                <a:latin typeface="Georgia"/>
              </a:rPr>
              <a:t>Five ingredients in every prompt</a:t>
            </a:r>
          </a:p>
        </p:txBody>
      </p:sp>
      <p:cxnSp>
        <p:nvCxnSpPr>
          <p:cNvPr id="4" name="Connector 3"/>
          <p:cNvCxnSpPr/>
          <p:nvPr/>
        </p:nvCxnSpPr>
        <p:spPr>
          <a:xfrm>
            <a:off x="594360" y="1389888"/>
            <a:ext cx="914400" cy="0"/>
          </a:xfrm>
          <a:prstGeom prst="line">
            <a:avLst/>
          </a:prstGeom>
          <a:ln w="31750">
            <a:solidFill>
              <a:srgbClr val="0891B2"/>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1691640"/>
            <a:ext cx="2103120" cy="3291840"/>
          </a:xfrm>
          <a:prstGeom prst="roundRect">
            <a:avLst>
              <a:gd name="adj" fmla="val 12000"/>
            </a:avLst>
          </a:prstGeom>
          <a:solidFill>
            <a:srgbClr val="1B2027"/>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6809" bIns="76809" wrap="square">
            <a:noAutofit/>
          </a:bodyPr>
          <a:lstStyle/>
          <a:p>
            <a:pPr algn="l">
              <a:lnSpc>
                <a:spcPct val="110000"/>
              </a:lnSpc>
              <a:spcAft>
                <a:spcPts val="200"/>
              </a:spcAft>
            </a:pPr>
            <a:r>
              <a:rPr sz="2200" b="0" i="0">
                <a:solidFill>
                  <a:srgbClr val="0891B2"/>
                </a:solidFill>
                <a:latin typeface="Georgia"/>
              </a:rPr>
              <a:t>1</a:t>
            </a:r>
          </a:p>
          <a:p>
            <a:pPr algn="l">
              <a:lnSpc>
                <a:spcPct val="110000"/>
              </a:lnSpc>
              <a:spcAft>
                <a:spcPts val="800"/>
              </a:spcAft>
            </a:pPr>
            <a:r>
              <a:rPr sz="1450" b="1" i="0">
                <a:solidFill>
                  <a:srgbClr val="F5F5F0"/>
                </a:solidFill>
                <a:latin typeface="Calibri"/>
              </a:rPr>
              <a:t>Typed command</a:t>
            </a:r>
          </a:p>
          <a:p>
            <a:pPr algn="l">
              <a:lnSpc>
                <a:spcPct val="110000"/>
              </a:lnSpc>
              <a:spcAft>
                <a:spcPts val="300"/>
              </a:spcAft>
            </a:pPr>
            <a:r>
              <a:rPr sz="1250" b="0" i="0">
                <a:solidFill>
                  <a:srgbClr val="D1D5DB"/>
                </a:solidFill>
                <a:latin typeface="Calibri"/>
              </a:rPr>
              <a:t>What you type in the box. Different every time; the only part most people call 'the prompt'.</a:t>
            </a:r>
          </a:p>
        </p:txBody>
      </p:sp>
      <p:sp>
        <p:nvSpPr>
          <p:cNvPr id="6" name="Rounded Rectangle 5"/>
          <p:cNvSpPr/>
          <p:nvPr/>
        </p:nvSpPr>
        <p:spPr>
          <a:xfrm>
            <a:off x="548640" y="5074920"/>
            <a:ext cx="2103120" cy="411480"/>
          </a:xfrm>
          <a:prstGeom prst="roundRect">
            <a:avLst>
              <a:gd name="adj" fmla="val 12000"/>
            </a:avLst>
          </a:prstGeom>
          <a:solidFill>
            <a:srgbClr val="1B202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noAutofit/>
          </a:bodyPr>
          <a:lstStyle/>
          <a:p>
            <a:pPr algn="ctr">
              <a:lnSpc>
                <a:spcPct val="110000"/>
              </a:lnSpc>
              <a:spcAft>
                <a:spcPts val="300"/>
              </a:spcAft>
            </a:pPr>
            <a:r>
              <a:rPr sz="1050" b="0" i="0">
                <a:solidFill>
                  <a:srgbClr val="9CA3AF"/>
                </a:solidFill>
                <a:latin typeface="Calibri"/>
              </a:rPr>
              <a:t>You, each time</a:t>
            </a:r>
          </a:p>
        </p:txBody>
      </p:sp>
      <p:sp>
        <p:nvSpPr>
          <p:cNvPr id="7" name="Rounded Rectangle 6"/>
          <p:cNvSpPr/>
          <p:nvPr/>
        </p:nvSpPr>
        <p:spPr>
          <a:xfrm>
            <a:off x="2788920" y="1691640"/>
            <a:ext cx="2103120" cy="3291840"/>
          </a:xfrm>
          <a:prstGeom prst="roundRect">
            <a:avLst>
              <a:gd name="adj" fmla="val 12000"/>
            </a:avLst>
          </a:prstGeom>
          <a:solidFill>
            <a:srgbClr val="1B2027"/>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6809" bIns="76809" wrap="square">
            <a:noAutofit/>
          </a:bodyPr>
          <a:lstStyle/>
          <a:p>
            <a:pPr algn="l">
              <a:lnSpc>
                <a:spcPct val="110000"/>
              </a:lnSpc>
              <a:spcAft>
                <a:spcPts val="200"/>
              </a:spcAft>
            </a:pPr>
            <a:r>
              <a:rPr sz="2200" b="0" i="0">
                <a:solidFill>
                  <a:srgbClr val="0891B2"/>
                </a:solidFill>
                <a:latin typeface="Georgia"/>
              </a:rPr>
              <a:t>2</a:t>
            </a:r>
          </a:p>
          <a:p>
            <a:pPr algn="l">
              <a:lnSpc>
                <a:spcPct val="110000"/>
              </a:lnSpc>
              <a:spcAft>
                <a:spcPts val="800"/>
              </a:spcAft>
            </a:pPr>
            <a:r>
              <a:rPr sz="1450" b="1" i="0">
                <a:solidFill>
                  <a:srgbClr val="F5F5F0"/>
                </a:solidFill>
                <a:latin typeface="Calibri"/>
              </a:rPr>
              <a:t>Conversation history</a:t>
            </a:r>
          </a:p>
          <a:p>
            <a:pPr algn="l">
              <a:lnSpc>
                <a:spcPct val="110000"/>
              </a:lnSpc>
              <a:spcAft>
                <a:spcPts val="300"/>
              </a:spcAft>
            </a:pPr>
            <a:r>
              <a:rPr sz="1250" b="0" i="0">
                <a:solidFill>
                  <a:srgbClr val="D1D5DB"/>
                </a:solidFill>
                <a:latin typeface="Calibri"/>
              </a:rPr>
              <a:t>Everything said earlier in the session. Comes free with the model.</a:t>
            </a:r>
          </a:p>
        </p:txBody>
      </p:sp>
      <p:sp>
        <p:nvSpPr>
          <p:cNvPr id="8" name="Rounded Rectangle 7"/>
          <p:cNvSpPr/>
          <p:nvPr/>
        </p:nvSpPr>
        <p:spPr>
          <a:xfrm>
            <a:off x="2788920" y="5074920"/>
            <a:ext cx="2103120" cy="411480"/>
          </a:xfrm>
          <a:prstGeom prst="roundRect">
            <a:avLst>
              <a:gd name="adj" fmla="val 12000"/>
            </a:avLst>
          </a:prstGeom>
          <a:solidFill>
            <a:srgbClr val="1B202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noAutofit/>
          </a:bodyPr>
          <a:lstStyle/>
          <a:p>
            <a:pPr algn="ctr">
              <a:lnSpc>
                <a:spcPct val="110000"/>
              </a:lnSpc>
              <a:spcAft>
                <a:spcPts val="300"/>
              </a:spcAft>
            </a:pPr>
            <a:r>
              <a:rPr sz="1050" b="0" i="0">
                <a:solidFill>
                  <a:srgbClr val="9CA3AF"/>
                </a:solidFill>
                <a:latin typeface="Calibri"/>
              </a:rPr>
              <a:t>Free, uncontrolled</a:t>
            </a:r>
          </a:p>
        </p:txBody>
      </p:sp>
      <p:sp>
        <p:nvSpPr>
          <p:cNvPr id="9" name="Rounded Rectangle 8"/>
          <p:cNvSpPr/>
          <p:nvPr/>
        </p:nvSpPr>
        <p:spPr>
          <a:xfrm>
            <a:off x="5029200" y="1691640"/>
            <a:ext cx="2103120" cy="3291840"/>
          </a:xfrm>
          <a:prstGeom prst="roundRect">
            <a:avLst>
              <a:gd name="adj" fmla="val 12000"/>
            </a:avLst>
          </a:prstGeom>
          <a:solidFill>
            <a:srgbClr val="232932"/>
          </a:solidFill>
          <a:ln w="12700">
            <a:solidFill>
              <a:srgbClr val="0891B2"/>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6809" bIns="76809" wrap="square">
            <a:noAutofit/>
          </a:bodyPr>
          <a:lstStyle/>
          <a:p>
            <a:pPr algn="l">
              <a:lnSpc>
                <a:spcPct val="110000"/>
              </a:lnSpc>
              <a:spcAft>
                <a:spcPts val="200"/>
              </a:spcAft>
            </a:pPr>
            <a:r>
              <a:rPr sz="2200" b="0" i="0">
                <a:solidFill>
                  <a:srgbClr val="0891B2"/>
                </a:solidFill>
                <a:latin typeface="Georgia"/>
              </a:rPr>
              <a:t>3</a:t>
            </a:r>
          </a:p>
          <a:p>
            <a:pPr algn="l">
              <a:lnSpc>
                <a:spcPct val="110000"/>
              </a:lnSpc>
              <a:spcAft>
                <a:spcPts val="800"/>
              </a:spcAft>
            </a:pPr>
            <a:r>
              <a:rPr sz="1450" b="1" i="0">
                <a:solidFill>
                  <a:srgbClr val="F5F5F0"/>
                </a:solidFill>
                <a:latin typeface="Calibri"/>
              </a:rPr>
              <a:t>Context files</a:t>
            </a:r>
          </a:p>
          <a:p>
            <a:pPr algn="l">
              <a:lnSpc>
                <a:spcPct val="110000"/>
              </a:lnSpc>
              <a:spcAft>
                <a:spcPts val="300"/>
              </a:spcAft>
            </a:pPr>
            <a:r>
              <a:rPr sz="1250" b="0" i="0">
                <a:solidFill>
                  <a:srgbClr val="D1D5DB"/>
                </a:solidFill>
                <a:latin typeface="Calibri"/>
              </a:rPr>
              <a:t>The model's memory and rulebook. Written once, read at the start of every session.</a:t>
            </a:r>
          </a:p>
        </p:txBody>
      </p:sp>
      <p:sp>
        <p:nvSpPr>
          <p:cNvPr id="10" name="Rounded Rectangle 9"/>
          <p:cNvSpPr/>
          <p:nvPr/>
        </p:nvSpPr>
        <p:spPr>
          <a:xfrm>
            <a:off x="5029200" y="5074920"/>
            <a:ext cx="2103120" cy="411480"/>
          </a:xfrm>
          <a:prstGeom prst="roundRect">
            <a:avLst>
              <a:gd name="adj" fmla="val 12000"/>
            </a:avLst>
          </a:prstGeom>
          <a:solidFill>
            <a:srgbClr val="0E4F63"/>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noAutofit/>
          </a:bodyPr>
          <a:lstStyle/>
          <a:p>
            <a:pPr algn="ctr">
              <a:lnSpc>
                <a:spcPct val="110000"/>
              </a:lnSpc>
              <a:spcAft>
                <a:spcPts val="300"/>
              </a:spcAft>
            </a:pPr>
            <a:r>
              <a:rPr sz="1050" b="1" i="0">
                <a:solidFill>
                  <a:srgbClr val="FFFFFF"/>
                </a:solidFill>
                <a:latin typeface="Calibri"/>
              </a:rPr>
              <a:t>You, written once</a:t>
            </a:r>
          </a:p>
        </p:txBody>
      </p:sp>
      <p:sp>
        <p:nvSpPr>
          <p:cNvPr id="11" name="Rounded Rectangle 10"/>
          <p:cNvSpPr/>
          <p:nvPr/>
        </p:nvSpPr>
        <p:spPr>
          <a:xfrm>
            <a:off x="7269480" y="1691640"/>
            <a:ext cx="2103120" cy="3291840"/>
          </a:xfrm>
          <a:prstGeom prst="roundRect">
            <a:avLst>
              <a:gd name="adj" fmla="val 12000"/>
            </a:avLst>
          </a:prstGeom>
          <a:solidFill>
            <a:srgbClr val="232932"/>
          </a:solidFill>
          <a:ln w="12700">
            <a:solidFill>
              <a:srgbClr val="0891B2"/>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6809" bIns="76809" wrap="square">
            <a:noAutofit/>
          </a:bodyPr>
          <a:lstStyle/>
          <a:p>
            <a:pPr algn="l">
              <a:lnSpc>
                <a:spcPct val="110000"/>
              </a:lnSpc>
              <a:spcAft>
                <a:spcPts val="200"/>
              </a:spcAft>
            </a:pPr>
            <a:r>
              <a:rPr sz="2200" b="0" i="0">
                <a:solidFill>
                  <a:srgbClr val="0891B2"/>
                </a:solidFill>
                <a:latin typeface="Georgia"/>
              </a:rPr>
              <a:t>4</a:t>
            </a:r>
          </a:p>
          <a:p>
            <a:pPr algn="l">
              <a:lnSpc>
                <a:spcPct val="110000"/>
              </a:lnSpc>
              <a:spcAft>
                <a:spcPts val="800"/>
              </a:spcAft>
            </a:pPr>
            <a:r>
              <a:rPr sz="1450" b="1" i="0">
                <a:solidFill>
                  <a:srgbClr val="F5F5F0"/>
                </a:solidFill>
                <a:latin typeface="Calibri"/>
              </a:rPr>
              <a:t>Templates</a:t>
            </a:r>
          </a:p>
          <a:p>
            <a:pPr algn="l">
              <a:lnSpc>
                <a:spcPct val="110000"/>
              </a:lnSpc>
              <a:spcAft>
                <a:spcPts val="300"/>
              </a:spcAft>
            </a:pPr>
            <a:r>
              <a:rPr sz="1250" b="0" i="0">
                <a:solidFill>
                  <a:srgbClr val="D1D5DB"/>
                </a:solidFill>
                <a:latin typeface="Calibri"/>
              </a:rPr>
              <a:t>The shape the answer must take. The model cannot skip the bear case, because the bear case is a section.</a:t>
            </a:r>
          </a:p>
        </p:txBody>
      </p:sp>
      <p:sp>
        <p:nvSpPr>
          <p:cNvPr id="12" name="Rounded Rectangle 11"/>
          <p:cNvSpPr/>
          <p:nvPr/>
        </p:nvSpPr>
        <p:spPr>
          <a:xfrm>
            <a:off x="7269480" y="5074920"/>
            <a:ext cx="2103120" cy="411480"/>
          </a:xfrm>
          <a:prstGeom prst="roundRect">
            <a:avLst>
              <a:gd name="adj" fmla="val 12000"/>
            </a:avLst>
          </a:prstGeom>
          <a:solidFill>
            <a:srgbClr val="0E4F63"/>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noAutofit/>
          </a:bodyPr>
          <a:lstStyle/>
          <a:p>
            <a:pPr algn="ctr">
              <a:lnSpc>
                <a:spcPct val="110000"/>
              </a:lnSpc>
              <a:spcAft>
                <a:spcPts val="300"/>
              </a:spcAft>
            </a:pPr>
            <a:r>
              <a:rPr sz="1050" b="1" i="0">
                <a:solidFill>
                  <a:srgbClr val="FFFFFF"/>
                </a:solidFill>
                <a:latin typeface="Calibri"/>
              </a:rPr>
              <a:t>You, written once</a:t>
            </a:r>
          </a:p>
        </p:txBody>
      </p:sp>
      <p:sp>
        <p:nvSpPr>
          <p:cNvPr id="13" name="Rounded Rectangle 12"/>
          <p:cNvSpPr/>
          <p:nvPr/>
        </p:nvSpPr>
        <p:spPr>
          <a:xfrm>
            <a:off x="9509760" y="1691640"/>
            <a:ext cx="2103120" cy="3291840"/>
          </a:xfrm>
          <a:prstGeom prst="roundRect">
            <a:avLst>
              <a:gd name="adj" fmla="val 12000"/>
            </a:avLst>
          </a:prstGeom>
          <a:solidFill>
            <a:srgbClr val="232932"/>
          </a:solidFill>
          <a:ln w="12700">
            <a:solidFill>
              <a:srgbClr val="0891B2"/>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6809" bIns="76809" wrap="square">
            <a:noAutofit/>
          </a:bodyPr>
          <a:lstStyle/>
          <a:p>
            <a:pPr algn="l">
              <a:lnSpc>
                <a:spcPct val="110000"/>
              </a:lnSpc>
              <a:spcAft>
                <a:spcPts val="200"/>
              </a:spcAft>
            </a:pPr>
            <a:r>
              <a:rPr sz="2200" b="0" i="0">
                <a:solidFill>
                  <a:srgbClr val="0891B2"/>
                </a:solidFill>
                <a:latin typeface="Georgia"/>
              </a:rPr>
              <a:t>5</a:t>
            </a:r>
          </a:p>
          <a:p>
            <a:pPr algn="l">
              <a:lnSpc>
                <a:spcPct val="110000"/>
              </a:lnSpc>
              <a:spcAft>
                <a:spcPts val="800"/>
              </a:spcAft>
            </a:pPr>
            <a:r>
              <a:rPr sz="1450" b="1" i="0">
                <a:solidFill>
                  <a:srgbClr val="F5F5F0"/>
                </a:solidFill>
                <a:latin typeface="Calibri"/>
              </a:rPr>
              <a:t>Skills</a:t>
            </a:r>
          </a:p>
          <a:p>
            <a:pPr algn="l">
              <a:lnSpc>
                <a:spcPct val="110000"/>
              </a:lnSpc>
              <a:spcAft>
                <a:spcPts val="300"/>
              </a:spcAft>
            </a:pPr>
            <a:r>
              <a:rPr sz="1250" b="0" i="0">
                <a:solidFill>
                  <a:srgbClr val="D1D5DB"/>
                </a:solidFill>
                <a:latin typeface="Calibri"/>
              </a:rPr>
              <a:t>Named procedures the model follows step by step: ingest, propagate, stress-test.</a:t>
            </a:r>
          </a:p>
        </p:txBody>
      </p:sp>
      <p:sp>
        <p:nvSpPr>
          <p:cNvPr id="14" name="Rounded Rectangle 13"/>
          <p:cNvSpPr/>
          <p:nvPr/>
        </p:nvSpPr>
        <p:spPr>
          <a:xfrm>
            <a:off x="9509760" y="5074920"/>
            <a:ext cx="2103120" cy="411480"/>
          </a:xfrm>
          <a:prstGeom prst="roundRect">
            <a:avLst>
              <a:gd name="adj" fmla="val 12000"/>
            </a:avLst>
          </a:prstGeom>
          <a:solidFill>
            <a:srgbClr val="0E4F63"/>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noAutofit/>
          </a:bodyPr>
          <a:lstStyle/>
          <a:p>
            <a:pPr algn="ctr">
              <a:lnSpc>
                <a:spcPct val="110000"/>
              </a:lnSpc>
              <a:spcAft>
                <a:spcPts val="300"/>
              </a:spcAft>
            </a:pPr>
            <a:r>
              <a:rPr sz="1050" b="1" i="0">
                <a:solidFill>
                  <a:srgbClr val="FFFFFF"/>
                </a:solidFill>
                <a:latin typeface="Calibri"/>
              </a:rPr>
              <a:t>You, written once</a:t>
            </a:r>
          </a:p>
        </p:txBody>
      </p:sp>
      <p:sp>
        <p:nvSpPr>
          <p:cNvPr id="15" name="TextBox 14"/>
          <p:cNvSpPr txBox="1"/>
          <p:nvPr/>
        </p:nvSpPr>
        <p:spPr>
          <a:xfrm>
            <a:off x="548640" y="5760720"/>
            <a:ext cx="11064240" cy="640080"/>
          </a:xfrm>
          <a:prstGeom prst="rect">
            <a:avLst/>
          </a:prstGeom>
          <a:noFill/>
        </p:spPr>
        <p:txBody>
          <a:bodyPr wrap="square" lIns="45720" rIns="45720" anchor="t">
            <a:noAutofit/>
          </a:bodyPr>
          <a:lstStyle/>
          <a:p>
            <a:pPr algn="l">
              <a:lnSpc>
                <a:spcPct val="112000"/>
              </a:lnSpc>
              <a:spcAft>
                <a:spcPts val="400"/>
              </a:spcAft>
            </a:pPr>
            <a:r>
              <a:rPr sz="1400" b="0" i="1">
                <a:solidFill>
                  <a:srgbClr val="22D3EE"/>
                </a:solidFill>
                <a:latin typeface="Calibri"/>
              </a:rPr>
              <a:t>Prompt quality is mostly what the model already knows before you type. Ingredients 3, 4 and 5 are where the work goes, and they compound.</a:t>
            </a:r>
          </a:p>
        </p:txBody>
      </p:sp>
      <p:sp>
        <p:nvSpPr>
          <p:cNvPr id="16" name="footer"/>
          <p:cNvSpPr txBox="1"/>
          <p:nvPr/>
        </p:nvSpPr>
        <p:spPr>
          <a:xfrm>
            <a:off x="548640" y="6446520"/>
            <a:ext cx="7772400" cy="274320"/>
          </a:xfrm>
          <a:prstGeom prst="rect">
            <a:avLst/>
          </a:prstGeom>
          <a:noFill/>
        </p:spPr>
        <p:txBody>
          <a:bodyPr wrap="square" lIns="45720" rIns="45720" anchor="t">
            <a:noAutofit/>
          </a:bodyPr>
          <a:lstStyle/>
          <a:p>
            <a:pPr algn="l">
              <a:lnSpc>
                <a:spcPct val="112000"/>
              </a:lnSpc>
              <a:spcAft>
                <a:spcPts val="400"/>
              </a:spcAft>
            </a:pPr>
            <a:r>
              <a:rPr sz="900" b="0" i="0">
                <a:solidFill>
                  <a:srgbClr val="6B7280"/>
                </a:solidFill>
                <a:latin typeface="Calibri"/>
              </a:rPr>
              <a:t>Laniakea Partners · A Second Brain for Investing · August 2026  ·  Part 3</a:t>
            </a:r>
          </a:p>
        </p:txBody>
      </p:sp>
      <p:sp>
        <p:nvSpPr>
          <p:cNvPr id="17" name="footer"/>
          <p:cNvSpPr txBox="1"/>
          <p:nvPr/>
        </p:nvSpPr>
        <p:spPr>
          <a:xfrm>
            <a:off x="10332720" y="6446520"/>
            <a:ext cx="1325880" cy="274320"/>
          </a:xfrm>
          <a:prstGeom prst="rect">
            <a:avLst/>
          </a:prstGeom>
          <a:noFill/>
        </p:spPr>
        <p:txBody>
          <a:bodyPr wrap="square" lIns="45720" rIns="45720" anchor="t">
            <a:noAutofit/>
          </a:bodyPr>
          <a:lstStyle/>
          <a:p>
            <a:pPr algn="r">
              <a:lnSpc>
                <a:spcPct val="112000"/>
              </a:lnSpc>
              <a:spcAft>
                <a:spcPts val="400"/>
              </a:spcAft>
            </a:pPr>
            <a:r>
              <a:rPr sz="900" b="0" i="0">
                <a:solidFill>
                  <a:srgbClr val="6B7280"/>
                </a:solidFill>
                <a:latin typeface="Calibri"/>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548640" y="292608"/>
            <a:ext cx="10972800" cy="320040"/>
          </a:xfrm>
          <a:prstGeom prst="rect">
            <a:avLst/>
          </a:prstGeom>
          <a:noFill/>
        </p:spPr>
        <p:txBody>
          <a:bodyPr wrap="square" lIns="45720" rIns="45720" anchor="t">
            <a:noAutofit/>
          </a:bodyPr>
          <a:lstStyle/>
          <a:p>
            <a:pPr algn="l">
              <a:lnSpc>
                <a:spcPct val="112000"/>
              </a:lnSpc>
              <a:spcAft>
                <a:spcPts val="400"/>
              </a:spcAft>
            </a:pPr>
            <a:r>
              <a:rPr sz="1100" b="1" i="0">
                <a:solidFill>
                  <a:srgbClr val="22D3EE"/>
                </a:solidFill>
                <a:latin typeface="Calibri"/>
              </a:rPr>
              <a:t>PART 3 · INSIDE A SECOND BRAIN</a:t>
            </a:r>
          </a:p>
        </p:txBody>
      </p:sp>
      <p:sp>
        <p:nvSpPr>
          <p:cNvPr id="3" name="TextBox 2"/>
          <p:cNvSpPr txBox="1"/>
          <p:nvPr/>
        </p:nvSpPr>
        <p:spPr>
          <a:xfrm>
            <a:off x="548640" y="566928"/>
            <a:ext cx="11064240" cy="868680"/>
          </a:xfrm>
          <a:prstGeom prst="rect">
            <a:avLst/>
          </a:prstGeom>
          <a:noFill/>
        </p:spPr>
        <p:txBody>
          <a:bodyPr wrap="square" lIns="45720" rIns="45720" anchor="t">
            <a:noAutofit/>
          </a:bodyPr>
          <a:lstStyle/>
          <a:p>
            <a:pPr algn="l">
              <a:lnSpc>
                <a:spcPct val="100000"/>
              </a:lnSpc>
              <a:spcAft>
                <a:spcPts val="400"/>
              </a:spcAft>
            </a:pPr>
            <a:r>
              <a:rPr sz="2800" b="0" i="0">
                <a:solidFill>
                  <a:srgbClr val="F5F5F0"/>
                </a:solidFill>
                <a:latin typeface="Georgia"/>
              </a:rPr>
              <a:t>Context files and mental models: what it knows before you type</a:t>
            </a:r>
          </a:p>
        </p:txBody>
      </p:sp>
      <p:cxnSp>
        <p:nvCxnSpPr>
          <p:cNvPr id="4" name="Connector 3"/>
          <p:cNvCxnSpPr/>
          <p:nvPr/>
        </p:nvCxnSpPr>
        <p:spPr>
          <a:xfrm>
            <a:off x="594360" y="1389888"/>
            <a:ext cx="914400" cy="0"/>
          </a:xfrm>
          <a:prstGeom prst="line">
            <a:avLst/>
          </a:prstGeom>
          <a:ln w="31750">
            <a:solidFill>
              <a:srgbClr val="0891B2"/>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548640" y="1645920"/>
          <a:ext cx="11064240" cy="3566160"/>
        </p:xfrm>
        <a:graphic>
          <a:graphicData uri="http://schemas.openxmlformats.org/drawingml/2006/table">
            <a:tbl>
              <a:tblPr firstRow="1">
                <a:tableStyleId>{5C22544A-7EE6-4342-B048-85BDC9FD1C3A}</a:tableStyleId>
              </a:tblPr>
              <a:tblGrid>
                <a:gridCol w="1737360"/>
                <a:gridCol w="5852160"/>
                <a:gridCol w="3474720"/>
              </a:tblGrid>
              <a:tr h="594360">
                <a:tc>
                  <a:txBody>
                    <a:bodyPr wrap="square"/>
                    <a:lstStyle/>
                    <a:p>
                      <a:pPr algn="l">
                        <a:lnSpc>
                          <a:spcPct val="108000"/>
                        </a:lnSpc>
                        <a:spcAft>
                          <a:spcPts val="200"/>
                        </a:spcAft>
                      </a:pPr>
                      <a:r>
                        <a:rPr sz="1250" b="1" i="0">
                          <a:solidFill>
                            <a:srgbClr val="FFFFFF"/>
                          </a:solidFill>
                          <a:latin typeface="Calibri"/>
                        </a:rPr>
                        <a:t>File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0E4F63"/>
                    </a:solidFill>
                  </a:tcPr>
                </a:tc>
                <a:tc>
                  <a:txBody>
                    <a:bodyPr wrap="square"/>
                    <a:lstStyle/>
                    <a:p>
                      <a:pPr algn="l">
                        <a:lnSpc>
                          <a:spcPct val="108000"/>
                        </a:lnSpc>
                        <a:spcAft>
                          <a:spcPts val="200"/>
                        </a:spcAft>
                      </a:pPr>
                      <a:r>
                        <a:rPr sz="1250" b="1" i="0">
                          <a:solidFill>
                            <a:srgbClr val="FFFFFF"/>
                          </a:solidFill>
                          <a:latin typeface="Calibri"/>
                        </a:rPr>
                        <a:t>What it holds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0E4F63"/>
                    </a:solidFill>
                  </a:tcPr>
                </a:tc>
                <a:tc>
                  <a:txBody>
                    <a:bodyPr wrap="square"/>
                    <a:lstStyle/>
                    <a:p>
                      <a:pPr algn="l">
                        <a:lnSpc>
                          <a:spcPct val="108000"/>
                        </a:lnSpc>
                        <a:spcAft>
                          <a:spcPts val="200"/>
                        </a:spcAft>
                      </a:pPr>
                      <a:r>
                        <a:rPr sz="1250" b="1" i="0">
                          <a:solidFill>
                            <a:srgbClr val="FFFFFF"/>
                          </a:solidFill>
                          <a:latin typeface="Calibri"/>
                        </a:rPr>
                        <a:t>Why it matters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0E4F63"/>
                    </a:solidFill>
                  </a:tcPr>
                </a:tc>
              </a:tr>
              <a:tr h="594360">
                <a:tc>
                  <a:txBody>
                    <a:bodyPr wrap="square"/>
                    <a:lstStyle/>
                    <a:p>
                      <a:pPr algn="l">
                        <a:lnSpc>
                          <a:spcPct val="108000"/>
                        </a:lnSpc>
                        <a:spcAft>
                          <a:spcPts val="200"/>
                        </a:spcAft>
                      </a:pPr>
                      <a:r>
                        <a:rPr sz="1250" b="1" i="0">
                          <a:solidFill>
                            <a:srgbClr val="F5F5F0"/>
                          </a:solidFill>
                          <a:latin typeface="Calibri"/>
                        </a:rPr>
                        <a:t>CLAUDE.md</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250" b="0" i="0">
                          <a:solidFill>
                            <a:srgbClr val="D1D5DB"/>
                          </a:solidFill>
                          <a:latin typeface="Calibri"/>
                        </a:rPr>
                        <a:t>The rulebook: vault structure, writing standards, decision rules. Loaded every session.</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250" b="0" i="0">
                          <a:solidFill>
                            <a:srgbClr val="D1D5DB"/>
                          </a:solidFill>
                          <a:latin typeface="Calibri"/>
                        </a:rPr>
                        <a:t>Every answer inherits the house rules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r>
              <a:tr h="594360">
                <a:tc>
                  <a:txBody>
                    <a:bodyPr wrap="square"/>
                    <a:lstStyle/>
                    <a:p>
                      <a:pPr algn="l">
                        <a:lnSpc>
                          <a:spcPct val="108000"/>
                        </a:lnSpc>
                        <a:spcAft>
                          <a:spcPts val="200"/>
                        </a:spcAft>
                      </a:pPr>
                      <a:r>
                        <a:rPr sz="1250" b="1" i="0">
                          <a:solidFill>
                            <a:srgbClr val="F5F5F0"/>
                          </a:solidFill>
                          <a:latin typeface="Calibri"/>
                        </a:rPr>
                        <a:t>_hot.md</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250" b="0" i="0">
                          <a:solidFill>
                            <a:srgbClr val="D1D5DB"/>
                          </a:solidFill>
                          <a:latin typeface="Calibri"/>
                        </a:rPr>
                        <a:t>Session memory: active thread, latest sync, recent conviction changes, open questions.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250" b="0" i="0">
                          <a:solidFill>
                            <a:srgbClr val="D1D5DB"/>
                          </a:solidFill>
                          <a:latin typeface="Calibri"/>
                        </a:rPr>
                        <a:t>The model resumes mid-thread, not from zero</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r>
              <a:tr h="594360">
                <a:tc>
                  <a:txBody>
                    <a:bodyPr wrap="square"/>
                    <a:lstStyle/>
                    <a:p>
                      <a:pPr algn="l">
                        <a:lnSpc>
                          <a:spcPct val="108000"/>
                        </a:lnSpc>
                        <a:spcAft>
                          <a:spcPts val="200"/>
                        </a:spcAft>
                      </a:pPr>
                      <a:r>
                        <a:rPr sz="1250" b="1" i="0">
                          <a:solidFill>
                            <a:srgbClr val="F5F5F0"/>
                          </a:solidFill>
                          <a:latin typeface="Calibri"/>
                        </a:rPr>
                        <a:t>_graph.md</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250" b="0" i="0">
                          <a:solidFill>
                            <a:srgbClr val="D1D5DB"/>
                          </a:solidFill>
                          <a:latin typeface="Calibri"/>
                        </a:rPr>
                        <a:t>Dependency map: 1,926 edges linking each thesis to sectors, peers and evidence.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250" b="0" i="0">
                          <a:solidFill>
                            <a:srgbClr val="D1D5DB"/>
                          </a:solidFill>
                          <a:latin typeface="Calibri"/>
                        </a:rPr>
                        <a:t>Knows which five files matter, instead of re-reading 97</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r>
              <a:tr h="594360">
                <a:tc>
                  <a:txBody>
                    <a:bodyPr wrap="square"/>
                    <a:lstStyle/>
                    <a:p>
                      <a:pPr algn="l">
                        <a:lnSpc>
                          <a:spcPct val="108000"/>
                        </a:lnSpc>
                        <a:spcAft>
                          <a:spcPts val="200"/>
                        </a:spcAft>
                      </a:pPr>
                      <a:r>
                        <a:rPr sz="1250" b="1" i="0">
                          <a:solidFill>
                            <a:srgbClr val="F5F5F0"/>
                          </a:solidFill>
                          <a:latin typeface="Calibri"/>
                        </a:rPr>
                        <a:t>_followups.md</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250" b="0" i="0">
                          <a:solidFill>
                            <a:srgbClr val="D1D5DB"/>
                          </a:solidFill>
                          <a:latin typeface="Calibri"/>
                        </a:rPr>
                        <a:t>Findings that demand action: stress-test flags, fired triggers.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250" b="0" i="0">
                          <a:solidFill>
                            <a:srgbClr val="D1D5DB"/>
                          </a:solidFill>
                          <a:latin typeface="Calibri"/>
                        </a:rPr>
                        <a:t>Nothing auto-forgets; entries leave only when resolved</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r>
              <a:tr h="594360">
                <a:tc>
                  <a:txBody>
                    <a:bodyPr wrap="square"/>
                    <a:lstStyle/>
                    <a:p>
                      <a:pPr algn="l">
                        <a:lnSpc>
                          <a:spcPct val="108000"/>
                        </a:lnSpc>
                        <a:spcAft>
                          <a:spcPts val="200"/>
                        </a:spcAft>
                      </a:pPr>
                      <a:r>
                        <a:rPr sz="1250" b="1" i="0">
                          <a:solidFill>
                            <a:srgbClr val="F5F5F0"/>
                          </a:solidFill>
                          <a:latin typeface="Calibri"/>
                        </a:rPr>
                        <a:t>Mental Models/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250" b="0" i="0">
                          <a:solidFill>
                            <a:srgbClr val="D1D5DB"/>
                          </a:solidFill>
                          <a:latin typeface="Calibri"/>
                        </a:rPr>
                        <a:t>The strategy's codified lenses: generalist frames, industry models, cross-sector lenses.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250" b="0" i="0">
                          <a:solidFill>
                            <a:srgbClr val="D1D5DB"/>
                          </a:solidFill>
                          <a:latin typeface="Calibri"/>
                        </a:rPr>
                        <a:t>The house edge applied on every pass, not when we remember</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r>
            </a:tbl>
          </a:graphicData>
        </a:graphic>
      </p:graphicFrame>
      <p:sp>
        <p:nvSpPr>
          <p:cNvPr id="6" name="TextBox 5"/>
          <p:cNvSpPr txBox="1"/>
          <p:nvPr/>
        </p:nvSpPr>
        <p:spPr>
          <a:xfrm>
            <a:off x="548640" y="5394960"/>
            <a:ext cx="11064240" cy="1005840"/>
          </a:xfrm>
          <a:prstGeom prst="rect">
            <a:avLst/>
          </a:prstGeom>
          <a:noFill/>
        </p:spPr>
        <p:txBody>
          <a:bodyPr wrap="square" lIns="45720" rIns="45720" anchor="t">
            <a:noAutofit/>
          </a:bodyPr>
          <a:lstStyle/>
          <a:p>
            <a:pPr algn="l">
              <a:lnSpc>
                <a:spcPct val="112000"/>
              </a:lnSpc>
              <a:spcAft>
                <a:spcPts val="400"/>
              </a:spcAft>
            </a:pPr>
            <a:r>
              <a:rPr sz="1350" b="0" i="0">
                <a:solidFill>
                  <a:srgbClr val="D1D5DB"/>
                </a:solidFill>
                <a:latin typeface="Calibri"/>
              </a:rPr>
              <a:t>The mental models are read before any analysis, as lenses and questions, never conclusions. When every lens likes the same name, that is the cue to argue the other side. Learn a mechanism once, write it in, and it shapes everything analysed after.</a:t>
            </a:r>
          </a:p>
        </p:txBody>
      </p:sp>
      <p:sp>
        <p:nvSpPr>
          <p:cNvPr id="7" name="footer"/>
          <p:cNvSpPr txBox="1"/>
          <p:nvPr/>
        </p:nvSpPr>
        <p:spPr>
          <a:xfrm>
            <a:off x="548640" y="6446520"/>
            <a:ext cx="7772400" cy="274320"/>
          </a:xfrm>
          <a:prstGeom prst="rect">
            <a:avLst/>
          </a:prstGeom>
          <a:noFill/>
        </p:spPr>
        <p:txBody>
          <a:bodyPr wrap="square" lIns="45720" rIns="45720" anchor="t">
            <a:noAutofit/>
          </a:bodyPr>
          <a:lstStyle/>
          <a:p>
            <a:pPr algn="l">
              <a:lnSpc>
                <a:spcPct val="112000"/>
              </a:lnSpc>
              <a:spcAft>
                <a:spcPts val="400"/>
              </a:spcAft>
            </a:pPr>
            <a:r>
              <a:rPr sz="900" b="0" i="0">
                <a:solidFill>
                  <a:srgbClr val="6B7280"/>
                </a:solidFill>
                <a:latin typeface="Calibri"/>
              </a:rPr>
              <a:t>Laniakea Partners · A Second Brain for Investing · August 2026  ·  Part 3</a:t>
            </a:r>
          </a:p>
        </p:txBody>
      </p:sp>
      <p:sp>
        <p:nvSpPr>
          <p:cNvPr id="8" name="footer"/>
          <p:cNvSpPr txBox="1"/>
          <p:nvPr/>
        </p:nvSpPr>
        <p:spPr>
          <a:xfrm>
            <a:off x="10332720" y="6446520"/>
            <a:ext cx="1325880" cy="274320"/>
          </a:xfrm>
          <a:prstGeom prst="rect">
            <a:avLst/>
          </a:prstGeom>
          <a:noFill/>
        </p:spPr>
        <p:txBody>
          <a:bodyPr wrap="square" lIns="45720" rIns="45720" anchor="t">
            <a:noAutofit/>
          </a:bodyPr>
          <a:lstStyle/>
          <a:p>
            <a:pPr algn="r">
              <a:lnSpc>
                <a:spcPct val="112000"/>
              </a:lnSpc>
              <a:spcAft>
                <a:spcPts val="400"/>
              </a:spcAft>
            </a:pPr>
            <a:r>
              <a:rPr sz="900" b="0" i="0">
                <a:solidFill>
                  <a:srgbClr val="6B7280"/>
                </a:solidFill>
                <a:latin typeface="Calibri"/>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548640" y="292608"/>
            <a:ext cx="10972800" cy="320040"/>
          </a:xfrm>
          <a:prstGeom prst="rect">
            <a:avLst/>
          </a:prstGeom>
          <a:noFill/>
        </p:spPr>
        <p:txBody>
          <a:bodyPr wrap="square" lIns="45720" rIns="45720" anchor="t">
            <a:noAutofit/>
          </a:bodyPr>
          <a:lstStyle/>
          <a:p>
            <a:pPr algn="l">
              <a:lnSpc>
                <a:spcPct val="112000"/>
              </a:lnSpc>
              <a:spcAft>
                <a:spcPts val="400"/>
              </a:spcAft>
            </a:pPr>
            <a:r>
              <a:rPr sz="1100" b="1" i="0">
                <a:solidFill>
                  <a:srgbClr val="22D3EE"/>
                </a:solidFill>
                <a:latin typeface="Calibri"/>
              </a:rPr>
              <a:t>PART 3 · INSIDE A SECOND BRAIN</a:t>
            </a:r>
          </a:p>
        </p:txBody>
      </p:sp>
      <p:sp>
        <p:nvSpPr>
          <p:cNvPr id="3" name="TextBox 2"/>
          <p:cNvSpPr txBox="1"/>
          <p:nvPr/>
        </p:nvSpPr>
        <p:spPr>
          <a:xfrm>
            <a:off x="548640" y="566928"/>
            <a:ext cx="11064240" cy="868680"/>
          </a:xfrm>
          <a:prstGeom prst="rect">
            <a:avLst/>
          </a:prstGeom>
          <a:noFill/>
        </p:spPr>
        <p:txBody>
          <a:bodyPr wrap="square" lIns="45720" rIns="45720" anchor="t">
            <a:noAutofit/>
          </a:bodyPr>
          <a:lstStyle/>
          <a:p>
            <a:pPr algn="l">
              <a:lnSpc>
                <a:spcPct val="100000"/>
              </a:lnSpc>
              <a:spcAft>
                <a:spcPts val="400"/>
              </a:spcAft>
            </a:pPr>
            <a:r>
              <a:rPr sz="2800" b="0" i="0">
                <a:solidFill>
                  <a:srgbClr val="F5F5F0"/>
                </a:solidFill>
                <a:latin typeface="Georgia"/>
              </a:rPr>
              <a:t>Templates and skills: judgement into procedure</a:t>
            </a:r>
          </a:p>
        </p:txBody>
      </p:sp>
      <p:cxnSp>
        <p:nvCxnSpPr>
          <p:cNvPr id="4" name="Connector 3"/>
          <p:cNvCxnSpPr/>
          <p:nvPr/>
        </p:nvCxnSpPr>
        <p:spPr>
          <a:xfrm>
            <a:off x="594360" y="1389888"/>
            <a:ext cx="914400" cy="0"/>
          </a:xfrm>
          <a:prstGeom prst="line">
            <a:avLst/>
          </a:prstGeom>
          <a:ln w="31750">
            <a:solidFill>
              <a:srgbClr val="0891B2"/>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1645920"/>
            <a:ext cx="5440680" cy="3931920"/>
          </a:xfrm>
          <a:prstGeom prst="roundRect">
            <a:avLst>
              <a:gd name="adj" fmla="val 12000"/>
            </a:avLst>
          </a:prstGeom>
          <a:solidFill>
            <a:srgbClr val="1B2027"/>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6809" bIns="76809" wrap="square">
            <a:noAutofit/>
          </a:bodyPr>
          <a:lstStyle/>
          <a:p>
            <a:pPr algn="l">
              <a:lnSpc>
                <a:spcPct val="110000"/>
              </a:lnSpc>
              <a:spcAft>
                <a:spcPts val="800"/>
              </a:spcAft>
            </a:pPr>
            <a:r>
              <a:rPr sz="1450" b="1" i="0">
                <a:solidFill>
                  <a:srgbClr val="22D3EE"/>
                </a:solidFill>
                <a:latin typeface="Calibri"/>
              </a:rPr>
              <a:t>Templates fix the anatomy of an argument</a:t>
            </a:r>
          </a:p>
          <a:p>
            <a:pPr algn="l" marL="219456" indent="-182880">
              <a:lnSpc>
                <a:spcPct val="110000"/>
              </a:lnSpc>
              <a:spcAft>
                <a:spcPts val="600"/>
              </a:spcAft>
              <a:buClr>
                <a:srgbClr val="22D3EE"/>
              </a:buClr>
              <a:buFont typeface="Arial"/>
              <a:buChar char="•"/>
            </a:pPr>
            <a:r>
              <a:rPr sz="1250" b="1" i="0">
                <a:solidFill>
                  <a:srgbClr val="F5F5F0"/>
                </a:solidFill>
                <a:latin typeface="Calibri"/>
              </a:rPr>
              <a:t>Thesis: 15 fixed sections, one per ticker.  </a:t>
            </a:r>
            <a:r>
              <a:rPr sz="1250" b="0" i="0">
                <a:solidFill>
                  <a:srgbClr val="D1D5DB"/>
                </a:solidFill>
                <a:latin typeface="Calibri"/>
              </a:rPr>
              <a:t>Each non-consensus insight must name the consensus it disputes, the observable that would confirm it and the datapoint that would falsify it</a:t>
            </a:r>
          </a:p>
          <a:p>
            <a:pPr algn="l" marL="219456" indent="-182880">
              <a:lnSpc>
                <a:spcPct val="110000"/>
              </a:lnSpc>
              <a:spcAft>
                <a:spcPts val="600"/>
              </a:spcAft>
              <a:buClr>
                <a:srgbClr val="22D3EE"/>
              </a:buClr>
              <a:buFont typeface="Arial"/>
              <a:buChar char="•"/>
            </a:pPr>
            <a:r>
              <a:rPr sz="1250" b="1" i="0">
                <a:solidFill>
                  <a:srgbClr val="F5F5F0"/>
                </a:solidFill>
                <a:latin typeface="Calibri"/>
              </a:rPr>
              <a:t>Conviction triggers  </a:t>
            </a:r>
            <a:r>
              <a:rPr sz="1250" b="0" i="0">
                <a:solidFill>
                  <a:srgbClr val="D1D5DB"/>
                </a:solidFill>
                <a:latin typeface="Calibri"/>
              </a:rPr>
              <a:t>→ HIGH if · → LOW if · → CLOSE if, written before we hold a settled view</a:t>
            </a:r>
          </a:p>
          <a:p>
            <a:pPr algn="l" marL="219456" indent="-182880">
              <a:lnSpc>
                <a:spcPct val="110000"/>
              </a:lnSpc>
              <a:spcAft>
                <a:spcPts val="600"/>
              </a:spcAft>
              <a:buClr>
                <a:srgbClr val="22D3EE"/>
              </a:buClr>
              <a:buFont typeface="Arial"/>
              <a:buChar char="•"/>
            </a:pPr>
            <a:r>
              <a:rPr sz="1250" b="1" i="0">
                <a:solidFill>
                  <a:srgbClr val="F5F5F0"/>
                </a:solidFill>
                <a:latin typeface="Calibri"/>
              </a:rPr>
              <a:t>Log  </a:t>
            </a:r>
            <a:r>
              <a:rPr sz="1250" b="0" i="0">
                <a:solidFill>
                  <a:srgbClr val="D1D5DB"/>
                </a:solidFill>
                <a:latin typeface="Calibri"/>
              </a:rPr>
              <a:t>append-only, dated, two lines per entry</a:t>
            </a:r>
          </a:p>
          <a:p>
            <a:pPr algn="l" marL="219456" indent="-182880">
              <a:lnSpc>
                <a:spcPct val="110000"/>
              </a:lnSpc>
              <a:spcAft>
                <a:spcPts val="300"/>
              </a:spcAft>
              <a:buClr>
                <a:srgbClr val="22D3EE"/>
              </a:buClr>
              <a:buFont typeface="Arial"/>
              <a:buChar char="•"/>
            </a:pPr>
            <a:r>
              <a:rPr sz="1250" b="1" i="0">
                <a:solidFill>
                  <a:srgbClr val="F5F5F0"/>
                </a:solidFill>
                <a:latin typeface="Calibri"/>
              </a:rPr>
              <a:t>Research note: 4 sections.  </a:t>
            </a:r>
            <a:r>
              <a:rPr sz="1250" b="0" i="0">
                <a:solidFill>
                  <a:srgbClr val="D1D5DB"/>
                </a:solidFill>
                <a:latin typeface="Calibri"/>
              </a:rPr>
              <a:t>Thesis Delta first, Contradiction Check mandatory, source locked at creation</a:t>
            </a:r>
          </a:p>
        </p:txBody>
      </p:sp>
      <p:sp>
        <p:nvSpPr>
          <p:cNvPr id="6" name="Rounded Rectangle 5"/>
          <p:cNvSpPr/>
          <p:nvPr/>
        </p:nvSpPr>
        <p:spPr>
          <a:xfrm>
            <a:off x="6172200" y="1645920"/>
            <a:ext cx="5440680" cy="3931920"/>
          </a:xfrm>
          <a:prstGeom prst="roundRect">
            <a:avLst>
              <a:gd name="adj" fmla="val 12000"/>
            </a:avLst>
          </a:prstGeom>
          <a:solidFill>
            <a:srgbClr val="232932"/>
          </a:solidFill>
          <a:ln w="12700">
            <a:solidFill>
              <a:srgbClr val="0891B2"/>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6809" bIns="76809" wrap="square">
            <a:noAutofit/>
          </a:bodyPr>
          <a:lstStyle/>
          <a:p>
            <a:pPr algn="l">
              <a:lnSpc>
                <a:spcPct val="110000"/>
              </a:lnSpc>
              <a:spcAft>
                <a:spcPts val="800"/>
              </a:spcAft>
            </a:pPr>
            <a:r>
              <a:rPr sz="1450" b="1" i="0">
                <a:solidFill>
                  <a:srgbClr val="22D3EE"/>
                </a:solidFill>
                <a:latin typeface="Calibri"/>
              </a:rPr>
              <a:t>Skills are specifications, not prompts</a:t>
            </a:r>
          </a:p>
          <a:p>
            <a:pPr algn="l" marL="219456" indent="-182880">
              <a:lnSpc>
                <a:spcPct val="110000"/>
              </a:lnSpc>
              <a:spcAft>
                <a:spcPts val="600"/>
              </a:spcAft>
              <a:buClr>
                <a:srgbClr val="22D3EE"/>
              </a:buClr>
              <a:buFont typeface="Arial"/>
              <a:buChar char="•"/>
            </a:pPr>
            <a:r>
              <a:rPr sz="1250" b="0" i="0">
                <a:solidFill>
                  <a:srgbClr val="D1D5DB"/>
                </a:solidFill>
                <a:latin typeface="Calibri"/>
              </a:rPr>
              <a:t>Pre-flight checks → method → write discipline → a report of every file touched</a:t>
            </a:r>
          </a:p>
          <a:p>
            <a:pPr algn="l" marL="219456" indent="-182880">
              <a:lnSpc>
                <a:spcPct val="110000"/>
              </a:lnSpc>
              <a:spcAft>
                <a:spcPts val="600"/>
              </a:spcAft>
              <a:buClr>
                <a:srgbClr val="22D3EE"/>
              </a:buClr>
              <a:buFont typeface="Arial"/>
              <a:buChar char="•"/>
            </a:pPr>
            <a:r>
              <a:rPr sz="1250" b="0" i="0">
                <a:solidFill>
                  <a:srgbClr val="D1D5DB"/>
                </a:solidFill>
                <a:latin typeface="Calibri"/>
              </a:rPr>
              <a:t>27 skills: the core loop, building, analytical, diagnostic and publishing families</a:t>
            </a:r>
          </a:p>
          <a:p>
            <a:pPr algn="l" marL="219456" indent="-182880">
              <a:lnSpc>
                <a:spcPct val="110000"/>
              </a:lnSpc>
              <a:spcAft>
                <a:spcPts val="600"/>
              </a:spcAft>
              <a:buClr>
                <a:srgbClr val="22D3EE"/>
              </a:buClr>
              <a:buFont typeface="Arial"/>
              <a:buChar char="•"/>
            </a:pPr>
            <a:r>
              <a:rPr sz="1250" b="0" i="0">
                <a:solidFill>
                  <a:srgbClr val="D1D5DB"/>
                </a:solidFill>
                <a:latin typeface="Calibri"/>
              </a:rPr>
              <a:t>Same command, same shape of output, whatever the model's mood; plain text you can open and read</a:t>
            </a:r>
          </a:p>
          <a:p>
            <a:pPr algn="l" marL="219456" indent="-182880">
              <a:lnSpc>
                <a:spcPct val="110000"/>
              </a:lnSpc>
              <a:spcAft>
                <a:spcPts val="300"/>
              </a:spcAft>
              <a:buClr>
                <a:srgbClr val="22D3EE"/>
              </a:buClr>
              <a:buFont typeface="Arial"/>
              <a:buChar char="•"/>
            </a:pPr>
            <a:r>
              <a:rPr sz="1250" b="0" i="0">
                <a:solidFill>
                  <a:srgbClr val="D1D5DB"/>
                </a:solidFill>
                <a:latin typeface="Calibri"/>
              </a:rPr>
              <a:t>8 workflows fan one skill across every thesis at once; findings are attacked by sceptic agents before we see them; none may touch a conviction</a:t>
            </a:r>
          </a:p>
        </p:txBody>
      </p:sp>
      <p:sp>
        <p:nvSpPr>
          <p:cNvPr id="7" name="TextBox 6"/>
          <p:cNvSpPr txBox="1"/>
          <p:nvPr/>
        </p:nvSpPr>
        <p:spPr>
          <a:xfrm>
            <a:off x="548640" y="5760720"/>
            <a:ext cx="11064240" cy="640080"/>
          </a:xfrm>
          <a:prstGeom prst="rect">
            <a:avLst/>
          </a:prstGeom>
          <a:noFill/>
        </p:spPr>
        <p:txBody>
          <a:bodyPr wrap="square" lIns="45720" rIns="45720" anchor="t">
            <a:noAutofit/>
          </a:bodyPr>
          <a:lstStyle/>
          <a:p>
            <a:pPr algn="l">
              <a:lnSpc>
                <a:spcPct val="112000"/>
              </a:lnSpc>
              <a:spcAft>
                <a:spcPts val="400"/>
              </a:spcAft>
            </a:pPr>
            <a:r>
              <a:rPr sz="1350" b="0" i="1">
                <a:solidFill>
                  <a:srgbClr val="22D3EE"/>
                </a:solidFill>
                <a:latin typeface="Calibri"/>
              </a:rPr>
              <a:t>The machine cannot produce a thesis without a bear case, because the bear case is a section. 97 identical skeletons can be diffed; 97 bespoke documents cannot.</a:t>
            </a:r>
          </a:p>
        </p:txBody>
      </p:sp>
      <p:sp>
        <p:nvSpPr>
          <p:cNvPr id="8" name="footer"/>
          <p:cNvSpPr txBox="1"/>
          <p:nvPr/>
        </p:nvSpPr>
        <p:spPr>
          <a:xfrm>
            <a:off x="548640" y="6446520"/>
            <a:ext cx="7772400" cy="274320"/>
          </a:xfrm>
          <a:prstGeom prst="rect">
            <a:avLst/>
          </a:prstGeom>
          <a:noFill/>
        </p:spPr>
        <p:txBody>
          <a:bodyPr wrap="square" lIns="45720" rIns="45720" anchor="t">
            <a:noAutofit/>
          </a:bodyPr>
          <a:lstStyle/>
          <a:p>
            <a:pPr algn="l">
              <a:lnSpc>
                <a:spcPct val="112000"/>
              </a:lnSpc>
              <a:spcAft>
                <a:spcPts val="400"/>
              </a:spcAft>
            </a:pPr>
            <a:r>
              <a:rPr sz="900" b="0" i="0">
                <a:solidFill>
                  <a:srgbClr val="6B7280"/>
                </a:solidFill>
                <a:latin typeface="Calibri"/>
              </a:rPr>
              <a:t>Laniakea Partners · A Second Brain for Investing · August 2026  ·  Part 3</a:t>
            </a:r>
          </a:p>
        </p:txBody>
      </p:sp>
      <p:sp>
        <p:nvSpPr>
          <p:cNvPr id="9" name="footer"/>
          <p:cNvSpPr txBox="1"/>
          <p:nvPr/>
        </p:nvSpPr>
        <p:spPr>
          <a:xfrm>
            <a:off x="10332720" y="6446520"/>
            <a:ext cx="1325880" cy="274320"/>
          </a:xfrm>
          <a:prstGeom prst="rect">
            <a:avLst/>
          </a:prstGeom>
          <a:noFill/>
        </p:spPr>
        <p:txBody>
          <a:bodyPr wrap="square" lIns="45720" rIns="45720" anchor="t">
            <a:noAutofit/>
          </a:bodyPr>
          <a:lstStyle/>
          <a:p>
            <a:pPr algn="r">
              <a:lnSpc>
                <a:spcPct val="112000"/>
              </a:lnSpc>
              <a:spcAft>
                <a:spcPts val="400"/>
              </a:spcAft>
            </a:pPr>
            <a:r>
              <a:rPr sz="900" b="0" i="0">
                <a:solidFill>
                  <a:srgbClr val="6B7280"/>
                </a:solidFill>
                <a:latin typeface="Calibri"/>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548640" y="292608"/>
            <a:ext cx="10972800" cy="320040"/>
          </a:xfrm>
          <a:prstGeom prst="rect">
            <a:avLst/>
          </a:prstGeom>
          <a:noFill/>
        </p:spPr>
        <p:txBody>
          <a:bodyPr wrap="square" lIns="45720" rIns="45720" anchor="t">
            <a:noAutofit/>
          </a:bodyPr>
          <a:lstStyle/>
          <a:p>
            <a:pPr algn="l">
              <a:lnSpc>
                <a:spcPct val="112000"/>
              </a:lnSpc>
              <a:spcAft>
                <a:spcPts val="400"/>
              </a:spcAft>
            </a:pPr>
            <a:r>
              <a:rPr sz="1100" b="1" i="0">
                <a:solidFill>
                  <a:srgbClr val="22D3EE"/>
                </a:solidFill>
                <a:latin typeface="Calibri"/>
              </a:rPr>
              <a:t>PART 3 · INSIDE A SECOND BRAIN</a:t>
            </a:r>
          </a:p>
        </p:txBody>
      </p:sp>
      <p:sp>
        <p:nvSpPr>
          <p:cNvPr id="3" name="TextBox 2"/>
          <p:cNvSpPr txBox="1"/>
          <p:nvPr/>
        </p:nvSpPr>
        <p:spPr>
          <a:xfrm>
            <a:off x="548640" y="566928"/>
            <a:ext cx="11064240" cy="868680"/>
          </a:xfrm>
          <a:prstGeom prst="rect">
            <a:avLst/>
          </a:prstGeom>
          <a:noFill/>
        </p:spPr>
        <p:txBody>
          <a:bodyPr wrap="square" lIns="45720" rIns="45720" anchor="t">
            <a:noAutofit/>
          </a:bodyPr>
          <a:lstStyle/>
          <a:p>
            <a:pPr algn="l">
              <a:lnSpc>
                <a:spcPct val="100000"/>
              </a:lnSpc>
              <a:spcAft>
                <a:spcPts val="400"/>
              </a:spcAft>
            </a:pPr>
            <a:r>
              <a:rPr sz="2800" b="0" i="0">
                <a:solidFill>
                  <a:srgbClr val="F5F5F0"/>
                </a:solidFill>
                <a:latin typeface="Georgia"/>
              </a:rPr>
              <a:t>The most powerful skills</a:t>
            </a:r>
          </a:p>
        </p:txBody>
      </p:sp>
      <p:cxnSp>
        <p:nvCxnSpPr>
          <p:cNvPr id="4" name="Connector 3"/>
          <p:cNvCxnSpPr/>
          <p:nvPr/>
        </p:nvCxnSpPr>
        <p:spPr>
          <a:xfrm>
            <a:off x="594360" y="1389888"/>
            <a:ext cx="914400" cy="0"/>
          </a:xfrm>
          <a:prstGeom prst="line">
            <a:avLst/>
          </a:prstGeom>
          <a:ln w="31750">
            <a:solidFill>
              <a:srgbClr val="0891B2"/>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548640" y="1600200"/>
          <a:ext cx="11064240" cy="4206231"/>
        </p:xfrm>
        <a:graphic>
          <a:graphicData uri="http://schemas.openxmlformats.org/drawingml/2006/table">
            <a:tbl>
              <a:tblPr firstRow="1">
                <a:tableStyleId>{5C22544A-7EE6-4342-B048-85BDC9FD1C3A}</a:tableStyleId>
              </a:tblPr>
              <a:tblGrid>
                <a:gridCol w="1645920"/>
                <a:gridCol w="5577840"/>
                <a:gridCol w="3840480"/>
              </a:tblGrid>
              <a:tr h="467359">
                <a:tc>
                  <a:txBody>
                    <a:bodyPr wrap="square"/>
                    <a:lstStyle/>
                    <a:p>
                      <a:pPr algn="l">
                        <a:lnSpc>
                          <a:spcPct val="108000"/>
                        </a:lnSpc>
                        <a:spcAft>
                          <a:spcPts val="200"/>
                        </a:spcAft>
                      </a:pPr>
                      <a:r>
                        <a:rPr sz="1100" b="1" i="0">
                          <a:solidFill>
                            <a:srgbClr val="FFFFFF"/>
                          </a:solidFill>
                          <a:latin typeface="Calibri"/>
                        </a:rPr>
                        <a:t>Skill</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0E4F63"/>
                    </a:solidFill>
                  </a:tcPr>
                </a:tc>
                <a:tc>
                  <a:txBody>
                    <a:bodyPr wrap="square"/>
                    <a:lstStyle/>
                    <a:p>
                      <a:pPr algn="l">
                        <a:lnSpc>
                          <a:spcPct val="108000"/>
                        </a:lnSpc>
                        <a:spcAft>
                          <a:spcPts val="200"/>
                        </a:spcAft>
                      </a:pPr>
                      <a:r>
                        <a:rPr sz="1100" b="1" i="0">
                          <a:solidFill>
                            <a:srgbClr val="FFFFFF"/>
                          </a:solidFill>
                          <a:latin typeface="Calibri"/>
                        </a:rPr>
                        <a:t>What it does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0E4F63"/>
                    </a:solidFill>
                  </a:tcPr>
                </a:tc>
                <a:tc>
                  <a:txBody>
                    <a:bodyPr wrap="square"/>
                    <a:lstStyle/>
                    <a:p>
                      <a:pPr algn="l">
                        <a:lnSpc>
                          <a:spcPct val="108000"/>
                        </a:lnSpc>
                        <a:spcAft>
                          <a:spcPts val="200"/>
                        </a:spcAft>
                      </a:pPr>
                      <a:r>
                        <a:rPr sz="1100" b="1" i="0">
                          <a:solidFill>
                            <a:srgbClr val="FFFFFF"/>
                          </a:solidFill>
                          <a:latin typeface="Calibri"/>
                        </a:rPr>
                        <a:t>From the book</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0E4F63"/>
                    </a:solidFill>
                  </a:tcPr>
                </a:tc>
              </a:tr>
              <a:tr h="467359">
                <a:tc>
                  <a:txBody>
                    <a:bodyPr wrap="square"/>
                    <a:lstStyle/>
                    <a:p>
                      <a:pPr algn="l">
                        <a:lnSpc>
                          <a:spcPct val="108000"/>
                        </a:lnSpc>
                        <a:spcAft>
                          <a:spcPts val="200"/>
                        </a:spcAft>
                      </a:pPr>
                      <a:r>
                        <a:rPr sz="1100" b="1" i="0">
                          <a:solidFill>
                            <a:srgbClr val="F5F5F0"/>
                          </a:solidFill>
                          <a:latin typeface="Calibri"/>
                        </a:rPr>
                        <a:t>/ingest → /sync</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100" b="0" i="0">
                          <a:solidFill>
                            <a:srgbClr val="D1D5DB"/>
                          </a:solidFill>
                          <a:latin typeface="Calibri"/>
                        </a:rPr>
                        <a:t>Turns any source into a research note that leads with the thesis delta, then fans it into every affected thesis, sector and macro note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100" b="0" i="0">
                          <a:solidFill>
                            <a:srgbClr val="D1D5DB"/>
                          </a:solidFill>
                          <a:latin typeface="Calibri"/>
                        </a:rPr>
                        <a:t>21 Aug: one deep-dive, four theses updated in one pass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r>
              <a:tr h="467359">
                <a:tc>
                  <a:txBody>
                    <a:bodyPr wrap="square"/>
                    <a:lstStyle/>
                    <a:p>
                      <a:pPr algn="l">
                        <a:lnSpc>
                          <a:spcPct val="108000"/>
                        </a:lnSpc>
                        <a:spcAft>
                          <a:spcPts val="200"/>
                        </a:spcAft>
                      </a:pPr>
                      <a:r>
                        <a:rPr sz="1100" b="1" i="0">
                          <a:solidFill>
                            <a:srgbClr val="F5F5F0"/>
                          </a:solidFill>
                          <a:latin typeface="Calibri"/>
                        </a:rPr>
                        <a:t>/stress-test</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100" b="0" i="0">
                          <a:solidFill>
                            <a:srgbClr val="D1D5DB"/>
                          </a:solidFill>
                          <a:latin typeface="Calibri"/>
                        </a:rPr>
                        <a:t>A short-seller pass on one thesis; reads our objections first; idiosyncratic risk before sector risk</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100" b="0" i="0">
                          <a:solidFill>
                            <a:srgbClr val="D1D5DB"/>
                          </a:solidFill>
                          <a:latin typeface="Calibri"/>
                        </a:rPr>
                        <a:t>Cloudflare, 10 Jul: high → medium the next day</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r>
              <a:tr h="467359">
                <a:tc>
                  <a:txBody>
                    <a:bodyPr wrap="square"/>
                    <a:lstStyle/>
                    <a:p>
                      <a:pPr algn="l">
                        <a:lnSpc>
                          <a:spcPct val="108000"/>
                        </a:lnSpc>
                        <a:spcAft>
                          <a:spcPts val="200"/>
                        </a:spcAft>
                      </a:pPr>
                      <a:r>
                        <a:rPr sz="1100" b="1" i="0">
                          <a:solidFill>
                            <a:srgbClr val="F5F5F0"/>
                          </a:solidFill>
                          <a:latin typeface="Calibri"/>
                        </a:rPr>
                        <a:t>/scenario</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100" b="0" i="0">
                          <a:solidFill>
                            <a:srgbClr val="D1D5DB"/>
                          </a:solidFill>
                          <a:latin typeface="Calibri"/>
                        </a:rPr>
                        <a:t>A hypothetical traced through the whole book: transmission channels, winners, losers, theses missing a line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100" b="0" i="0">
                          <a:solidFill>
                            <a:srgbClr val="D1D5DB"/>
                          </a:solidFill>
                          <a:latin typeface="Calibri"/>
                        </a:rPr>
                        <a:t>Iran ground invasion, 23 Apr: 11 major impacts named</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r>
              <a:tr h="467359">
                <a:tc>
                  <a:txBody>
                    <a:bodyPr wrap="square"/>
                    <a:lstStyle/>
                    <a:p>
                      <a:pPr algn="l">
                        <a:lnSpc>
                          <a:spcPct val="108000"/>
                        </a:lnSpc>
                        <a:spcAft>
                          <a:spcPts val="200"/>
                        </a:spcAft>
                      </a:pPr>
                      <a:r>
                        <a:rPr sz="1100" b="1" i="0">
                          <a:solidFill>
                            <a:srgbClr val="F5F5F0"/>
                          </a:solidFill>
                          <a:latin typeface="Calibri"/>
                        </a:rPr>
                        <a:t>/transcript</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100" b="0" i="0">
                          <a:solidFill>
                            <a:srgbClr val="D1D5DB"/>
                          </a:solidFill>
                          <a:latin typeface="Calibri"/>
                        </a:rPr>
                        <a:t>Diffs an earnings call against the thesis: what moved, hedging shifts, tone of the Q&amp;A</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100" b="0" i="0">
                          <a:solidFill>
                            <a:srgbClr val="D1D5DB"/>
                          </a:solidFill>
                          <a:latin typeface="Calibri"/>
                        </a:rPr>
                        <a:t>Six holdings, 29 May: three headline numbers corrected</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r>
              <a:tr h="467359">
                <a:tc>
                  <a:txBody>
                    <a:bodyPr wrap="square"/>
                    <a:lstStyle/>
                    <a:p>
                      <a:pPr algn="l">
                        <a:lnSpc>
                          <a:spcPct val="108000"/>
                        </a:lnSpc>
                        <a:spcAft>
                          <a:spcPts val="200"/>
                        </a:spcAft>
                      </a:pPr>
                      <a:r>
                        <a:rPr sz="1100" b="1" i="0">
                          <a:solidFill>
                            <a:srgbClr val="F5F5F0"/>
                          </a:solidFill>
                          <a:latin typeface="Calibri"/>
                        </a:rPr>
                        <a:t>/compare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100" b="0" i="0">
                          <a:solidFill>
                            <a:srgbClr val="D1D5DB"/>
                          </a:solidFill>
                          <a:latin typeface="Calibri"/>
                        </a:rPr>
                        <a:t>Two names side by side on shared adjacency: pricing power, balance sheet, the forced choice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100" b="0" i="0">
                          <a:solidFill>
                            <a:srgbClr val="D1D5DB"/>
                          </a:solidFill>
                          <a:latin typeface="Calibri"/>
                        </a:rPr>
                        <a:t>NBIS vs CRWV, 4 Aug: better balance sheet vs better operating machine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r>
              <a:tr h="467359">
                <a:tc>
                  <a:txBody>
                    <a:bodyPr wrap="square"/>
                    <a:lstStyle/>
                    <a:p>
                      <a:pPr algn="l">
                        <a:lnSpc>
                          <a:spcPct val="108000"/>
                        </a:lnSpc>
                        <a:spcAft>
                          <a:spcPts val="200"/>
                        </a:spcAft>
                      </a:pPr>
                      <a:r>
                        <a:rPr sz="1100" b="1" i="0">
                          <a:solidFill>
                            <a:srgbClr val="F5F5F0"/>
                          </a:solidFill>
                          <a:latin typeface="Calibri"/>
                        </a:rPr>
                        <a:t>/surface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100" b="0" i="0">
                          <a:solidFill>
                            <a:srgbClr val="D1D5DB"/>
                          </a:solidFill>
                          <a:latin typeface="Calibri"/>
                        </a:rPr>
                        <a:t>What are we missing: decayed theses, open questions, names held without a thesis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100" b="0" i="0">
                          <a:solidFill>
                            <a:srgbClr val="D1D5DB"/>
                          </a:solidFill>
                          <a:latin typeface="Calibri"/>
                        </a:rPr>
                        <a:t>13 Aug: a live holding with no thesis note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r>
              <a:tr h="467359">
                <a:tc>
                  <a:txBody>
                    <a:bodyPr wrap="square"/>
                    <a:lstStyle/>
                    <a:p>
                      <a:pPr algn="l">
                        <a:lnSpc>
                          <a:spcPct val="108000"/>
                        </a:lnSpc>
                        <a:spcAft>
                          <a:spcPts val="200"/>
                        </a:spcAft>
                      </a:pPr>
                      <a:r>
                        <a:rPr sz="1100" b="1" i="0">
                          <a:solidFill>
                            <a:srgbClr val="F5F5F0"/>
                          </a:solidFill>
                          <a:latin typeface="Calibri"/>
                        </a:rPr>
                        <a:t>/retro</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100" b="0" i="0">
                          <a:solidFill>
                            <a:srgbClr val="D1D5DB"/>
                          </a:solidFill>
                          <a:latin typeface="Calibri"/>
                        </a:rPr>
                        <a:t>The week's research against price action; narrative-price gaps ranked as trade ideas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100" b="0" i="0">
                          <a:solidFill>
                            <a:srgbClr val="D1D5DB"/>
                          </a:solidFill>
                          <a:latin typeface="Calibri"/>
                        </a:rPr>
                        <a:t>24 May: AMD +10% the week the vault turned high; a coverage gap surfaced</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r>
              <a:tr h="467359">
                <a:tc>
                  <a:txBody>
                    <a:bodyPr wrap="square"/>
                    <a:lstStyle/>
                    <a:p>
                      <a:pPr algn="l">
                        <a:lnSpc>
                          <a:spcPct val="108000"/>
                        </a:lnSpc>
                        <a:spcAft>
                          <a:spcPts val="200"/>
                        </a:spcAft>
                      </a:pPr>
                      <a:r>
                        <a:rPr sz="1100" b="1" i="0">
                          <a:solidFill>
                            <a:srgbClr val="F5F5F0"/>
                          </a:solidFill>
                          <a:latin typeface="Calibri"/>
                        </a:rPr>
                        <a:t>/catalyst</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100" b="0" i="0">
                          <a:solidFill>
                            <a:srgbClr val="D1D5DB"/>
                          </a:solidFill>
                          <a:latin typeface="Calibri"/>
                        </a:rPr>
                        <a:t>Every dated event across the book, read jointly</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100" b="0" i="0">
                          <a:solidFill>
                            <a:srgbClr val="D1D5DB"/>
                          </a:solidFill>
                          <a:latin typeface="Calibri"/>
                        </a:rPr>
                        <a:t>26 Jul: 34 earnings in 14 days, treated as one event</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r>
            </a:tbl>
          </a:graphicData>
        </a:graphic>
      </p:graphicFrame>
      <p:sp>
        <p:nvSpPr>
          <p:cNvPr id="6" name="TextBox 5"/>
          <p:cNvSpPr txBox="1"/>
          <p:nvPr/>
        </p:nvSpPr>
        <p:spPr>
          <a:xfrm>
            <a:off x="548640" y="6108192"/>
            <a:ext cx="11064240" cy="365760"/>
          </a:xfrm>
          <a:prstGeom prst="rect">
            <a:avLst/>
          </a:prstGeom>
          <a:noFill/>
        </p:spPr>
        <p:txBody>
          <a:bodyPr wrap="square" lIns="45720" rIns="45720" anchor="t">
            <a:noAutofit/>
          </a:bodyPr>
          <a:lstStyle/>
          <a:p>
            <a:pPr algn="l">
              <a:lnSpc>
                <a:spcPct val="112000"/>
              </a:lnSpc>
              <a:spcAft>
                <a:spcPts val="400"/>
              </a:spcAft>
            </a:pPr>
            <a:r>
              <a:rPr sz="1150" b="0" i="1">
                <a:solidFill>
                  <a:srgbClr val="22D3EE"/>
                </a:solidFill>
                <a:latin typeface="Calibri"/>
              </a:rPr>
              <a:t>Also: /deepen fills one thin section; /brief writes the one-page memo; /status is the human gate on every conviction change.</a:t>
            </a:r>
          </a:p>
        </p:txBody>
      </p:sp>
      <p:sp>
        <p:nvSpPr>
          <p:cNvPr id="7" name="footer"/>
          <p:cNvSpPr txBox="1"/>
          <p:nvPr/>
        </p:nvSpPr>
        <p:spPr>
          <a:xfrm>
            <a:off x="548640" y="6446520"/>
            <a:ext cx="7772400" cy="274320"/>
          </a:xfrm>
          <a:prstGeom prst="rect">
            <a:avLst/>
          </a:prstGeom>
          <a:noFill/>
        </p:spPr>
        <p:txBody>
          <a:bodyPr wrap="square" lIns="45720" rIns="45720" anchor="t">
            <a:noAutofit/>
          </a:bodyPr>
          <a:lstStyle/>
          <a:p>
            <a:pPr algn="l">
              <a:lnSpc>
                <a:spcPct val="112000"/>
              </a:lnSpc>
              <a:spcAft>
                <a:spcPts val="400"/>
              </a:spcAft>
            </a:pPr>
            <a:r>
              <a:rPr sz="900" b="0" i="0">
                <a:solidFill>
                  <a:srgbClr val="6B7280"/>
                </a:solidFill>
                <a:latin typeface="Calibri"/>
              </a:rPr>
              <a:t>Laniakea Partners · A Second Brain for Investing · August 2026  ·  Part 3</a:t>
            </a:r>
          </a:p>
        </p:txBody>
      </p:sp>
      <p:sp>
        <p:nvSpPr>
          <p:cNvPr id="8" name="footer"/>
          <p:cNvSpPr txBox="1"/>
          <p:nvPr/>
        </p:nvSpPr>
        <p:spPr>
          <a:xfrm>
            <a:off x="10332720" y="6446520"/>
            <a:ext cx="1325880" cy="274320"/>
          </a:xfrm>
          <a:prstGeom prst="rect">
            <a:avLst/>
          </a:prstGeom>
          <a:noFill/>
        </p:spPr>
        <p:txBody>
          <a:bodyPr wrap="square" lIns="45720" rIns="45720" anchor="t">
            <a:noAutofit/>
          </a:bodyPr>
          <a:lstStyle/>
          <a:p>
            <a:pPr algn="r">
              <a:lnSpc>
                <a:spcPct val="112000"/>
              </a:lnSpc>
              <a:spcAft>
                <a:spcPts val="400"/>
              </a:spcAft>
            </a:pPr>
            <a:r>
              <a:rPr sz="900" b="0" i="0">
                <a:solidFill>
                  <a:srgbClr val="6B7280"/>
                </a:solidFill>
                <a:latin typeface="Calibri"/>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548640" y="292608"/>
            <a:ext cx="10972800" cy="320040"/>
          </a:xfrm>
          <a:prstGeom prst="rect">
            <a:avLst/>
          </a:prstGeom>
          <a:noFill/>
        </p:spPr>
        <p:txBody>
          <a:bodyPr wrap="square" lIns="45720" rIns="45720" anchor="t">
            <a:noAutofit/>
          </a:bodyPr>
          <a:lstStyle/>
          <a:p>
            <a:pPr algn="l">
              <a:lnSpc>
                <a:spcPct val="112000"/>
              </a:lnSpc>
              <a:spcAft>
                <a:spcPts val="400"/>
              </a:spcAft>
            </a:pPr>
            <a:r>
              <a:rPr sz="1100" b="1" i="0">
                <a:solidFill>
                  <a:srgbClr val="22D3EE"/>
                </a:solidFill>
                <a:latin typeface="Calibri"/>
              </a:rPr>
              <a:t>PART 3 · INSIDE A SECOND BRAIN</a:t>
            </a:r>
          </a:p>
        </p:txBody>
      </p:sp>
      <p:sp>
        <p:nvSpPr>
          <p:cNvPr id="3" name="TextBox 2"/>
          <p:cNvSpPr txBox="1"/>
          <p:nvPr/>
        </p:nvSpPr>
        <p:spPr>
          <a:xfrm>
            <a:off x="548640" y="566928"/>
            <a:ext cx="11064240" cy="868680"/>
          </a:xfrm>
          <a:prstGeom prst="rect">
            <a:avLst/>
          </a:prstGeom>
          <a:noFill/>
        </p:spPr>
        <p:txBody>
          <a:bodyPr wrap="square" lIns="45720" rIns="45720" anchor="t">
            <a:noAutofit/>
          </a:bodyPr>
          <a:lstStyle/>
          <a:p>
            <a:pPr algn="l">
              <a:lnSpc>
                <a:spcPct val="100000"/>
              </a:lnSpc>
              <a:spcAft>
                <a:spcPts val="400"/>
              </a:spcAft>
            </a:pPr>
            <a:r>
              <a:rPr sz="2800" b="0" i="0">
                <a:solidFill>
                  <a:srgbClr val="F5F5F0"/>
                </a:solidFill>
                <a:latin typeface="Georgia"/>
              </a:rPr>
              <a:t>The overnight sensing layer</a:t>
            </a:r>
          </a:p>
        </p:txBody>
      </p:sp>
      <p:cxnSp>
        <p:nvCxnSpPr>
          <p:cNvPr id="4" name="Connector 3"/>
          <p:cNvCxnSpPr/>
          <p:nvPr/>
        </p:nvCxnSpPr>
        <p:spPr>
          <a:xfrm>
            <a:off x="594360" y="1389888"/>
            <a:ext cx="914400" cy="0"/>
          </a:xfrm>
          <a:prstGeom prst="line">
            <a:avLst/>
          </a:prstGeom>
          <a:ln w="31750">
            <a:solidFill>
              <a:srgbClr val="0891B2"/>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548640" y="1645920"/>
          <a:ext cx="6766560" cy="3291840"/>
        </p:xfrm>
        <a:graphic>
          <a:graphicData uri="http://schemas.openxmlformats.org/drawingml/2006/table">
            <a:tbl>
              <a:tblPr firstRow="1">
                <a:tableStyleId>{5C22544A-7EE6-4342-B048-85BDC9FD1C3A}</a:tableStyleId>
              </a:tblPr>
              <a:tblGrid>
                <a:gridCol w="822960"/>
                <a:gridCol w="3108960"/>
                <a:gridCol w="2834640"/>
              </a:tblGrid>
              <a:tr h="658368">
                <a:tc>
                  <a:txBody>
                    <a:bodyPr wrap="square"/>
                    <a:lstStyle/>
                    <a:p>
                      <a:pPr algn="l">
                        <a:lnSpc>
                          <a:spcPct val="108000"/>
                        </a:lnSpc>
                        <a:spcAft>
                          <a:spcPts val="200"/>
                        </a:spcAft>
                      </a:pPr>
                      <a:r>
                        <a:rPr sz="1200" b="1" i="0">
                          <a:solidFill>
                            <a:srgbClr val="FFFFFF"/>
                          </a:solidFill>
                          <a:latin typeface="Calibri"/>
                        </a:rPr>
                        <a:t>When</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0E4F63"/>
                    </a:solidFill>
                  </a:tcPr>
                </a:tc>
                <a:tc>
                  <a:txBody>
                    <a:bodyPr wrap="square"/>
                    <a:lstStyle/>
                    <a:p>
                      <a:pPr algn="l">
                        <a:lnSpc>
                          <a:spcPct val="108000"/>
                        </a:lnSpc>
                        <a:spcAft>
                          <a:spcPts val="200"/>
                        </a:spcAft>
                      </a:pPr>
                      <a:r>
                        <a:rPr sz="1200" b="1" i="0">
                          <a:solidFill>
                            <a:srgbClr val="FFFFFF"/>
                          </a:solidFill>
                          <a:latin typeface="Calibri"/>
                        </a:rPr>
                        <a:t>Pipeline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0E4F63"/>
                    </a:solidFill>
                  </a:tcPr>
                </a:tc>
                <a:tc>
                  <a:txBody>
                    <a:bodyPr wrap="square"/>
                    <a:lstStyle/>
                    <a:p>
                      <a:pPr algn="l">
                        <a:lnSpc>
                          <a:spcPct val="108000"/>
                        </a:lnSpc>
                        <a:spcAft>
                          <a:spcPts val="200"/>
                        </a:spcAft>
                      </a:pPr>
                      <a:r>
                        <a:rPr sz="1200" b="1" i="0">
                          <a:solidFill>
                            <a:srgbClr val="FFFFFF"/>
                          </a:solidFill>
                          <a:latin typeface="Calibri"/>
                        </a:rPr>
                        <a:t>What we see at 07:35</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0E4F63"/>
                    </a:solidFill>
                  </a:tcPr>
                </a:tc>
              </a:tr>
              <a:tr h="658368">
                <a:tc>
                  <a:txBody>
                    <a:bodyPr wrap="square"/>
                    <a:lstStyle/>
                    <a:p>
                      <a:pPr algn="l">
                        <a:lnSpc>
                          <a:spcPct val="108000"/>
                        </a:lnSpc>
                        <a:spcAft>
                          <a:spcPts val="200"/>
                        </a:spcAft>
                      </a:pPr>
                      <a:r>
                        <a:rPr sz="1200" b="1" i="0">
                          <a:solidFill>
                            <a:srgbClr val="F5F5F0"/>
                          </a:solidFill>
                          <a:latin typeface="Calibri"/>
                        </a:rPr>
                        <a:t>07:00</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200" b="0" i="0">
                          <a:solidFill>
                            <a:srgbClr val="D1D5DB"/>
                          </a:solidFill>
                          <a:latin typeface="Calibri"/>
                        </a:rPr>
                        <a:t>News sweep: ~6,800 items read, deduplicated, scored, clustered</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200" b="0" i="0">
                          <a:solidFill>
                            <a:srgbClr val="D1D5DB"/>
                          </a:solidFill>
                          <a:latin typeface="Calibri"/>
                        </a:rPr>
                        <a:t>A morning brief by theme, top stories on the phone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r>
              <a:tr h="658368">
                <a:tc>
                  <a:txBody>
                    <a:bodyPr wrap="square"/>
                    <a:lstStyle/>
                    <a:p>
                      <a:pPr algn="l">
                        <a:lnSpc>
                          <a:spcPct val="108000"/>
                        </a:lnSpc>
                        <a:spcAft>
                          <a:spcPts val="200"/>
                        </a:spcAft>
                      </a:pPr>
                      <a:r>
                        <a:rPr sz="1200" b="1" i="0">
                          <a:solidFill>
                            <a:srgbClr val="F5F5F0"/>
                          </a:solidFill>
                          <a:latin typeface="Calibri"/>
                        </a:rPr>
                        <a:t>07:30</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200" b="0" i="0">
                          <a:solidFill>
                            <a:srgbClr val="D1D5DB"/>
                          </a:solidFill>
                          <a:latin typeface="Calibri"/>
                        </a:rPr>
                        <a:t>Catalyst reminders parsed from the calendar</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200" b="0" i="0">
                          <a:solidFill>
                            <a:srgbClr val="D1D5DB"/>
                          </a:solidFill>
                          <a:latin typeface="Calibri"/>
                        </a:rPr>
                        <a:t>Alerts at T-2 and T-0 for every dated event</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r>
              <a:tr h="658368">
                <a:tc>
                  <a:txBody>
                    <a:bodyPr wrap="square"/>
                    <a:lstStyle/>
                    <a:p>
                      <a:pPr algn="l">
                        <a:lnSpc>
                          <a:spcPct val="108000"/>
                        </a:lnSpc>
                        <a:spcAft>
                          <a:spcPts val="200"/>
                        </a:spcAft>
                      </a:pPr>
                      <a:r>
                        <a:rPr sz="1200" b="1" i="0">
                          <a:solidFill>
                            <a:srgbClr val="F5F5F0"/>
                          </a:solidFill>
                          <a:latin typeface="Calibri"/>
                        </a:rPr>
                        <a:t>07:35</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200" b="0" i="0">
                          <a:solidFill>
                            <a:srgbClr val="D1D5DB"/>
                          </a:solidFill>
                          <a:latin typeface="Calibri"/>
                        </a:rPr>
                        <a:t>Price tripwires against pre-set levels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200" b="0" i="0">
                          <a:solidFill>
                            <a:srgbClr val="D1D5DB"/>
                          </a:solidFill>
                          <a:latin typeface="Calibri"/>
                        </a:rPr>
                        <a:t>An alert that quotes the thesis trigger it threatens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r>
              <a:tr h="658368">
                <a:tc>
                  <a:txBody>
                    <a:bodyPr wrap="square"/>
                    <a:lstStyle/>
                    <a:p>
                      <a:pPr algn="l">
                        <a:lnSpc>
                          <a:spcPct val="108000"/>
                        </a:lnSpc>
                        <a:spcAft>
                          <a:spcPts val="200"/>
                        </a:spcAft>
                      </a:pPr>
                      <a:r>
                        <a:rPr sz="1200" b="1" i="0">
                          <a:solidFill>
                            <a:srgbClr val="F5F5F0"/>
                          </a:solidFill>
                          <a:latin typeface="Calibri"/>
                        </a:rPr>
                        <a:t>08:30</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200" b="0" i="0">
                          <a:solidFill>
                            <a:srgbClr val="D1D5DB"/>
                          </a:solidFill>
                          <a:latin typeface="Calibri"/>
                        </a:rPr>
                        <a:t>X harvest: cashtags derived from the theses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200" b="0" i="0">
                          <a:solidFill>
                            <a:srgbClr val="D1D5DB"/>
                          </a:solidFill>
                          <a:latin typeface="Calibri"/>
                        </a:rPr>
                        <a:t>A divergence section: where the crowd disagrees with us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r>
            </a:tbl>
          </a:graphicData>
        </a:graphic>
      </p:graphicFrame>
      <p:sp>
        <p:nvSpPr>
          <p:cNvPr id="6" name="Rounded Rectangle 5"/>
          <p:cNvSpPr/>
          <p:nvPr/>
        </p:nvSpPr>
        <p:spPr>
          <a:xfrm>
            <a:off x="7589520" y="1645920"/>
            <a:ext cx="4023360" cy="3291840"/>
          </a:xfrm>
          <a:prstGeom prst="roundRect">
            <a:avLst>
              <a:gd name="adj" fmla="val 12000"/>
            </a:avLst>
          </a:prstGeom>
          <a:solidFill>
            <a:srgbClr val="232932"/>
          </a:solidFill>
          <a:ln w="12700">
            <a:solidFill>
              <a:srgbClr val="0891B2"/>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6809" bIns="76809" wrap="square">
            <a:noAutofit/>
          </a:bodyPr>
          <a:lstStyle/>
          <a:p>
            <a:pPr algn="l">
              <a:lnSpc>
                <a:spcPct val="110000"/>
              </a:lnSpc>
              <a:spcAft>
                <a:spcPts val="800"/>
              </a:spcAft>
            </a:pPr>
            <a:r>
              <a:rPr sz="1450" b="1" i="0">
                <a:solidFill>
                  <a:srgbClr val="22D3EE"/>
                </a:solidFill>
                <a:latin typeface="Calibri"/>
              </a:rPr>
              <a:t>What it caught</a:t>
            </a:r>
          </a:p>
          <a:p>
            <a:pPr algn="l" marL="219456" indent="-182880">
              <a:lnSpc>
                <a:spcPct val="110000"/>
              </a:lnSpc>
              <a:spcAft>
                <a:spcPts val="600"/>
              </a:spcAft>
              <a:buClr>
                <a:srgbClr val="22D3EE"/>
              </a:buClr>
              <a:buFont typeface="Arial"/>
              <a:buChar char="•"/>
            </a:pPr>
            <a:r>
              <a:rPr sz="1250" b="0" i="0">
                <a:solidFill>
                  <a:srgbClr val="D1D5DB"/>
                </a:solidFill>
                <a:latin typeface="Calibri"/>
              </a:rPr>
              <a:t>Early August: a divergence flag on Uber became a full thesis reassessment the same week</a:t>
            </a:r>
          </a:p>
          <a:p>
            <a:pPr algn="l" marL="219456" indent="-182880">
              <a:lnSpc>
                <a:spcPct val="110000"/>
              </a:lnSpc>
              <a:spcAft>
                <a:spcPts val="600"/>
              </a:spcAft>
              <a:buClr>
                <a:srgbClr val="22D3EE"/>
              </a:buClr>
              <a:buFont typeface="Arial"/>
              <a:buChar char="•"/>
            </a:pPr>
            <a:r>
              <a:rPr sz="1250" b="0" i="0">
                <a:solidFill>
                  <a:srgbClr val="D1D5DB"/>
                </a:solidFill>
                <a:latin typeface="Calibri"/>
              </a:rPr>
              <a:t>Mid August: the crowd's bull case on a memory name rested on an out-year commitment our thesis did not engage; a gap in our own argument</a:t>
            </a:r>
          </a:p>
          <a:p>
            <a:pPr algn="l" marL="219456" indent="-182880">
              <a:lnSpc>
                <a:spcPct val="110000"/>
              </a:lnSpc>
              <a:spcAft>
                <a:spcPts val="300"/>
              </a:spcAft>
              <a:buClr>
                <a:srgbClr val="22D3EE"/>
              </a:buClr>
              <a:buFont typeface="Arial"/>
              <a:buChar char="•"/>
            </a:pPr>
            <a:r>
              <a:rPr sz="1250" b="0" i="0">
                <a:solidFill>
                  <a:srgbClr val="D1D5DB"/>
                </a:solidFill>
                <a:latin typeface="Calibri"/>
              </a:rPr>
              <a:t>Late July: 34 earnings dates inside 14 days, 20 in four days with the FOMC; treated as one correlated event, not 34 reads</a:t>
            </a:r>
          </a:p>
        </p:txBody>
      </p:sp>
      <p:sp>
        <p:nvSpPr>
          <p:cNvPr id="7" name="TextBox 6"/>
          <p:cNvSpPr txBox="1"/>
          <p:nvPr/>
        </p:nvSpPr>
        <p:spPr>
          <a:xfrm>
            <a:off x="548640" y="5212080"/>
            <a:ext cx="11064240" cy="1097280"/>
          </a:xfrm>
          <a:prstGeom prst="rect">
            <a:avLst/>
          </a:prstGeom>
          <a:noFill/>
        </p:spPr>
        <p:txBody>
          <a:bodyPr wrap="square" lIns="45720" rIns="45720" anchor="t">
            <a:noAutofit/>
          </a:bodyPr>
          <a:lstStyle/>
          <a:p>
            <a:pPr algn="l">
              <a:lnSpc>
                <a:spcPct val="112000"/>
              </a:lnSpc>
              <a:spcAft>
                <a:spcPts val="400"/>
              </a:spcAft>
            </a:pPr>
            <a:r>
              <a:rPr sz="1350" b="0" i="0">
                <a:solidFill>
                  <a:srgbClr val="D1D5DB"/>
                </a:solidFill>
                <a:latin typeface="Calibri"/>
              </a:rPr>
              <a:t>Nothing from this layer enters the book by itself. The pipelines write only into a scanning folder; we pick the one to three stories that matter and ingest them. Running cost: $20–35 a month.</a:t>
            </a:r>
          </a:p>
        </p:txBody>
      </p:sp>
      <p:sp>
        <p:nvSpPr>
          <p:cNvPr id="8" name="footer"/>
          <p:cNvSpPr txBox="1"/>
          <p:nvPr/>
        </p:nvSpPr>
        <p:spPr>
          <a:xfrm>
            <a:off x="548640" y="6446520"/>
            <a:ext cx="7772400" cy="274320"/>
          </a:xfrm>
          <a:prstGeom prst="rect">
            <a:avLst/>
          </a:prstGeom>
          <a:noFill/>
        </p:spPr>
        <p:txBody>
          <a:bodyPr wrap="square" lIns="45720" rIns="45720" anchor="t">
            <a:noAutofit/>
          </a:bodyPr>
          <a:lstStyle/>
          <a:p>
            <a:pPr algn="l">
              <a:lnSpc>
                <a:spcPct val="112000"/>
              </a:lnSpc>
              <a:spcAft>
                <a:spcPts val="400"/>
              </a:spcAft>
            </a:pPr>
            <a:r>
              <a:rPr sz="900" b="0" i="0">
                <a:solidFill>
                  <a:srgbClr val="6B7280"/>
                </a:solidFill>
                <a:latin typeface="Calibri"/>
              </a:rPr>
              <a:t>Laniakea Partners · A Second Brain for Investing · August 2026  ·  Part 3</a:t>
            </a:r>
          </a:p>
        </p:txBody>
      </p:sp>
      <p:sp>
        <p:nvSpPr>
          <p:cNvPr id="9" name="footer"/>
          <p:cNvSpPr txBox="1"/>
          <p:nvPr/>
        </p:nvSpPr>
        <p:spPr>
          <a:xfrm>
            <a:off x="10332720" y="6446520"/>
            <a:ext cx="1325880" cy="274320"/>
          </a:xfrm>
          <a:prstGeom prst="rect">
            <a:avLst/>
          </a:prstGeom>
          <a:noFill/>
        </p:spPr>
        <p:txBody>
          <a:bodyPr wrap="square" lIns="45720" rIns="45720" anchor="t">
            <a:noAutofit/>
          </a:bodyPr>
          <a:lstStyle/>
          <a:p>
            <a:pPr algn="r">
              <a:lnSpc>
                <a:spcPct val="112000"/>
              </a:lnSpc>
              <a:spcAft>
                <a:spcPts val="400"/>
              </a:spcAft>
            </a:pPr>
            <a:r>
              <a:rPr sz="900" b="0" i="0">
                <a:solidFill>
                  <a:srgbClr val="6B7280"/>
                </a:solidFill>
                <a:latin typeface="Calibri"/>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548640" y="292608"/>
            <a:ext cx="10972800" cy="320040"/>
          </a:xfrm>
          <a:prstGeom prst="rect">
            <a:avLst/>
          </a:prstGeom>
          <a:noFill/>
        </p:spPr>
        <p:txBody>
          <a:bodyPr wrap="square" lIns="45720" rIns="45720" anchor="t">
            <a:noAutofit/>
          </a:bodyPr>
          <a:lstStyle/>
          <a:p>
            <a:pPr algn="l">
              <a:lnSpc>
                <a:spcPct val="112000"/>
              </a:lnSpc>
              <a:spcAft>
                <a:spcPts val="400"/>
              </a:spcAft>
            </a:pPr>
            <a:r>
              <a:rPr sz="1100" b="1" i="0">
                <a:solidFill>
                  <a:srgbClr val="22D3EE"/>
                </a:solidFill>
                <a:latin typeface="Calibri"/>
              </a:rPr>
              <a:t>PART 3 · INSIDE A SECOND BRAIN</a:t>
            </a:r>
          </a:p>
        </p:txBody>
      </p:sp>
      <p:sp>
        <p:nvSpPr>
          <p:cNvPr id="3" name="TextBox 2"/>
          <p:cNvSpPr txBox="1"/>
          <p:nvPr/>
        </p:nvSpPr>
        <p:spPr>
          <a:xfrm>
            <a:off x="548640" y="566928"/>
            <a:ext cx="11064240" cy="868680"/>
          </a:xfrm>
          <a:prstGeom prst="rect">
            <a:avLst/>
          </a:prstGeom>
          <a:noFill/>
        </p:spPr>
        <p:txBody>
          <a:bodyPr wrap="square" lIns="45720" rIns="45720" anchor="t">
            <a:noAutofit/>
          </a:bodyPr>
          <a:lstStyle/>
          <a:p>
            <a:pPr algn="l">
              <a:lnSpc>
                <a:spcPct val="100000"/>
              </a:lnSpc>
              <a:spcAft>
                <a:spcPts val="400"/>
              </a:spcAft>
            </a:pPr>
            <a:r>
              <a:rPr sz="2800" b="0" i="0">
                <a:solidFill>
                  <a:srgbClr val="F5F5F0"/>
                </a:solidFill>
                <a:latin typeface="Georgia"/>
              </a:rPr>
              <a:t>Why context beats clever prompting</a:t>
            </a:r>
          </a:p>
        </p:txBody>
      </p:sp>
      <p:cxnSp>
        <p:nvCxnSpPr>
          <p:cNvPr id="4" name="Connector 3"/>
          <p:cNvCxnSpPr/>
          <p:nvPr/>
        </p:nvCxnSpPr>
        <p:spPr>
          <a:xfrm>
            <a:off x="594360" y="1389888"/>
            <a:ext cx="914400" cy="0"/>
          </a:xfrm>
          <a:prstGeom prst="line">
            <a:avLst/>
          </a:prstGeom>
          <a:ln w="31750">
            <a:solidFill>
              <a:srgbClr val="0891B2"/>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1600200"/>
            <a:ext cx="11064240" cy="685800"/>
          </a:xfrm>
          <a:prstGeom prst="roundRect">
            <a:avLst>
              <a:gd name="adj" fmla="val 12000"/>
            </a:avLst>
          </a:prstGeom>
          <a:solidFill>
            <a:srgbClr val="232932"/>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noAutofit/>
          </a:bodyPr>
          <a:lstStyle/>
          <a:p>
            <a:pPr algn="ctr">
              <a:lnSpc>
                <a:spcPct val="110000"/>
              </a:lnSpc>
              <a:spcAft>
                <a:spcPts val="300"/>
              </a:spcAft>
            </a:pPr>
            <a:r>
              <a:rPr sz="1400" b="0" i="0">
                <a:solidFill>
                  <a:srgbClr val="9CA3AF"/>
                </a:solidFill>
                <a:latin typeface="Calibri"/>
              </a:rPr>
              <a:t>The same question, typed into both:  </a:t>
            </a:r>
            <a:r>
              <a:rPr sz="1600" b="0" i="1">
                <a:solidFill>
                  <a:srgbClr val="F5F5F0"/>
                </a:solidFill>
                <a:latin typeface="Georgia"/>
              </a:rPr>
              <a:t>“What did this morning's news actually touch?”</a:t>
            </a:r>
          </a:p>
        </p:txBody>
      </p:sp>
      <p:sp>
        <p:nvSpPr>
          <p:cNvPr id="6" name="Rounded Rectangle 5"/>
          <p:cNvSpPr/>
          <p:nvPr/>
        </p:nvSpPr>
        <p:spPr>
          <a:xfrm>
            <a:off x="548640" y="2468880"/>
            <a:ext cx="5394959" cy="3108960"/>
          </a:xfrm>
          <a:prstGeom prst="roundRect">
            <a:avLst>
              <a:gd name="adj" fmla="val 12000"/>
            </a:avLst>
          </a:prstGeom>
          <a:solidFill>
            <a:srgbClr val="1B2027"/>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a:noAutofit/>
          </a:bodyPr>
          <a:lstStyle/>
          <a:p>
            <a:pPr algn="ctr"/>
          </a:p>
        </p:txBody>
      </p:sp>
      <p:sp>
        <p:nvSpPr>
          <p:cNvPr id="7" name="TextBox 6"/>
          <p:cNvSpPr txBox="1"/>
          <p:nvPr/>
        </p:nvSpPr>
        <p:spPr>
          <a:xfrm>
            <a:off x="731520" y="2606040"/>
            <a:ext cx="5029199" cy="411480"/>
          </a:xfrm>
          <a:prstGeom prst="rect">
            <a:avLst/>
          </a:prstGeom>
          <a:noFill/>
        </p:spPr>
        <p:txBody>
          <a:bodyPr wrap="square" lIns="45720" rIns="45720" anchor="t">
            <a:noAutofit/>
          </a:bodyPr>
          <a:lstStyle/>
          <a:p>
            <a:pPr algn="l">
              <a:lnSpc>
                <a:spcPct val="112000"/>
              </a:lnSpc>
              <a:spcAft>
                <a:spcPts val="400"/>
              </a:spcAft>
            </a:pPr>
            <a:r>
              <a:rPr sz="1500" b="1" i="0">
                <a:solidFill>
                  <a:srgbClr val="9CA3AF"/>
                </a:solidFill>
                <a:latin typeface="Calibri"/>
              </a:rPr>
              <a:t>Bare model</a:t>
            </a:r>
          </a:p>
        </p:txBody>
      </p:sp>
      <p:sp>
        <p:nvSpPr>
          <p:cNvPr id="8" name="TextBox 7"/>
          <p:cNvSpPr txBox="1"/>
          <p:nvPr/>
        </p:nvSpPr>
        <p:spPr>
          <a:xfrm>
            <a:off x="731520" y="3063240"/>
            <a:ext cx="5029199" cy="2377439"/>
          </a:xfrm>
          <a:prstGeom prst="rect">
            <a:avLst/>
          </a:prstGeom>
          <a:noFill/>
        </p:spPr>
        <p:txBody>
          <a:bodyPr wrap="square" lIns="45720" rIns="45720" anchor="t">
            <a:noAutofit/>
          </a:bodyPr>
          <a:lstStyle/>
          <a:p>
            <a:pPr algn="l" marL="219456" indent="-182880">
              <a:lnSpc>
                <a:spcPct val="112000"/>
              </a:lnSpc>
              <a:spcAft>
                <a:spcPts val="500"/>
              </a:spcAft>
              <a:buClr>
                <a:srgbClr val="9CA3AF"/>
              </a:buClr>
              <a:buFont typeface="Arial"/>
              <a:buChar char="•"/>
            </a:pPr>
            <a:r>
              <a:rPr sz="1400" b="0" i="0">
                <a:solidFill>
                  <a:srgbClr val="D1D5DB"/>
                </a:solidFill>
                <a:latin typeface="Calibri"/>
              </a:rPr>
              <a:t>A tidy summary of the headlines</a:t>
            </a:r>
          </a:p>
          <a:p>
            <a:pPr algn="l" marL="219456" indent="-182880">
              <a:lnSpc>
                <a:spcPct val="112000"/>
              </a:lnSpc>
              <a:spcAft>
                <a:spcPts val="500"/>
              </a:spcAft>
              <a:buClr>
                <a:srgbClr val="9CA3AF"/>
              </a:buClr>
              <a:buFont typeface="Arial"/>
              <a:buChar char="•"/>
            </a:pPr>
            <a:r>
              <a:rPr sz="1400" b="0" i="0">
                <a:solidFill>
                  <a:srgbClr val="D1D5DB"/>
                </a:solidFill>
                <a:latin typeface="Calibri"/>
              </a:rPr>
              <a:t>No idea which names we hold or why</a:t>
            </a:r>
          </a:p>
          <a:p>
            <a:pPr algn="l" marL="219456" indent="-182880">
              <a:lnSpc>
                <a:spcPct val="112000"/>
              </a:lnSpc>
              <a:spcAft>
                <a:spcPts val="500"/>
              </a:spcAft>
              <a:buClr>
                <a:srgbClr val="9CA3AF"/>
              </a:buClr>
              <a:buFont typeface="Arial"/>
              <a:buChar char="•"/>
            </a:pPr>
            <a:r>
              <a:rPr sz="1400" b="0" i="0">
                <a:solidFill>
                  <a:srgbClr val="D1D5DB"/>
                </a:solidFill>
                <a:latin typeface="Calibri"/>
              </a:rPr>
              <a:t>Cannot say which claim in which thesis changed</a:t>
            </a:r>
          </a:p>
          <a:p>
            <a:pPr algn="l" marL="219456" indent="-182880">
              <a:lnSpc>
                <a:spcPct val="112000"/>
              </a:lnSpc>
              <a:spcAft>
                <a:spcPts val="500"/>
              </a:spcAft>
              <a:buClr>
                <a:srgbClr val="9CA3AF"/>
              </a:buClr>
              <a:buFont typeface="Arial"/>
              <a:buChar char="•"/>
            </a:pPr>
            <a:r>
              <a:rPr sz="1400" b="0" i="0">
                <a:solidFill>
                  <a:srgbClr val="D1D5DB"/>
                </a:solidFill>
                <a:latin typeface="Calibri"/>
              </a:rPr>
              <a:t>Gone by tomorrow; the context has to be rebuilt</a:t>
            </a:r>
          </a:p>
        </p:txBody>
      </p:sp>
      <p:sp>
        <p:nvSpPr>
          <p:cNvPr id="9" name="Rounded Rectangle 8"/>
          <p:cNvSpPr/>
          <p:nvPr/>
        </p:nvSpPr>
        <p:spPr>
          <a:xfrm>
            <a:off x="6217919" y="2468880"/>
            <a:ext cx="5394959" cy="3108960"/>
          </a:xfrm>
          <a:prstGeom prst="roundRect">
            <a:avLst>
              <a:gd name="adj" fmla="val 12000"/>
            </a:avLst>
          </a:prstGeom>
          <a:solidFill>
            <a:srgbClr val="1B2027"/>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a:noAutofit/>
          </a:bodyPr>
          <a:lstStyle/>
          <a:p>
            <a:pPr algn="ctr"/>
          </a:p>
        </p:txBody>
      </p:sp>
      <p:sp>
        <p:nvSpPr>
          <p:cNvPr id="10" name="TextBox 9"/>
          <p:cNvSpPr txBox="1"/>
          <p:nvPr/>
        </p:nvSpPr>
        <p:spPr>
          <a:xfrm>
            <a:off x="6400799" y="2606040"/>
            <a:ext cx="5029199" cy="411480"/>
          </a:xfrm>
          <a:prstGeom prst="rect">
            <a:avLst/>
          </a:prstGeom>
          <a:noFill/>
        </p:spPr>
        <p:txBody>
          <a:bodyPr wrap="square" lIns="45720" rIns="45720" anchor="t">
            <a:noAutofit/>
          </a:bodyPr>
          <a:lstStyle/>
          <a:p>
            <a:pPr algn="l">
              <a:lnSpc>
                <a:spcPct val="112000"/>
              </a:lnSpc>
              <a:spcAft>
                <a:spcPts val="400"/>
              </a:spcAft>
            </a:pPr>
            <a:r>
              <a:rPr sz="1500" b="1" i="0">
                <a:solidFill>
                  <a:srgbClr val="22D3EE"/>
                </a:solidFill>
                <a:latin typeface="Calibri"/>
              </a:rPr>
              <a:t>Vault-loaded model</a:t>
            </a:r>
          </a:p>
        </p:txBody>
      </p:sp>
      <p:sp>
        <p:nvSpPr>
          <p:cNvPr id="11" name="TextBox 10"/>
          <p:cNvSpPr txBox="1"/>
          <p:nvPr/>
        </p:nvSpPr>
        <p:spPr>
          <a:xfrm>
            <a:off x="6400799" y="3063240"/>
            <a:ext cx="5029199" cy="2377439"/>
          </a:xfrm>
          <a:prstGeom prst="rect">
            <a:avLst/>
          </a:prstGeom>
          <a:noFill/>
        </p:spPr>
        <p:txBody>
          <a:bodyPr wrap="square" lIns="45720" rIns="45720" anchor="t">
            <a:noAutofit/>
          </a:bodyPr>
          <a:lstStyle/>
          <a:p>
            <a:pPr algn="l" marL="219456" indent="-182880">
              <a:lnSpc>
                <a:spcPct val="112000"/>
              </a:lnSpc>
              <a:spcAft>
                <a:spcPts val="500"/>
              </a:spcAft>
              <a:buClr>
                <a:srgbClr val="22D3EE"/>
              </a:buClr>
              <a:buFont typeface="Arial"/>
              <a:buChar char="•"/>
            </a:pPr>
            <a:r>
              <a:rPr sz="1400" b="0" i="0">
                <a:solidFill>
                  <a:srgbClr val="D1D5DB"/>
                </a:solidFill>
                <a:latin typeface="Calibri"/>
              </a:rPr>
              <a:t>Reads session memory, the scored brief and the dependency graph first</a:t>
            </a:r>
          </a:p>
          <a:p>
            <a:pPr algn="l" marL="219456" indent="-182880">
              <a:lnSpc>
                <a:spcPct val="112000"/>
              </a:lnSpc>
              <a:spcAft>
                <a:spcPts val="500"/>
              </a:spcAft>
              <a:buClr>
                <a:srgbClr val="22D3EE"/>
              </a:buClr>
              <a:buFont typeface="Arial"/>
              <a:buChar char="•"/>
            </a:pPr>
            <a:r>
              <a:rPr sz="1400" b="0" i="0">
                <a:solidFill>
                  <a:srgbClr val="D1D5DB"/>
                </a:solidFill>
                <a:latin typeface="Calibri"/>
              </a:rPr>
              <a:t>Names the four theses touched, and why each</a:t>
            </a:r>
          </a:p>
          <a:p>
            <a:pPr algn="l" marL="219456" indent="-182880">
              <a:lnSpc>
                <a:spcPct val="112000"/>
              </a:lnSpc>
              <a:spcAft>
                <a:spcPts val="500"/>
              </a:spcAft>
              <a:buClr>
                <a:srgbClr val="22D3EE"/>
              </a:buClr>
              <a:buFont typeface="Arial"/>
              <a:buChar char="•"/>
            </a:pPr>
            <a:r>
              <a:rPr sz="1400" b="0" i="0">
                <a:solidFill>
                  <a:srgbClr val="D1D5DB"/>
                </a:solidFill>
                <a:latin typeface="Calibri"/>
              </a:rPr>
              <a:t>Tests each story against the thesis's own conviction triggers</a:t>
            </a:r>
          </a:p>
          <a:p>
            <a:pPr algn="l" marL="219456" indent="-182880">
              <a:lnSpc>
                <a:spcPct val="112000"/>
              </a:lnSpc>
              <a:spcAft>
                <a:spcPts val="500"/>
              </a:spcAft>
              <a:buClr>
                <a:srgbClr val="22D3EE"/>
              </a:buClr>
              <a:buFont typeface="Arial"/>
              <a:buChar char="•"/>
            </a:pPr>
            <a:r>
              <a:rPr sz="1400" b="0" i="0">
                <a:solidFill>
                  <a:srgbClr val="D1D5DB"/>
                </a:solidFill>
                <a:latin typeface="Calibri"/>
              </a:rPr>
              <a:t>Appends a dated log entry per thesis, linked to the source</a:t>
            </a:r>
          </a:p>
        </p:txBody>
      </p:sp>
      <p:sp>
        <p:nvSpPr>
          <p:cNvPr id="12" name="TextBox 11"/>
          <p:cNvSpPr txBox="1"/>
          <p:nvPr/>
        </p:nvSpPr>
        <p:spPr>
          <a:xfrm>
            <a:off x="548640" y="5806440"/>
            <a:ext cx="11064240" cy="457200"/>
          </a:xfrm>
          <a:prstGeom prst="rect">
            <a:avLst/>
          </a:prstGeom>
          <a:noFill/>
        </p:spPr>
        <p:txBody>
          <a:bodyPr wrap="square" lIns="45720" rIns="45720" anchor="t">
            <a:noAutofit/>
          </a:bodyPr>
          <a:lstStyle/>
          <a:p>
            <a:pPr algn="l">
              <a:lnSpc>
                <a:spcPct val="112000"/>
              </a:lnSpc>
              <a:spcAft>
                <a:spcPts val="400"/>
              </a:spcAft>
            </a:pPr>
            <a:r>
              <a:rPr sz="1500" b="0" i="1">
                <a:solidFill>
                  <a:srgbClr val="F5F5F0"/>
                </a:solidFill>
                <a:latin typeface="Georgia"/>
              </a:rPr>
              <a:t>Same model. The difference is what it already knew, and what it was allowed to write.</a:t>
            </a:r>
          </a:p>
        </p:txBody>
      </p:sp>
      <p:sp>
        <p:nvSpPr>
          <p:cNvPr id="13" name="footer"/>
          <p:cNvSpPr txBox="1"/>
          <p:nvPr/>
        </p:nvSpPr>
        <p:spPr>
          <a:xfrm>
            <a:off x="548640" y="6446520"/>
            <a:ext cx="7772400" cy="274320"/>
          </a:xfrm>
          <a:prstGeom prst="rect">
            <a:avLst/>
          </a:prstGeom>
          <a:noFill/>
        </p:spPr>
        <p:txBody>
          <a:bodyPr wrap="square" lIns="45720" rIns="45720" anchor="t">
            <a:noAutofit/>
          </a:bodyPr>
          <a:lstStyle/>
          <a:p>
            <a:pPr algn="l">
              <a:lnSpc>
                <a:spcPct val="112000"/>
              </a:lnSpc>
              <a:spcAft>
                <a:spcPts val="400"/>
              </a:spcAft>
            </a:pPr>
            <a:r>
              <a:rPr sz="900" b="0" i="0">
                <a:solidFill>
                  <a:srgbClr val="6B7280"/>
                </a:solidFill>
                <a:latin typeface="Calibri"/>
              </a:rPr>
              <a:t>Laniakea Partners · A Second Brain for Investing · August 2026  ·  Part 3</a:t>
            </a:r>
          </a:p>
        </p:txBody>
      </p:sp>
      <p:sp>
        <p:nvSpPr>
          <p:cNvPr id="14" name="footer"/>
          <p:cNvSpPr txBox="1"/>
          <p:nvPr/>
        </p:nvSpPr>
        <p:spPr>
          <a:xfrm>
            <a:off x="10332720" y="6446520"/>
            <a:ext cx="1325880" cy="274320"/>
          </a:xfrm>
          <a:prstGeom prst="rect">
            <a:avLst/>
          </a:prstGeom>
          <a:noFill/>
        </p:spPr>
        <p:txBody>
          <a:bodyPr wrap="square" lIns="45720" rIns="45720" anchor="t">
            <a:noAutofit/>
          </a:bodyPr>
          <a:lstStyle/>
          <a:p>
            <a:pPr algn="r">
              <a:lnSpc>
                <a:spcPct val="112000"/>
              </a:lnSpc>
              <a:spcAft>
                <a:spcPts val="400"/>
              </a:spcAft>
            </a:pPr>
            <a:r>
              <a:rPr sz="900" b="0" i="0">
                <a:solidFill>
                  <a:srgbClr val="6B7280"/>
                </a:solidFill>
                <a:latin typeface="Calibri"/>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822960" y="1463040"/>
            <a:ext cx="2743200" cy="1280160"/>
          </a:xfrm>
          <a:prstGeom prst="rect">
            <a:avLst/>
          </a:prstGeom>
          <a:noFill/>
        </p:spPr>
        <p:txBody>
          <a:bodyPr wrap="square" lIns="45720" rIns="45720" anchor="t">
            <a:noAutofit/>
          </a:bodyPr>
          <a:lstStyle/>
          <a:p>
            <a:pPr algn="l">
              <a:lnSpc>
                <a:spcPct val="112000"/>
              </a:lnSpc>
              <a:spcAft>
                <a:spcPts val="400"/>
              </a:spcAft>
            </a:pPr>
            <a:r>
              <a:rPr sz="6400" b="0" i="0">
                <a:solidFill>
                  <a:srgbClr val="0891B2"/>
                </a:solidFill>
                <a:latin typeface="Georgia"/>
              </a:rPr>
              <a:t>04</a:t>
            </a:r>
          </a:p>
        </p:txBody>
      </p:sp>
      <p:sp>
        <p:nvSpPr>
          <p:cNvPr id="3" name="TextBox 2"/>
          <p:cNvSpPr txBox="1"/>
          <p:nvPr/>
        </p:nvSpPr>
        <p:spPr>
          <a:xfrm>
            <a:off x="822960" y="2697480"/>
            <a:ext cx="10515600" cy="1143000"/>
          </a:xfrm>
          <a:prstGeom prst="rect">
            <a:avLst/>
          </a:prstGeom>
          <a:noFill/>
        </p:spPr>
        <p:txBody>
          <a:bodyPr wrap="square" lIns="45720" rIns="45720" anchor="t">
            <a:noAutofit/>
          </a:bodyPr>
          <a:lstStyle/>
          <a:p>
            <a:pPr algn="l">
              <a:lnSpc>
                <a:spcPct val="100000"/>
              </a:lnSpc>
              <a:spcAft>
                <a:spcPts val="400"/>
              </a:spcAft>
            </a:pPr>
            <a:r>
              <a:rPr sz="3200" b="0" i="0">
                <a:solidFill>
                  <a:srgbClr val="F5F5F0"/>
                </a:solidFill>
                <a:latin typeface="Georgia"/>
              </a:rPr>
              <a:t>Use cases from our own book, and the features that matter</a:t>
            </a:r>
          </a:p>
        </p:txBody>
      </p:sp>
      <p:cxnSp>
        <p:nvCxnSpPr>
          <p:cNvPr id="4" name="Connector 3"/>
          <p:cNvCxnSpPr/>
          <p:nvPr/>
        </p:nvCxnSpPr>
        <p:spPr>
          <a:xfrm>
            <a:off x="868680" y="3886200"/>
            <a:ext cx="1325880" cy="0"/>
          </a:xfrm>
          <a:prstGeom prst="line">
            <a:avLst/>
          </a:prstGeom>
          <a:ln w="31750">
            <a:solidFill>
              <a:srgbClr val="0891B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22960" y="4069080"/>
            <a:ext cx="10058400" cy="1828800"/>
          </a:xfrm>
          <a:prstGeom prst="rect">
            <a:avLst/>
          </a:prstGeom>
          <a:noFill/>
        </p:spPr>
        <p:txBody>
          <a:bodyPr wrap="square" lIns="45720" rIns="45720" anchor="t">
            <a:noAutofit/>
          </a:bodyPr>
          <a:lstStyle/>
          <a:p>
            <a:pPr algn="l" marL="219456" indent="-182880">
              <a:lnSpc>
                <a:spcPct val="112000"/>
              </a:lnSpc>
              <a:spcAft>
                <a:spcPts val="600"/>
              </a:spcAft>
              <a:buClr>
                <a:srgbClr val="22D3EE"/>
              </a:buClr>
              <a:buFont typeface="Arial"/>
              <a:buChar char="•"/>
            </a:pPr>
            <a:r>
              <a:rPr sz="1600" b="0" i="0">
                <a:solidFill>
                  <a:srgbClr val="D1D5DB"/>
                </a:solidFill>
                <a:latin typeface="Calibri"/>
              </a:rPr>
              <a:t>The daily loop, earnings season, and a scenario through the whole book</a:t>
            </a:r>
          </a:p>
          <a:p>
            <a:pPr algn="l" marL="219456" indent="-182880">
              <a:lnSpc>
                <a:spcPct val="112000"/>
              </a:lnSpc>
              <a:spcAft>
                <a:spcPts val="600"/>
              </a:spcAft>
              <a:buClr>
                <a:srgbClr val="22D3EE"/>
              </a:buClr>
              <a:buFont typeface="Arial"/>
              <a:buChar char="•"/>
            </a:pPr>
            <a:r>
              <a:rPr sz="1600" b="0" i="0">
                <a:solidFill>
                  <a:srgbClr val="D1D5DB"/>
                </a:solidFill>
                <a:latin typeface="Calibri"/>
              </a:rPr>
              <a:t>The system argues back, and we argue in the margins</a:t>
            </a:r>
          </a:p>
          <a:p>
            <a:pPr algn="l" marL="219456" indent="-182880">
              <a:lnSpc>
                <a:spcPct val="112000"/>
              </a:lnSpc>
              <a:spcAft>
                <a:spcPts val="600"/>
              </a:spcAft>
              <a:buClr>
                <a:srgbClr val="22D3EE"/>
              </a:buClr>
              <a:buFont typeface="Arial"/>
              <a:buChar char="•"/>
            </a:pPr>
            <a:r>
              <a:rPr sz="1600" b="0" i="0">
                <a:solidFill>
                  <a:srgbClr val="D1D5DB"/>
                </a:solidFill>
                <a:latin typeface="Calibri"/>
              </a:rPr>
              <a:t>Asking the book questions, and the eight features that carry the return</a:t>
            </a:r>
          </a:p>
        </p:txBody>
      </p:sp>
      <p:sp>
        <p:nvSpPr>
          <p:cNvPr id="6" name="footer"/>
          <p:cNvSpPr txBox="1"/>
          <p:nvPr/>
        </p:nvSpPr>
        <p:spPr>
          <a:xfrm>
            <a:off x="548640" y="6446520"/>
            <a:ext cx="7772400" cy="274320"/>
          </a:xfrm>
          <a:prstGeom prst="rect">
            <a:avLst/>
          </a:prstGeom>
          <a:noFill/>
        </p:spPr>
        <p:txBody>
          <a:bodyPr wrap="square" lIns="45720" rIns="45720" anchor="t">
            <a:noAutofit/>
          </a:bodyPr>
          <a:lstStyle/>
          <a:p>
            <a:pPr algn="l">
              <a:lnSpc>
                <a:spcPct val="112000"/>
              </a:lnSpc>
              <a:spcAft>
                <a:spcPts val="400"/>
              </a:spcAft>
            </a:pPr>
            <a:r>
              <a:rPr sz="900" b="0" i="0">
                <a:solidFill>
                  <a:srgbClr val="6B7280"/>
                </a:solidFill>
                <a:latin typeface="Calibri"/>
              </a:rPr>
              <a:t>Laniakea Partners · A Second Brain for Investing · August 2026  ·  Part 4</a:t>
            </a:r>
          </a:p>
        </p:txBody>
      </p:sp>
      <p:sp>
        <p:nvSpPr>
          <p:cNvPr id="7" name="footer"/>
          <p:cNvSpPr txBox="1"/>
          <p:nvPr/>
        </p:nvSpPr>
        <p:spPr>
          <a:xfrm>
            <a:off x="10332720" y="6446520"/>
            <a:ext cx="1325880" cy="274320"/>
          </a:xfrm>
          <a:prstGeom prst="rect">
            <a:avLst/>
          </a:prstGeom>
          <a:noFill/>
        </p:spPr>
        <p:txBody>
          <a:bodyPr wrap="square" lIns="45720" rIns="45720" anchor="t">
            <a:noAutofit/>
          </a:bodyPr>
          <a:lstStyle/>
          <a:p>
            <a:pPr algn="r">
              <a:lnSpc>
                <a:spcPct val="112000"/>
              </a:lnSpc>
              <a:spcAft>
                <a:spcPts val="400"/>
              </a:spcAft>
            </a:pPr>
            <a:r>
              <a:rPr sz="900" b="0" i="0">
                <a:solidFill>
                  <a:srgbClr val="6B7280"/>
                </a:solidFill>
                <a:latin typeface="Calibri"/>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548640" y="292608"/>
            <a:ext cx="10972800" cy="320040"/>
          </a:xfrm>
          <a:prstGeom prst="rect">
            <a:avLst/>
          </a:prstGeom>
          <a:noFill/>
        </p:spPr>
        <p:txBody>
          <a:bodyPr wrap="square" lIns="45720" rIns="45720" anchor="t">
            <a:noAutofit/>
          </a:bodyPr>
          <a:lstStyle/>
          <a:p>
            <a:pPr algn="l">
              <a:lnSpc>
                <a:spcPct val="112000"/>
              </a:lnSpc>
              <a:spcAft>
                <a:spcPts val="400"/>
              </a:spcAft>
            </a:pPr>
            <a:r>
              <a:rPr sz="1100" b="1" i="0">
                <a:solidFill>
                  <a:srgbClr val="22D3EE"/>
                </a:solidFill>
                <a:latin typeface="Calibri"/>
              </a:rPr>
              <a:t>PART 4 · USE CASES</a:t>
            </a:r>
          </a:p>
        </p:txBody>
      </p:sp>
      <p:sp>
        <p:nvSpPr>
          <p:cNvPr id="3" name="TextBox 2"/>
          <p:cNvSpPr txBox="1"/>
          <p:nvPr/>
        </p:nvSpPr>
        <p:spPr>
          <a:xfrm>
            <a:off x="548640" y="566928"/>
            <a:ext cx="11064240" cy="868680"/>
          </a:xfrm>
          <a:prstGeom prst="rect">
            <a:avLst/>
          </a:prstGeom>
          <a:noFill/>
        </p:spPr>
        <p:txBody>
          <a:bodyPr wrap="square" lIns="45720" rIns="45720" anchor="t">
            <a:noAutofit/>
          </a:bodyPr>
          <a:lstStyle/>
          <a:p>
            <a:pPr algn="l">
              <a:lnSpc>
                <a:spcPct val="100000"/>
              </a:lnSpc>
              <a:spcAft>
                <a:spcPts val="400"/>
              </a:spcAft>
            </a:pPr>
            <a:r>
              <a:rPr sz="2800" b="0" i="0">
                <a:solidFill>
                  <a:srgbClr val="F5F5F0"/>
                </a:solidFill>
                <a:latin typeface="Georgia"/>
              </a:rPr>
              <a:t>Use case 1 · From 6,798 items to four thesis updates</a:t>
            </a:r>
          </a:p>
        </p:txBody>
      </p:sp>
      <p:cxnSp>
        <p:nvCxnSpPr>
          <p:cNvPr id="4" name="Connector 3"/>
          <p:cNvCxnSpPr/>
          <p:nvPr/>
        </p:nvCxnSpPr>
        <p:spPr>
          <a:xfrm>
            <a:off x="594360" y="1389888"/>
            <a:ext cx="914400" cy="0"/>
          </a:xfrm>
          <a:prstGeom prst="line">
            <a:avLst/>
          </a:prstGeom>
          <a:ln w="31750">
            <a:solidFill>
              <a:srgbClr val="0891B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737360"/>
            <a:ext cx="2103120" cy="457200"/>
          </a:xfrm>
          <a:prstGeom prst="rect">
            <a:avLst/>
          </a:prstGeom>
          <a:noFill/>
        </p:spPr>
        <p:txBody>
          <a:bodyPr wrap="square" lIns="45720" rIns="45720" anchor="ctr">
            <a:noAutofit/>
          </a:bodyPr>
          <a:lstStyle/>
          <a:p>
            <a:pPr algn="r">
              <a:lnSpc>
                <a:spcPct val="112000"/>
              </a:lnSpc>
              <a:spcAft>
                <a:spcPts val="400"/>
              </a:spcAft>
            </a:pPr>
            <a:r>
              <a:rPr sz="1150" b="0" i="0">
                <a:solidFill>
                  <a:srgbClr val="9CA3AF"/>
                </a:solidFill>
                <a:latin typeface="Calibri"/>
              </a:rPr>
              <a:t>Fetched overnight</a:t>
            </a:r>
          </a:p>
        </p:txBody>
      </p:sp>
      <p:sp>
        <p:nvSpPr>
          <p:cNvPr id="6" name="Rectangle 5"/>
          <p:cNvSpPr/>
          <p:nvPr/>
        </p:nvSpPr>
        <p:spPr>
          <a:xfrm>
            <a:off x="2743200" y="1810512"/>
            <a:ext cx="4206240" cy="310896"/>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22592" y="1737360"/>
            <a:ext cx="1371600" cy="457200"/>
          </a:xfrm>
          <a:prstGeom prst="rect">
            <a:avLst/>
          </a:prstGeom>
          <a:noFill/>
        </p:spPr>
        <p:txBody>
          <a:bodyPr wrap="square" lIns="45720" rIns="45720" anchor="ctr">
            <a:noAutofit/>
          </a:bodyPr>
          <a:lstStyle/>
          <a:p>
            <a:pPr algn="l">
              <a:lnSpc>
                <a:spcPct val="112000"/>
              </a:lnSpc>
              <a:spcAft>
                <a:spcPts val="400"/>
              </a:spcAft>
            </a:pPr>
            <a:r>
              <a:rPr sz="1200" b="1" i="0">
                <a:solidFill>
                  <a:srgbClr val="F5F5F0"/>
                </a:solidFill>
                <a:latin typeface="Calibri"/>
              </a:rPr>
              <a:t>6,798</a:t>
            </a:r>
          </a:p>
        </p:txBody>
      </p:sp>
      <p:sp>
        <p:nvSpPr>
          <p:cNvPr id="8" name="TextBox 7"/>
          <p:cNvSpPr txBox="1"/>
          <p:nvPr/>
        </p:nvSpPr>
        <p:spPr>
          <a:xfrm>
            <a:off x="548640" y="2304288"/>
            <a:ext cx="2103120" cy="457200"/>
          </a:xfrm>
          <a:prstGeom prst="rect">
            <a:avLst/>
          </a:prstGeom>
          <a:noFill/>
        </p:spPr>
        <p:txBody>
          <a:bodyPr wrap="square" lIns="45720" rIns="45720" anchor="ctr">
            <a:noAutofit/>
          </a:bodyPr>
          <a:lstStyle/>
          <a:p>
            <a:pPr algn="r">
              <a:lnSpc>
                <a:spcPct val="112000"/>
              </a:lnSpc>
              <a:spcAft>
                <a:spcPts val="400"/>
              </a:spcAft>
            </a:pPr>
            <a:r>
              <a:rPr sz="1150" b="0" i="0">
                <a:solidFill>
                  <a:srgbClr val="9CA3AF"/>
                </a:solidFill>
                <a:latin typeface="Calibri"/>
              </a:rPr>
              <a:t>New (not seen before)</a:t>
            </a:r>
          </a:p>
        </p:txBody>
      </p:sp>
      <p:sp>
        <p:nvSpPr>
          <p:cNvPr id="9" name="Rectangle 8"/>
          <p:cNvSpPr/>
          <p:nvPr/>
        </p:nvSpPr>
        <p:spPr>
          <a:xfrm>
            <a:off x="2743200" y="2377440"/>
            <a:ext cx="2249144" cy="310896"/>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65496" y="2304288"/>
            <a:ext cx="1371600" cy="457200"/>
          </a:xfrm>
          <a:prstGeom prst="rect">
            <a:avLst/>
          </a:prstGeom>
          <a:noFill/>
        </p:spPr>
        <p:txBody>
          <a:bodyPr wrap="square" lIns="45720" rIns="45720" anchor="ctr">
            <a:noAutofit/>
          </a:bodyPr>
          <a:lstStyle/>
          <a:p>
            <a:pPr algn="l">
              <a:lnSpc>
                <a:spcPct val="112000"/>
              </a:lnSpc>
              <a:spcAft>
                <a:spcPts val="400"/>
              </a:spcAft>
            </a:pPr>
            <a:r>
              <a:rPr sz="1200" b="1" i="0">
                <a:solidFill>
                  <a:srgbClr val="F5F5F0"/>
                </a:solidFill>
                <a:latin typeface="Calibri"/>
              </a:rPr>
              <a:t>3,635</a:t>
            </a:r>
          </a:p>
        </p:txBody>
      </p:sp>
      <p:sp>
        <p:nvSpPr>
          <p:cNvPr id="11" name="TextBox 10"/>
          <p:cNvSpPr txBox="1"/>
          <p:nvPr/>
        </p:nvSpPr>
        <p:spPr>
          <a:xfrm>
            <a:off x="548640" y="2871215"/>
            <a:ext cx="2103120" cy="457200"/>
          </a:xfrm>
          <a:prstGeom prst="rect">
            <a:avLst/>
          </a:prstGeom>
          <a:noFill/>
        </p:spPr>
        <p:txBody>
          <a:bodyPr wrap="square" lIns="45720" rIns="45720" anchor="ctr">
            <a:noAutofit/>
          </a:bodyPr>
          <a:lstStyle/>
          <a:p>
            <a:pPr algn="r">
              <a:lnSpc>
                <a:spcPct val="112000"/>
              </a:lnSpc>
              <a:spcAft>
                <a:spcPts val="400"/>
              </a:spcAft>
            </a:pPr>
            <a:r>
              <a:rPr sz="1150" b="0" i="0">
                <a:solidFill>
                  <a:srgbClr val="9CA3AF"/>
                </a:solidFill>
                <a:latin typeface="Calibri"/>
              </a:rPr>
              <a:t>Admitted after triage</a:t>
            </a:r>
          </a:p>
        </p:txBody>
      </p:sp>
      <p:sp>
        <p:nvSpPr>
          <p:cNvPr id="12" name="Rectangle 11"/>
          <p:cNvSpPr/>
          <p:nvPr/>
        </p:nvSpPr>
        <p:spPr>
          <a:xfrm>
            <a:off x="2743200" y="2944368"/>
            <a:ext cx="173867" cy="310896"/>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90219" y="2871215"/>
            <a:ext cx="1371600" cy="457200"/>
          </a:xfrm>
          <a:prstGeom prst="rect">
            <a:avLst/>
          </a:prstGeom>
          <a:noFill/>
        </p:spPr>
        <p:txBody>
          <a:bodyPr wrap="square" lIns="45720" rIns="45720" anchor="ctr">
            <a:noAutofit/>
          </a:bodyPr>
          <a:lstStyle/>
          <a:p>
            <a:pPr algn="l">
              <a:lnSpc>
                <a:spcPct val="112000"/>
              </a:lnSpc>
              <a:spcAft>
                <a:spcPts val="400"/>
              </a:spcAft>
            </a:pPr>
            <a:r>
              <a:rPr sz="1200" b="1" i="0">
                <a:solidFill>
                  <a:srgbClr val="F5F5F0"/>
                </a:solidFill>
                <a:latin typeface="Calibri"/>
              </a:rPr>
              <a:t>281</a:t>
            </a:r>
          </a:p>
        </p:txBody>
      </p:sp>
      <p:sp>
        <p:nvSpPr>
          <p:cNvPr id="14" name="TextBox 13"/>
          <p:cNvSpPr txBox="1"/>
          <p:nvPr/>
        </p:nvSpPr>
        <p:spPr>
          <a:xfrm>
            <a:off x="548640" y="3438144"/>
            <a:ext cx="2103120" cy="457200"/>
          </a:xfrm>
          <a:prstGeom prst="rect">
            <a:avLst/>
          </a:prstGeom>
          <a:noFill/>
        </p:spPr>
        <p:txBody>
          <a:bodyPr wrap="square" lIns="45720" rIns="45720" anchor="ctr">
            <a:noAutofit/>
          </a:bodyPr>
          <a:lstStyle/>
          <a:p>
            <a:pPr algn="r">
              <a:lnSpc>
                <a:spcPct val="112000"/>
              </a:lnSpc>
              <a:spcAft>
                <a:spcPts val="400"/>
              </a:spcAft>
            </a:pPr>
            <a:r>
              <a:rPr sz="1150" b="0" i="0">
                <a:solidFill>
                  <a:srgbClr val="9CA3AF"/>
                </a:solidFill>
                <a:latin typeface="Calibri"/>
              </a:rPr>
              <a:t>Stories after clustering</a:t>
            </a:r>
          </a:p>
        </p:txBody>
      </p:sp>
      <p:sp>
        <p:nvSpPr>
          <p:cNvPr id="15" name="Rectangle 14"/>
          <p:cNvSpPr/>
          <p:nvPr/>
        </p:nvSpPr>
        <p:spPr>
          <a:xfrm>
            <a:off x="2743200" y="3511296"/>
            <a:ext cx="139836" cy="310896"/>
          </a:xfrm>
          <a:prstGeom prst="rect">
            <a:avLst/>
          </a:prstGeom>
          <a:solidFill>
            <a:srgbClr val="0891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56188" y="3438144"/>
            <a:ext cx="1371600" cy="457200"/>
          </a:xfrm>
          <a:prstGeom prst="rect">
            <a:avLst/>
          </a:prstGeom>
          <a:noFill/>
        </p:spPr>
        <p:txBody>
          <a:bodyPr wrap="square" lIns="45720" rIns="45720" anchor="ctr">
            <a:noAutofit/>
          </a:bodyPr>
          <a:lstStyle/>
          <a:p>
            <a:pPr algn="l">
              <a:lnSpc>
                <a:spcPct val="112000"/>
              </a:lnSpc>
              <a:spcAft>
                <a:spcPts val="400"/>
              </a:spcAft>
            </a:pPr>
            <a:r>
              <a:rPr sz="1200" b="1" i="0">
                <a:solidFill>
                  <a:srgbClr val="F5F5F0"/>
                </a:solidFill>
                <a:latin typeface="Calibri"/>
              </a:rPr>
              <a:t>226</a:t>
            </a:r>
          </a:p>
        </p:txBody>
      </p:sp>
      <p:sp>
        <p:nvSpPr>
          <p:cNvPr id="17" name="TextBox 16"/>
          <p:cNvSpPr txBox="1"/>
          <p:nvPr/>
        </p:nvSpPr>
        <p:spPr>
          <a:xfrm>
            <a:off x="548640" y="4005072"/>
            <a:ext cx="2103120" cy="457200"/>
          </a:xfrm>
          <a:prstGeom prst="rect">
            <a:avLst/>
          </a:prstGeom>
          <a:noFill/>
        </p:spPr>
        <p:txBody>
          <a:bodyPr wrap="square" lIns="45720" rIns="45720" anchor="ctr">
            <a:noAutofit/>
          </a:bodyPr>
          <a:lstStyle/>
          <a:p>
            <a:pPr algn="r">
              <a:lnSpc>
                <a:spcPct val="112000"/>
              </a:lnSpc>
              <a:spcAft>
                <a:spcPts val="400"/>
              </a:spcAft>
            </a:pPr>
            <a:r>
              <a:rPr sz="1150" b="1" i="0">
                <a:solidFill>
                  <a:srgbClr val="F59E0B"/>
                </a:solidFill>
                <a:latin typeface="Calibri"/>
              </a:rPr>
              <a:t>Ingested by hand</a:t>
            </a:r>
          </a:p>
        </p:txBody>
      </p:sp>
      <p:sp>
        <p:nvSpPr>
          <p:cNvPr id="18" name="Oval 17"/>
          <p:cNvSpPr/>
          <p:nvPr/>
        </p:nvSpPr>
        <p:spPr>
          <a:xfrm>
            <a:off x="2743200" y="4142232"/>
            <a:ext cx="182880" cy="18288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7520" y="4005072"/>
            <a:ext cx="3657600" cy="457200"/>
          </a:xfrm>
          <a:prstGeom prst="rect">
            <a:avLst/>
          </a:prstGeom>
          <a:noFill/>
        </p:spPr>
        <p:txBody>
          <a:bodyPr wrap="square" lIns="45720" rIns="45720" anchor="ctr">
            <a:noAutofit/>
          </a:bodyPr>
          <a:lstStyle/>
          <a:p>
            <a:pPr algn="l">
              <a:lnSpc>
                <a:spcPct val="112000"/>
              </a:lnSpc>
              <a:spcAft>
                <a:spcPts val="400"/>
              </a:spcAft>
            </a:pPr>
            <a:r>
              <a:rPr sz="1200" b="1" i="0">
                <a:solidFill>
                  <a:srgbClr val="F59E0B"/>
                </a:solidFill>
                <a:latin typeface="Calibri"/>
              </a:rPr>
              <a:t>1–3 stories, chosen by us</a:t>
            </a:r>
          </a:p>
        </p:txBody>
      </p:sp>
      <p:sp>
        <p:nvSpPr>
          <p:cNvPr id="20" name="TextBox 19"/>
          <p:cNvSpPr txBox="1"/>
          <p:nvPr/>
        </p:nvSpPr>
        <p:spPr>
          <a:xfrm>
            <a:off x="548640" y="4754880"/>
            <a:ext cx="6766560" cy="1097280"/>
          </a:xfrm>
          <a:prstGeom prst="rect">
            <a:avLst/>
          </a:prstGeom>
          <a:noFill/>
        </p:spPr>
        <p:txBody>
          <a:bodyPr wrap="square" lIns="45720" rIns="45720" anchor="t">
            <a:noAutofit/>
          </a:bodyPr>
          <a:lstStyle/>
          <a:p>
            <a:pPr algn="l">
              <a:lnSpc>
                <a:spcPct val="112000"/>
              </a:lnSpc>
              <a:spcAft>
                <a:spcPts val="400"/>
              </a:spcAft>
            </a:pPr>
            <a:r>
              <a:rPr sz="1200" b="0" i="0">
                <a:solidFill>
                  <a:srgbClr val="9CA3AF"/>
                </a:solidFill>
                <a:latin typeface="Calibri"/>
              </a:rPr>
              <a:t>One morning brief, 15 August 2026. Nothing from the overnight layer enters the book by itself; the sensing stays wide and the spine stays curated.</a:t>
            </a:r>
          </a:p>
        </p:txBody>
      </p:sp>
      <p:sp>
        <p:nvSpPr>
          <p:cNvPr id="21" name="Rounded Rectangle 20"/>
          <p:cNvSpPr/>
          <p:nvPr/>
        </p:nvSpPr>
        <p:spPr>
          <a:xfrm>
            <a:off x="7589520" y="1691640"/>
            <a:ext cx="4023360" cy="1097280"/>
          </a:xfrm>
          <a:prstGeom prst="roundRect">
            <a:avLst>
              <a:gd name="adj" fmla="val 12000"/>
            </a:avLst>
          </a:prstGeom>
          <a:solidFill>
            <a:srgbClr val="1B2027"/>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noAutofit/>
          </a:bodyPr>
          <a:lstStyle/>
          <a:p>
            <a:pPr algn="l">
              <a:lnSpc>
                <a:spcPct val="110000"/>
              </a:lnSpc>
              <a:spcAft>
                <a:spcPts val="200"/>
              </a:spcAft>
            </a:pPr>
            <a:r>
              <a:rPr sz="1050" b="1" i="0">
                <a:solidFill>
                  <a:srgbClr val="22D3EE"/>
                </a:solidFill>
                <a:latin typeface="Calibri"/>
              </a:rPr>
              <a:t>21 Aug · source</a:t>
            </a:r>
          </a:p>
          <a:p>
            <a:pPr algn="l">
              <a:lnSpc>
                <a:spcPct val="110000"/>
              </a:lnSpc>
              <a:spcAft>
                <a:spcPts val="300"/>
              </a:spcAft>
            </a:pPr>
            <a:r>
              <a:rPr sz="1250" b="0" i="0">
                <a:solidFill>
                  <a:srgbClr val="D1D5DB"/>
                </a:solidFill>
                <a:latin typeface="Calibri"/>
              </a:rPr>
              <a:t>A subscriber deep-dive on Marvell arrives by email</a:t>
            </a:r>
          </a:p>
        </p:txBody>
      </p:sp>
      <p:cxnSp>
        <p:nvCxnSpPr>
          <p:cNvPr id="22" name="Connector 21"/>
          <p:cNvCxnSpPr/>
          <p:nvPr/>
        </p:nvCxnSpPr>
        <p:spPr>
          <a:xfrm>
            <a:off x="9601200" y="2788920"/>
            <a:ext cx="0" cy="274320"/>
          </a:xfrm>
          <a:prstGeom prst="line">
            <a:avLst/>
          </a:prstGeom>
          <a:ln w="25400">
            <a:solidFill>
              <a:srgbClr val="0891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589520" y="3063240"/>
            <a:ext cx="4023360" cy="1371600"/>
          </a:xfrm>
          <a:prstGeom prst="roundRect">
            <a:avLst>
              <a:gd name="adj" fmla="val 12000"/>
            </a:avLst>
          </a:prstGeom>
          <a:solidFill>
            <a:srgbClr val="232932"/>
          </a:solidFill>
          <a:ln w="12700">
            <a:solidFill>
              <a:srgbClr val="0891B2"/>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noAutofit/>
          </a:bodyPr>
          <a:lstStyle/>
          <a:p>
            <a:pPr algn="l">
              <a:lnSpc>
                <a:spcPct val="110000"/>
              </a:lnSpc>
              <a:spcAft>
                <a:spcPts val="200"/>
              </a:spcAft>
            </a:pPr>
            <a:r>
              <a:rPr sz="1050" b="1" i="0">
                <a:solidFill>
                  <a:srgbClr val="22D3EE"/>
                </a:solidFill>
                <a:latin typeface="Calibri"/>
              </a:rPr>
              <a:t>/ingest → research note</a:t>
            </a:r>
          </a:p>
          <a:p>
            <a:pPr algn="l">
              <a:lnSpc>
                <a:spcPct val="110000"/>
              </a:lnSpc>
              <a:spcAft>
                <a:spcPts val="300"/>
              </a:spcAft>
            </a:pPr>
            <a:r>
              <a:rPr sz="1200" b="0" i="0">
                <a:solidFill>
                  <a:srgbClr val="D1D5DB"/>
                </a:solidFill>
                <a:latin typeface="Calibri"/>
              </a:rPr>
              <a:t>Leads with what changed for the thesis; tests the datapoint against the pre-registered triggers: touched, not fired</a:t>
            </a:r>
          </a:p>
        </p:txBody>
      </p:sp>
      <p:cxnSp>
        <p:nvCxnSpPr>
          <p:cNvPr id="24" name="Connector 23"/>
          <p:cNvCxnSpPr/>
          <p:nvPr/>
        </p:nvCxnSpPr>
        <p:spPr>
          <a:xfrm>
            <a:off x="9601200" y="4434840"/>
            <a:ext cx="0" cy="274320"/>
          </a:xfrm>
          <a:prstGeom prst="line">
            <a:avLst/>
          </a:prstGeom>
          <a:ln w="25400">
            <a:solidFill>
              <a:srgbClr val="0891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589520" y="4709160"/>
            <a:ext cx="4023360" cy="1234440"/>
          </a:xfrm>
          <a:prstGeom prst="roundRect">
            <a:avLst>
              <a:gd name="adj" fmla="val 12000"/>
            </a:avLst>
          </a:prstGeom>
          <a:solidFill>
            <a:srgbClr val="1B2027"/>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noAutofit/>
          </a:bodyPr>
          <a:lstStyle/>
          <a:p>
            <a:pPr algn="l">
              <a:lnSpc>
                <a:spcPct val="110000"/>
              </a:lnSpc>
              <a:spcAft>
                <a:spcPts val="200"/>
              </a:spcAft>
            </a:pPr>
            <a:r>
              <a:rPr sz="1050" b="1" i="0">
                <a:solidFill>
                  <a:srgbClr val="22D3EE"/>
                </a:solidFill>
                <a:latin typeface="Calibri"/>
              </a:rPr>
              <a:t>/sync → four theses</a:t>
            </a:r>
          </a:p>
          <a:p>
            <a:pPr algn="l">
              <a:lnSpc>
                <a:spcPct val="110000"/>
              </a:lnSpc>
              <a:spcAft>
                <a:spcPts val="300"/>
              </a:spcAft>
            </a:pPr>
            <a:r>
              <a:rPr sz="1200" b="0" i="0">
                <a:solidFill>
                  <a:srgbClr val="D1D5DB"/>
                </a:solidFill>
                <a:latin typeface="Calibri"/>
              </a:rPr>
              <a:t>Dated log entries in Marvell, Nvidia, SK Hynix and Broadcom, each linking back to the note; conviction unchanged on all four</a:t>
            </a:r>
          </a:p>
        </p:txBody>
      </p:sp>
      <p:sp>
        <p:nvSpPr>
          <p:cNvPr id="26" name="TextBox 25"/>
          <p:cNvSpPr txBox="1"/>
          <p:nvPr/>
        </p:nvSpPr>
        <p:spPr>
          <a:xfrm>
            <a:off x="548640" y="5989320"/>
            <a:ext cx="11064240" cy="457200"/>
          </a:xfrm>
          <a:prstGeom prst="rect">
            <a:avLst/>
          </a:prstGeom>
          <a:noFill/>
        </p:spPr>
        <p:txBody>
          <a:bodyPr wrap="square" lIns="45720" rIns="45720" anchor="t">
            <a:noAutofit/>
          </a:bodyPr>
          <a:lstStyle/>
          <a:p>
            <a:pPr algn="l">
              <a:lnSpc>
                <a:spcPct val="112000"/>
              </a:lnSpc>
              <a:spcAft>
                <a:spcPts val="400"/>
              </a:spcAft>
            </a:pPr>
            <a:r>
              <a:rPr sz="1350" b="0" i="1">
                <a:solidFill>
                  <a:srgbClr val="22D3EE"/>
                </a:solidFill>
                <a:latin typeface="Calibri"/>
              </a:rPr>
              <a:t>By the time we have read a source, the book already reflects it everywhere it matters.</a:t>
            </a:r>
          </a:p>
        </p:txBody>
      </p:sp>
      <p:sp>
        <p:nvSpPr>
          <p:cNvPr id="27" name="footer"/>
          <p:cNvSpPr txBox="1"/>
          <p:nvPr/>
        </p:nvSpPr>
        <p:spPr>
          <a:xfrm>
            <a:off x="548640" y="6446520"/>
            <a:ext cx="7772400" cy="274320"/>
          </a:xfrm>
          <a:prstGeom prst="rect">
            <a:avLst/>
          </a:prstGeom>
          <a:noFill/>
        </p:spPr>
        <p:txBody>
          <a:bodyPr wrap="square" lIns="45720" rIns="45720" anchor="t">
            <a:noAutofit/>
          </a:bodyPr>
          <a:lstStyle/>
          <a:p>
            <a:pPr algn="l">
              <a:lnSpc>
                <a:spcPct val="112000"/>
              </a:lnSpc>
              <a:spcAft>
                <a:spcPts val="400"/>
              </a:spcAft>
            </a:pPr>
            <a:r>
              <a:rPr sz="900" b="0" i="0">
                <a:solidFill>
                  <a:srgbClr val="6B7280"/>
                </a:solidFill>
                <a:latin typeface="Calibri"/>
              </a:rPr>
              <a:t>Laniakea Partners · A Second Brain for Investing · August 2026  ·  Part 4</a:t>
            </a:r>
          </a:p>
        </p:txBody>
      </p:sp>
      <p:sp>
        <p:nvSpPr>
          <p:cNvPr id="28" name="footer"/>
          <p:cNvSpPr txBox="1"/>
          <p:nvPr/>
        </p:nvSpPr>
        <p:spPr>
          <a:xfrm>
            <a:off x="10332720" y="6446520"/>
            <a:ext cx="1325880" cy="274320"/>
          </a:xfrm>
          <a:prstGeom prst="rect">
            <a:avLst/>
          </a:prstGeom>
          <a:noFill/>
        </p:spPr>
        <p:txBody>
          <a:bodyPr wrap="square" lIns="45720" rIns="45720" anchor="t">
            <a:noAutofit/>
          </a:bodyPr>
          <a:lstStyle/>
          <a:p>
            <a:pPr algn="r">
              <a:lnSpc>
                <a:spcPct val="112000"/>
              </a:lnSpc>
              <a:spcAft>
                <a:spcPts val="400"/>
              </a:spcAft>
            </a:pPr>
            <a:r>
              <a:rPr sz="900" b="0" i="0">
                <a:solidFill>
                  <a:srgbClr val="6B7280"/>
                </a:solidFill>
                <a:latin typeface="Calibri"/>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548640" y="292608"/>
            <a:ext cx="10972800" cy="320040"/>
          </a:xfrm>
          <a:prstGeom prst="rect">
            <a:avLst/>
          </a:prstGeom>
          <a:noFill/>
        </p:spPr>
        <p:txBody>
          <a:bodyPr wrap="square" lIns="45720" rIns="45720" anchor="t">
            <a:noAutofit/>
          </a:bodyPr>
          <a:lstStyle/>
          <a:p>
            <a:pPr algn="l">
              <a:lnSpc>
                <a:spcPct val="112000"/>
              </a:lnSpc>
              <a:spcAft>
                <a:spcPts val="400"/>
              </a:spcAft>
            </a:pPr>
            <a:r>
              <a:rPr sz="1100" b="1" i="0">
                <a:solidFill>
                  <a:srgbClr val="22D3EE"/>
                </a:solidFill>
                <a:latin typeface="Calibri"/>
              </a:rPr>
              <a:t>PART 4 · USE CASES</a:t>
            </a:r>
          </a:p>
        </p:txBody>
      </p:sp>
      <p:sp>
        <p:nvSpPr>
          <p:cNvPr id="3" name="TextBox 2"/>
          <p:cNvSpPr txBox="1"/>
          <p:nvPr/>
        </p:nvSpPr>
        <p:spPr>
          <a:xfrm>
            <a:off x="548640" y="566928"/>
            <a:ext cx="11064240" cy="868680"/>
          </a:xfrm>
          <a:prstGeom prst="rect">
            <a:avLst/>
          </a:prstGeom>
          <a:noFill/>
        </p:spPr>
        <p:txBody>
          <a:bodyPr wrap="square" lIns="45720" rIns="45720" anchor="t">
            <a:noAutofit/>
          </a:bodyPr>
          <a:lstStyle/>
          <a:p>
            <a:pPr algn="l">
              <a:lnSpc>
                <a:spcPct val="100000"/>
              </a:lnSpc>
              <a:spcAft>
                <a:spcPts val="400"/>
              </a:spcAft>
            </a:pPr>
            <a:r>
              <a:rPr sz="2800" b="0" i="0">
                <a:solidFill>
                  <a:srgbClr val="F5F5F0"/>
                </a:solidFill>
                <a:latin typeface="Georgia"/>
              </a:rPr>
              <a:t>Use case 2 · Earnings season: transcripts read against the thesis</a:t>
            </a:r>
          </a:p>
        </p:txBody>
      </p:sp>
      <p:cxnSp>
        <p:nvCxnSpPr>
          <p:cNvPr id="4" name="Connector 3"/>
          <p:cNvCxnSpPr/>
          <p:nvPr/>
        </p:nvCxnSpPr>
        <p:spPr>
          <a:xfrm>
            <a:off x="594360" y="1389888"/>
            <a:ext cx="914400" cy="0"/>
          </a:xfrm>
          <a:prstGeom prst="line">
            <a:avLst/>
          </a:prstGeom>
          <a:ln w="31750">
            <a:solidFill>
              <a:srgbClr val="0891B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554480"/>
            <a:ext cx="11064240" cy="502920"/>
          </a:xfrm>
          <a:prstGeom prst="rect">
            <a:avLst/>
          </a:prstGeom>
          <a:noFill/>
        </p:spPr>
        <p:txBody>
          <a:bodyPr wrap="square" lIns="45720" rIns="45720" anchor="t">
            <a:noAutofit/>
          </a:bodyPr>
          <a:lstStyle/>
          <a:p>
            <a:pPr algn="l">
              <a:lnSpc>
                <a:spcPct val="112000"/>
              </a:lnSpc>
              <a:spcAft>
                <a:spcPts val="400"/>
              </a:spcAft>
            </a:pPr>
            <a:r>
              <a:rPr sz="1350" b="0" i="0">
                <a:solidFill>
                  <a:srgbClr val="D1D5DB"/>
                </a:solidFill>
                <a:latin typeface="Calibri"/>
              </a:rPr>
              <a:t>29 May 2026: about 24 transcripts, the latest four quarters for six holdings, pulled and diffed against what each thesis said management would say.</a:t>
            </a:r>
          </a:p>
        </p:txBody>
      </p:sp>
      <p:graphicFrame>
        <p:nvGraphicFramePr>
          <p:cNvPr id="6" name="Table 5"/>
          <p:cNvGraphicFramePr>
            <a:graphicFrameLocks noGrp="1"/>
          </p:cNvGraphicFramePr>
          <p:nvPr/>
        </p:nvGraphicFramePr>
        <p:xfrm>
          <a:off x="548640" y="2103120"/>
          <a:ext cx="11064240" cy="3291834"/>
        </p:xfrm>
        <a:graphic>
          <a:graphicData uri="http://schemas.openxmlformats.org/drawingml/2006/table">
            <a:tbl>
              <a:tblPr firstRow="1">
                <a:tableStyleId>{5C22544A-7EE6-4342-B048-85BDC9FD1C3A}</a:tableStyleId>
              </a:tblPr>
              <a:tblGrid>
                <a:gridCol w="1463040"/>
                <a:gridCol w="2926080"/>
                <a:gridCol w="6675120"/>
              </a:tblGrid>
              <a:tr h="470262">
                <a:tc>
                  <a:txBody>
                    <a:bodyPr wrap="square"/>
                    <a:lstStyle/>
                    <a:p>
                      <a:pPr algn="l">
                        <a:lnSpc>
                          <a:spcPct val="108000"/>
                        </a:lnSpc>
                        <a:spcAft>
                          <a:spcPts val="200"/>
                        </a:spcAft>
                      </a:pPr>
                      <a:r>
                        <a:rPr sz="1200" b="1" i="0">
                          <a:solidFill>
                            <a:srgbClr val="FFFFFF"/>
                          </a:solidFill>
                          <a:latin typeface="Calibri"/>
                        </a:rPr>
                        <a:t>Name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0E4F63"/>
                    </a:solidFill>
                  </a:tcPr>
                </a:tc>
                <a:tc>
                  <a:txBody>
                    <a:bodyPr wrap="square"/>
                    <a:lstStyle/>
                    <a:p>
                      <a:pPr algn="l">
                        <a:lnSpc>
                          <a:spcPct val="108000"/>
                        </a:lnSpc>
                        <a:spcAft>
                          <a:spcPts val="200"/>
                        </a:spcAft>
                      </a:pPr>
                      <a:r>
                        <a:rPr sz="1200" b="1" i="0">
                          <a:solidFill>
                            <a:srgbClr val="FFFFFF"/>
                          </a:solidFill>
                          <a:latin typeface="Calibri"/>
                        </a:rPr>
                        <a:t>Verdict</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0E4F63"/>
                    </a:solidFill>
                  </a:tcPr>
                </a:tc>
                <a:tc>
                  <a:txBody>
                    <a:bodyPr wrap="square"/>
                    <a:lstStyle/>
                    <a:p>
                      <a:pPr algn="l">
                        <a:lnSpc>
                          <a:spcPct val="108000"/>
                        </a:lnSpc>
                        <a:spcAft>
                          <a:spcPts val="200"/>
                        </a:spcAft>
                      </a:pPr>
                      <a:r>
                        <a:rPr sz="1200" b="1" i="0">
                          <a:solidFill>
                            <a:srgbClr val="FFFFFF"/>
                          </a:solidFill>
                          <a:latin typeface="Calibri"/>
                        </a:rPr>
                        <a:t>Most material finding</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0E4F63"/>
                    </a:solidFill>
                  </a:tcPr>
                </a:tc>
              </a:tr>
              <a:tr h="470262">
                <a:tc>
                  <a:txBody>
                    <a:bodyPr wrap="square"/>
                    <a:lstStyle/>
                    <a:p>
                      <a:pPr algn="l">
                        <a:lnSpc>
                          <a:spcPct val="108000"/>
                        </a:lnSpc>
                        <a:spcAft>
                          <a:spcPts val="200"/>
                        </a:spcAft>
                      </a:pPr>
                      <a:r>
                        <a:rPr sz="1200" b="1" i="0">
                          <a:solidFill>
                            <a:srgbClr val="F5F5F0"/>
                          </a:solidFill>
                          <a:latin typeface="Calibri"/>
                        </a:rPr>
                        <a:t>Murata</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200" b="0" i="0">
                          <a:solidFill>
                            <a:srgbClr val="D1D5DB"/>
                          </a:solidFill>
                          <a:latin typeface="Calibri"/>
                        </a:rPr>
                        <a:t>Confirmed, reality ahead</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200" b="0" i="0">
                          <a:solidFill>
                            <a:srgbClr val="D1D5DB"/>
                          </a:solidFill>
                          <a:latin typeface="Calibri"/>
                        </a:rPr>
                        <a:t>FY27 operating profit guided +35% on data-centre mix; the thesis modelled less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r>
              <a:tr h="470262">
                <a:tc>
                  <a:txBody>
                    <a:bodyPr wrap="square"/>
                    <a:lstStyle/>
                    <a:p>
                      <a:pPr algn="l">
                        <a:lnSpc>
                          <a:spcPct val="108000"/>
                        </a:lnSpc>
                        <a:spcAft>
                          <a:spcPts val="200"/>
                        </a:spcAft>
                      </a:pPr>
                      <a:r>
                        <a:rPr sz="1200" b="1" i="0">
                          <a:solidFill>
                            <a:srgbClr val="F5F5F0"/>
                          </a:solidFill>
                          <a:latin typeface="Calibri"/>
                        </a:rPr>
                        <a:t>Vicor</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200" b="0" i="0">
                          <a:solidFill>
                            <a:srgbClr val="D1D5DB"/>
                          </a:solidFill>
                          <a:latin typeface="Calibri"/>
                        </a:rPr>
                        <a:t>Numbers hold; framing overstated</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200" b="0" i="0">
                          <a:solidFill>
                            <a:srgbClr val="D1D5DB"/>
                          </a:solidFill>
                          <a:latin typeface="Calibri"/>
                        </a:rPr>
                        <a:t>'Rubin' said zero times in four calls; new licensing deals paused to 2027</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r>
              <a:tr h="470262">
                <a:tc>
                  <a:txBody>
                    <a:bodyPr wrap="square"/>
                    <a:lstStyle/>
                    <a:p>
                      <a:pPr algn="l">
                        <a:lnSpc>
                          <a:spcPct val="108000"/>
                        </a:lnSpc>
                        <a:spcAft>
                          <a:spcPts val="200"/>
                        </a:spcAft>
                      </a:pPr>
                      <a:r>
                        <a:rPr sz="1200" b="1" i="0">
                          <a:solidFill>
                            <a:srgbClr val="F5F5F0"/>
                          </a:solidFill>
                          <a:latin typeface="Calibri"/>
                        </a:rPr>
                        <a:t>Aehr</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200" b="0" i="0">
                          <a:solidFill>
                            <a:srgbClr val="D1D5DB"/>
                          </a:solidFill>
                          <a:latin typeface="Calibri"/>
                        </a:rPr>
                        <a:t>Numbers hold; one claim overstated</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200" b="0" i="0">
                          <a:solidFill>
                            <a:srgbClr val="D1D5DB"/>
                          </a:solidFill>
                          <a:latin typeface="Calibri"/>
                        </a:rPr>
                        <a:t>CEO: 'most ASICs are not burnt-in'; an adoption curve, not a mandate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r>
              <a:tr h="470262">
                <a:tc>
                  <a:txBody>
                    <a:bodyPr wrap="square"/>
                    <a:lstStyle/>
                    <a:p>
                      <a:pPr algn="l">
                        <a:lnSpc>
                          <a:spcPct val="108000"/>
                        </a:lnSpc>
                        <a:spcAft>
                          <a:spcPts val="200"/>
                        </a:spcAft>
                      </a:pPr>
                      <a:r>
                        <a:rPr sz="1200" b="1" i="0">
                          <a:solidFill>
                            <a:srgbClr val="F5F5F0"/>
                          </a:solidFill>
                          <a:latin typeface="Calibri"/>
                        </a:rPr>
                        <a:t>Ajinomoto</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200" b="0" i="0">
                          <a:solidFill>
                            <a:srgbClr val="D1D5DB"/>
                          </a:solidFill>
                          <a:latin typeface="Calibri"/>
                        </a:rPr>
                        <a:t>ABF confirmed; food framing wrong</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200" b="0" i="0">
                          <a:solidFill>
                            <a:srgbClr val="D1D5DB"/>
                          </a:solidFill>
                          <a:latin typeface="Calibri"/>
                        </a:rPr>
                        <a:t>The food segment is improving, not the drag the thesis described</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r>
              <a:tr h="470262">
                <a:tc>
                  <a:txBody>
                    <a:bodyPr wrap="square"/>
                    <a:lstStyle/>
                    <a:p>
                      <a:pPr algn="l">
                        <a:lnSpc>
                          <a:spcPct val="108000"/>
                        </a:lnSpc>
                        <a:spcAft>
                          <a:spcPts val="200"/>
                        </a:spcAft>
                      </a:pPr>
                      <a:r>
                        <a:rPr sz="1200" b="1" i="0">
                          <a:solidFill>
                            <a:srgbClr val="F5F5F0"/>
                          </a:solidFill>
                          <a:latin typeface="Calibri"/>
                        </a:rPr>
                        <a:t>Advantest</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200" b="0" i="0">
                          <a:solidFill>
                            <a:srgbClr val="D1D5DB"/>
                          </a:solidFill>
                          <a:latin typeface="Calibri"/>
                        </a:rPr>
                        <a:t>Case intact; three specifics wrong</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200" b="0" i="0">
                          <a:solidFill>
                            <a:srgbClr val="D1D5DB"/>
                          </a:solidFill>
                          <a:latin typeface="Calibri"/>
                        </a:rPr>
                        <a:t>'10k systems by 2028' was annual capacity, not installed base; share 66%, not 95%</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r>
              <a:tr h="470262">
                <a:tc>
                  <a:txBody>
                    <a:bodyPr wrap="square"/>
                    <a:lstStyle/>
                    <a:p>
                      <a:pPr algn="l">
                        <a:lnSpc>
                          <a:spcPct val="108000"/>
                        </a:lnSpc>
                        <a:spcAft>
                          <a:spcPts val="200"/>
                        </a:spcAft>
                      </a:pPr>
                      <a:r>
                        <a:rPr sz="1200" b="1" i="0">
                          <a:solidFill>
                            <a:srgbClr val="F5F5F0"/>
                          </a:solidFill>
                          <a:latin typeface="Calibri"/>
                        </a:rPr>
                        <a:t>Aixtron</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200" b="0" i="0">
                          <a:solidFill>
                            <a:srgbClr val="D1D5DB"/>
                          </a:solidFill>
                          <a:latin typeface="Calibri"/>
                        </a:rPr>
                        <a:t>Mix-shift confirmed; guide misquoted</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200" b="0" i="0">
                          <a:solidFill>
                            <a:srgbClr val="D1D5DB"/>
                          </a:solidFill>
                          <a:latin typeface="Calibri"/>
                        </a:rPr>
                        <a:t>FY26 guide is €520M, 'slightly down', not the raise the thesis claimed</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r>
            </a:tbl>
          </a:graphicData>
        </a:graphic>
      </p:graphicFrame>
      <p:sp>
        <p:nvSpPr>
          <p:cNvPr id="7" name="TextBox 6"/>
          <p:cNvSpPr txBox="1"/>
          <p:nvPr/>
        </p:nvSpPr>
        <p:spPr>
          <a:xfrm>
            <a:off x="548640" y="5577840"/>
            <a:ext cx="11064240" cy="822960"/>
          </a:xfrm>
          <a:prstGeom prst="rect">
            <a:avLst/>
          </a:prstGeom>
          <a:noFill/>
        </p:spPr>
        <p:txBody>
          <a:bodyPr wrap="square" lIns="45720" rIns="45720" anchor="t">
            <a:noAutofit/>
          </a:bodyPr>
          <a:lstStyle/>
          <a:p>
            <a:pPr algn="l">
              <a:lnSpc>
                <a:spcPct val="112000"/>
              </a:lnSpc>
              <a:spcAft>
                <a:spcPts val="400"/>
              </a:spcAft>
            </a:pPr>
            <a:r>
              <a:rPr sz="1350" b="0" i="1">
                <a:solidFill>
                  <a:srgbClr val="22D3EE"/>
                </a:solidFill>
                <a:latin typeface="Calibri"/>
              </a:rPr>
              <a:t>No thesis broken; three headline numbers corrected before they were used in sizing. The recurring pattern: 'AI-necessity' framing consistently outruns what management will actually say.</a:t>
            </a:r>
          </a:p>
        </p:txBody>
      </p:sp>
      <p:sp>
        <p:nvSpPr>
          <p:cNvPr id="8" name="footer"/>
          <p:cNvSpPr txBox="1"/>
          <p:nvPr/>
        </p:nvSpPr>
        <p:spPr>
          <a:xfrm>
            <a:off x="548640" y="6446520"/>
            <a:ext cx="7772400" cy="274320"/>
          </a:xfrm>
          <a:prstGeom prst="rect">
            <a:avLst/>
          </a:prstGeom>
          <a:noFill/>
        </p:spPr>
        <p:txBody>
          <a:bodyPr wrap="square" lIns="45720" rIns="45720" anchor="t">
            <a:noAutofit/>
          </a:bodyPr>
          <a:lstStyle/>
          <a:p>
            <a:pPr algn="l">
              <a:lnSpc>
                <a:spcPct val="112000"/>
              </a:lnSpc>
              <a:spcAft>
                <a:spcPts val="400"/>
              </a:spcAft>
            </a:pPr>
            <a:r>
              <a:rPr sz="900" b="0" i="0">
                <a:solidFill>
                  <a:srgbClr val="6B7280"/>
                </a:solidFill>
                <a:latin typeface="Calibri"/>
              </a:rPr>
              <a:t>Laniakea Partners · A Second Brain for Investing · August 2026  ·  Part 4</a:t>
            </a:r>
          </a:p>
        </p:txBody>
      </p:sp>
      <p:sp>
        <p:nvSpPr>
          <p:cNvPr id="9" name="footer"/>
          <p:cNvSpPr txBox="1"/>
          <p:nvPr/>
        </p:nvSpPr>
        <p:spPr>
          <a:xfrm>
            <a:off x="10332720" y="6446520"/>
            <a:ext cx="1325880" cy="274320"/>
          </a:xfrm>
          <a:prstGeom prst="rect">
            <a:avLst/>
          </a:prstGeom>
          <a:noFill/>
        </p:spPr>
        <p:txBody>
          <a:bodyPr wrap="square" lIns="45720" rIns="45720" anchor="t">
            <a:noAutofit/>
          </a:bodyPr>
          <a:lstStyle/>
          <a:p>
            <a:pPr algn="r">
              <a:lnSpc>
                <a:spcPct val="112000"/>
              </a:lnSpc>
              <a:spcAft>
                <a:spcPts val="400"/>
              </a:spcAft>
            </a:pPr>
            <a:r>
              <a:rPr sz="900" b="0" i="0">
                <a:solidFill>
                  <a:srgbClr val="6B7280"/>
                </a:solidFill>
                <a:latin typeface="Calibri"/>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548640" y="292608"/>
            <a:ext cx="10972800" cy="320040"/>
          </a:xfrm>
          <a:prstGeom prst="rect">
            <a:avLst/>
          </a:prstGeom>
          <a:noFill/>
        </p:spPr>
        <p:txBody>
          <a:bodyPr wrap="square" lIns="45720" rIns="45720" anchor="t">
            <a:noAutofit/>
          </a:bodyPr>
          <a:lstStyle/>
          <a:p>
            <a:pPr algn="l">
              <a:lnSpc>
                <a:spcPct val="112000"/>
              </a:lnSpc>
              <a:spcAft>
                <a:spcPts val="400"/>
              </a:spcAft>
            </a:pPr>
            <a:r>
              <a:rPr sz="1100" b="1" i="0">
                <a:solidFill>
                  <a:srgbClr val="22D3EE"/>
                </a:solidFill>
                <a:latin typeface="Calibri"/>
              </a:rPr>
              <a:t>PART 4 · USE CASES</a:t>
            </a:r>
          </a:p>
        </p:txBody>
      </p:sp>
      <p:sp>
        <p:nvSpPr>
          <p:cNvPr id="3" name="TextBox 2"/>
          <p:cNvSpPr txBox="1"/>
          <p:nvPr/>
        </p:nvSpPr>
        <p:spPr>
          <a:xfrm>
            <a:off x="548640" y="566928"/>
            <a:ext cx="11064240" cy="868680"/>
          </a:xfrm>
          <a:prstGeom prst="rect">
            <a:avLst/>
          </a:prstGeom>
          <a:noFill/>
        </p:spPr>
        <p:txBody>
          <a:bodyPr wrap="square" lIns="45720" rIns="45720" anchor="t">
            <a:noAutofit/>
          </a:bodyPr>
          <a:lstStyle/>
          <a:p>
            <a:pPr algn="l">
              <a:lnSpc>
                <a:spcPct val="100000"/>
              </a:lnSpc>
              <a:spcAft>
                <a:spcPts val="400"/>
              </a:spcAft>
            </a:pPr>
            <a:r>
              <a:rPr sz="2800" b="0" i="0">
                <a:solidFill>
                  <a:srgbClr val="F5F5F0"/>
                </a:solidFill>
                <a:latin typeface="Georgia"/>
              </a:rPr>
              <a:t>Use case 3 · What if? A scenario through the whole book</a:t>
            </a:r>
          </a:p>
        </p:txBody>
      </p:sp>
      <p:cxnSp>
        <p:nvCxnSpPr>
          <p:cNvPr id="4" name="Connector 3"/>
          <p:cNvCxnSpPr/>
          <p:nvPr/>
        </p:nvCxnSpPr>
        <p:spPr>
          <a:xfrm>
            <a:off x="594360" y="1389888"/>
            <a:ext cx="914400" cy="0"/>
          </a:xfrm>
          <a:prstGeom prst="line">
            <a:avLst/>
          </a:prstGeom>
          <a:ln w="31750">
            <a:solidFill>
              <a:srgbClr val="0891B2"/>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1645920"/>
            <a:ext cx="3931920" cy="4206240"/>
          </a:xfrm>
          <a:prstGeom prst="roundRect">
            <a:avLst>
              <a:gd name="adj" fmla="val 12000"/>
            </a:avLst>
          </a:prstGeom>
          <a:solidFill>
            <a:srgbClr val="232932"/>
          </a:solidFill>
          <a:ln w="12700">
            <a:solidFill>
              <a:srgbClr val="0891B2"/>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6809" bIns="76809" wrap="square">
            <a:noAutofit/>
          </a:bodyPr>
          <a:lstStyle/>
          <a:p>
            <a:pPr algn="l">
              <a:lnSpc>
                <a:spcPct val="110000"/>
              </a:lnSpc>
              <a:spcAft>
                <a:spcPts val="200"/>
              </a:spcAft>
            </a:pPr>
            <a:r>
              <a:rPr sz="1100" b="1" i="0">
                <a:solidFill>
                  <a:srgbClr val="22D3EE"/>
                </a:solidFill>
                <a:latin typeface="Calibri"/>
              </a:rPr>
              <a:t>23 Apr 2026 · /scenario</a:t>
            </a:r>
          </a:p>
          <a:p>
            <a:pPr algn="l">
              <a:lnSpc>
                <a:spcPct val="110000"/>
              </a:lnSpc>
              <a:spcAft>
                <a:spcPts val="800"/>
              </a:spcAft>
            </a:pPr>
            <a:r>
              <a:rPr sz="1450" b="1" i="0">
                <a:solidFill>
                  <a:srgbClr val="F5F5F0"/>
                </a:solidFill>
                <a:latin typeface="Calibri"/>
              </a:rPr>
              <a:t>Iran ceasefire collapses; US ground invasion in May</a:t>
            </a:r>
          </a:p>
          <a:p>
            <a:pPr algn="l" marL="219456" indent="-182880">
              <a:lnSpc>
                <a:spcPct val="110000"/>
              </a:lnSpc>
              <a:spcAft>
                <a:spcPts val="400"/>
              </a:spcAft>
              <a:buClr>
                <a:srgbClr val="22D3EE"/>
              </a:buClr>
              <a:buFont typeface="Arial"/>
              <a:buChar char="•"/>
            </a:pPr>
            <a:r>
              <a:rPr sz="1200" b="0" i="0">
                <a:solidFill>
                  <a:srgbClr val="D1D5DB"/>
                </a:solidFill>
                <a:latin typeface="Calibri"/>
              </a:rPr>
              <a:t>Brent $120–150; Strait of Hormuz 20–40% disrupted</a:t>
            </a:r>
          </a:p>
          <a:p>
            <a:pPr algn="l" marL="219456" indent="-182880">
              <a:lnSpc>
                <a:spcPct val="110000"/>
              </a:lnSpc>
              <a:spcAft>
                <a:spcPts val="400"/>
              </a:spcAft>
              <a:buClr>
                <a:srgbClr val="22D3EE"/>
              </a:buClr>
              <a:buFont typeface="Arial"/>
              <a:buChar char="•"/>
            </a:pPr>
            <a:r>
              <a:rPr sz="1200" b="0" i="0">
                <a:solidFill>
                  <a:srgbClr val="D1D5DB"/>
                </a:solidFill>
                <a:latin typeface="Calibri"/>
              </a:rPr>
              <a:t>VIX 40+; equity risk premium +150–200bp; rupee −5 to −10%</a:t>
            </a:r>
          </a:p>
          <a:p>
            <a:pPr algn="l" marL="219456" indent="-182880">
              <a:lnSpc>
                <a:spcPct val="110000"/>
              </a:lnSpc>
              <a:spcAft>
                <a:spcPts val="400"/>
              </a:spcAft>
              <a:buClr>
                <a:srgbClr val="22D3EE"/>
              </a:buClr>
              <a:buFont typeface="Arial"/>
              <a:buChar char="•"/>
            </a:pPr>
            <a:r>
              <a:rPr sz="1200" b="0" i="0">
                <a:solidFill>
                  <a:srgbClr val="D1D5DB"/>
                </a:solidFill>
                <a:latin typeface="Calibri"/>
              </a:rPr>
              <a:t>Ten transmission channels traced: oil, shipping, rates, dollar, India, defence, cyber, LNG…</a:t>
            </a:r>
          </a:p>
          <a:p>
            <a:pPr algn="l" marL="219456" indent="-182880">
              <a:lnSpc>
                <a:spcPct val="110000"/>
              </a:lnSpc>
              <a:spcAft>
                <a:spcPts val="300"/>
              </a:spcAft>
              <a:buClr>
                <a:srgbClr val="22D3EE"/>
              </a:buClr>
              <a:buFont typeface="Arial"/>
              <a:buChar char="•"/>
            </a:pPr>
            <a:r>
              <a:rPr sz="1200" b="0" i="0">
                <a:solidFill>
                  <a:srgbClr val="D1D5DB"/>
                </a:solidFill>
                <a:latin typeface="Calibri"/>
              </a:rPr>
              <a:t>Probability ~5–10% over six months; the asymmetric payoff justifies the preparation</a:t>
            </a:r>
          </a:p>
        </p:txBody>
      </p:sp>
      <p:graphicFrame>
        <p:nvGraphicFramePr>
          <p:cNvPr id="6" name="Table 5"/>
          <p:cNvGraphicFramePr>
            <a:graphicFrameLocks noGrp="1"/>
          </p:cNvGraphicFramePr>
          <p:nvPr/>
        </p:nvGraphicFramePr>
        <p:xfrm>
          <a:off x="4663440" y="1645920"/>
          <a:ext cx="6949440" cy="4206237"/>
        </p:xfrm>
        <a:graphic>
          <a:graphicData uri="http://schemas.openxmlformats.org/drawingml/2006/table">
            <a:tbl>
              <a:tblPr firstRow="1">
                <a:tableStyleId>{5C22544A-7EE6-4342-B048-85BDC9FD1C3A}</a:tableStyleId>
              </a:tblPr>
              <a:tblGrid>
                <a:gridCol w="1188720"/>
                <a:gridCol w="2377440"/>
                <a:gridCol w="3383280"/>
              </a:tblGrid>
              <a:tr h="600891">
                <a:tc>
                  <a:txBody>
                    <a:bodyPr wrap="square"/>
                    <a:lstStyle/>
                    <a:p>
                      <a:pPr algn="l">
                        <a:lnSpc>
                          <a:spcPct val="108000"/>
                        </a:lnSpc>
                        <a:spcAft>
                          <a:spcPts val="200"/>
                        </a:spcAft>
                      </a:pPr>
                      <a:r>
                        <a:rPr sz="1150" b="1" i="0">
                          <a:solidFill>
                            <a:srgbClr val="FFFFFF"/>
                          </a:solidFill>
                          <a:latin typeface="Calibri"/>
                        </a:rPr>
                        <a:t>Major impact</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0E4F63"/>
                    </a:solidFill>
                  </a:tcPr>
                </a:tc>
                <a:tc>
                  <a:txBody>
                    <a:bodyPr wrap="square"/>
                    <a:lstStyle/>
                    <a:p>
                      <a:pPr algn="l">
                        <a:lnSpc>
                          <a:spcPct val="108000"/>
                        </a:lnSpc>
                        <a:spcAft>
                          <a:spcPts val="200"/>
                        </a:spcAft>
                      </a:pPr>
                      <a:r>
                        <a:rPr sz="1150" b="1" i="0">
                          <a:solidFill>
                            <a:srgbClr val="FFFFFF"/>
                          </a:solidFill>
                          <a:latin typeface="Calibri"/>
                        </a:rPr>
                        <a:t>Thesis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0E4F63"/>
                    </a:solidFill>
                  </a:tcPr>
                </a:tc>
                <a:tc>
                  <a:txBody>
                    <a:bodyPr wrap="square"/>
                    <a:lstStyle/>
                    <a:p>
                      <a:pPr algn="l">
                        <a:lnSpc>
                          <a:spcPct val="108000"/>
                        </a:lnSpc>
                        <a:spcAft>
                          <a:spcPts val="200"/>
                        </a:spcAft>
                      </a:pPr>
                      <a:r>
                        <a:rPr sz="1150" b="1" i="0">
                          <a:solidFill>
                            <a:srgbClr val="FFFFFF"/>
                          </a:solidFill>
                          <a:latin typeface="Calibri"/>
                        </a:rPr>
                        <a:t>Channel</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0E4F63"/>
                    </a:solidFill>
                  </a:tcPr>
                </a:tc>
              </a:tr>
              <a:tr h="600891">
                <a:tc>
                  <a:txBody>
                    <a:bodyPr wrap="square"/>
                    <a:lstStyle/>
                    <a:p>
                      <a:pPr algn="l">
                        <a:lnSpc>
                          <a:spcPct val="108000"/>
                        </a:lnSpc>
                        <a:spcAft>
                          <a:spcPts val="200"/>
                        </a:spcAft>
                      </a:pPr>
                      <a:r>
                        <a:rPr sz="1150" b="1" i="0">
                          <a:solidFill>
                            <a:srgbClr val="F5F5F0"/>
                          </a:solidFill>
                          <a:latin typeface="Calibri"/>
                        </a:rPr>
                        <a:t>Negative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150" b="0" i="0">
                          <a:solidFill>
                            <a:srgbClr val="D1D5DB"/>
                          </a:solidFill>
                          <a:latin typeface="Calibri"/>
                        </a:rPr>
                        <a:t>Opendoor</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150" b="0" i="0">
                          <a:solidFill>
                            <a:srgbClr val="D1D5DB"/>
                          </a:solidFill>
                          <a:latin typeface="Calibri"/>
                        </a:rPr>
                        <a:t>Oil-driven inflation → mortgage rates +100bp → housing transactions collapse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r>
              <a:tr h="600891">
                <a:tc>
                  <a:txBody>
                    <a:bodyPr wrap="square"/>
                    <a:lstStyle/>
                    <a:p>
                      <a:pPr algn="l">
                        <a:lnSpc>
                          <a:spcPct val="108000"/>
                        </a:lnSpc>
                        <a:spcAft>
                          <a:spcPts val="200"/>
                        </a:spcAft>
                      </a:pPr>
                      <a:r>
                        <a:rPr sz="1150" b="1" i="0">
                          <a:solidFill>
                            <a:srgbClr val="F5F5F0"/>
                          </a:solidFill>
                          <a:latin typeface="Calibri"/>
                        </a:rPr>
                        <a:t>Negative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150" b="0" i="0">
                          <a:solidFill>
                            <a:srgbClr val="D1D5DB"/>
                          </a:solidFill>
                          <a:latin typeface="Calibri"/>
                        </a:rPr>
                        <a:t>Vail Resorts · Take-Two</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150" b="0" i="0">
                          <a:solidFill>
                            <a:srgbClr val="D1D5DB"/>
                          </a:solidFill>
                          <a:latin typeface="Calibri"/>
                        </a:rPr>
                        <a:t>Gasoline and sentiment shock; a binary game launch into a recession</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r>
              <a:tr h="600891">
                <a:tc>
                  <a:txBody>
                    <a:bodyPr wrap="square"/>
                    <a:lstStyle/>
                    <a:p>
                      <a:pPr algn="l">
                        <a:lnSpc>
                          <a:spcPct val="108000"/>
                        </a:lnSpc>
                        <a:spcAft>
                          <a:spcPts val="200"/>
                        </a:spcAft>
                      </a:pPr>
                      <a:r>
                        <a:rPr sz="1150" b="1" i="0">
                          <a:solidFill>
                            <a:srgbClr val="F5F5F0"/>
                          </a:solidFill>
                          <a:latin typeface="Calibri"/>
                        </a:rPr>
                        <a:t>Negative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150" b="0" i="0">
                          <a:solidFill>
                            <a:srgbClr val="D1D5DB"/>
                          </a:solidFill>
                          <a:latin typeface="Calibri"/>
                        </a:rPr>
                        <a:t>Reliance · Edelweiss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150" b="0" i="0">
                          <a:solidFill>
                            <a:srgbClr val="D1D5DB"/>
                          </a:solidFill>
                          <a:latin typeface="Calibri"/>
                        </a:rPr>
                        <a:t>India's 85% oil-import dependence, rupee pressure, IPO timing</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r>
              <a:tr h="600891">
                <a:tc>
                  <a:txBody>
                    <a:bodyPr wrap="square"/>
                    <a:lstStyle/>
                    <a:p>
                      <a:pPr algn="l">
                        <a:lnSpc>
                          <a:spcPct val="108000"/>
                        </a:lnSpc>
                        <a:spcAft>
                          <a:spcPts val="200"/>
                        </a:spcAft>
                      </a:pPr>
                      <a:r>
                        <a:rPr sz="1150" b="1" i="0">
                          <a:solidFill>
                            <a:srgbClr val="F5F5F0"/>
                          </a:solidFill>
                          <a:latin typeface="Calibri"/>
                        </a:rPr>
                        <a:t>Positive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150" b="0" i="0">
                          <a:solidFill>
                            <a:srgbClr val="D1D5DB"/>
                          </a:solidFill>
                          <a:latin typeface="Calibri"/>
                        </a:rPr>
                        <a:t>Cheniere · Scorpio Tankers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150" b="0" i="0">
                          <a:solidFill>
                            <a:srgbClr val="D1D5DB"/>
                          </a:solidFill>
                          <a:latin typeface="Calibri"/>
                        </a:rPr>
                        <a:t>Sustained LNG premium; Hormuz closure sends tanker rates past $100k/day</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r>
              <a:tr h="600891">
                <a:tc>
                  <a:txBody>
                    <a:bodyPr wrap="square"/>
                    <a:lstStyle/>
                    <a:p>
                      <a:pPr algn="l">
                        <a:lnSpc>
                          <a:spcPct val="108000"/>
                        </a:lnSpc>
                        <a:spcAft>
                          <a:spcPts val="200"/>
                        </a:spcAft>
                      </a:pPr>
                      <a:r>
                        <a:rPr sz="1150" b="1" i="0">
                          <a:solidFill>
                            <a:srgbClr val="F5F5F0"/>
                          </a:solidFill>
                          <a:latin typeface="Calibri"/>
                        </a:rPr>
                        <a:t>Positive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150" b="0" i="0">
                          <a:solidFill>
                            <a:srgbClr val="D1D5DB"/>
                          </a:solidFill>
                          <a:latin typeface="Calibri"/>
                        </a:rPr>
                        <a:t>Cameco</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150" b="0" i="0">
                          <a:solidFill>
                            <a:srgbClr val="D1D5DB"/>
                          </a:solidFill>
                          <a:latin typeface="Calibri"/>
                        </a:rPr>
                        <a:t>Energy sovereignty: nuclear is the only non-chokepoint baseload</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r>
              <a:tr h="600891">
                <a:tc>
                  <a:txBody>
                    <a:bodyPr wrap="square"/>
                    <a:lstStyle/>
                    <a:p>
                      <a:pPr algn="l">
                        <a:lnSpc>
                          <a:spcPct val="108000"/>
                        </a:lnSpc>
                        <a:spcAft>
                          <a:spcPts val="200"/>
                        </a:spcAft>
                      </a:pPr>
                      <a:r>
                        <a:rPr sz="1150" b="1" i="0">
                          <a:solidFill>
                            <a:srgbClr val="F5F5F0"/>
                          </a:solidFill>
                          <a:latin typeface="Calibri"/>
                        </a:rPr>
                        <a:t>Positive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150" b="0" i="0">
                          <a:solidFill>
                            <a:srgbClr val="D1D5DB"/>
                          </a:solidFill>
                          <a:latin typeface="Calibri"/>
                        </a:rPr>
                        <a:t>CrowdStrike · Palo Alto · Palantir</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150" b="0" i="0">
                          <a:solidFill>
                            <a:srgbClr val="D1D5DB"/>
                          </a:solidFill>
                          <a:latin typeface="Calibri"/>
                        </a:rPr>
                        <a:t>Cyber retaliation and defence procurement pull-forward</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r>
            </a:tbl>
          </a:graphicData>
        </a:graphic>
      </p:graphicFrame>
      <p:sp>
        <p:nvSpPr>
          <p:cNvPr id="7" name="TextBox 6"/>
          <p:cNvSpPr txBox="1"/>
          <p:nvPr/>
        </p:nvSpPr>
        <p:spPr>
          <a:xfrm>
            <a:off x="548640" y="5989320"/>
            <a:ext cx="11064240" cy="457200"/>
          </a:xfrm>
          <a:prstGeom prst="rect">
            <a:avLst/>
          </a:prstGeom>
          <a:noFill/>
        </p:spPr>
        <p:txBody>
          <a:bodyPr wrap="square" lIns="45720" rIns="45720" anchor="t">
            <a:noAutofit/>
          </a:bodyPr>
          <a:lstStyle/>
          <a:p>
            <a:pPr algn="l">
              <a:lnSpc>
                <a:spcPct val="112000"/>
              </a:lnSpc>
              <a:spcAft>
                <a:spcPts val="400"/>
              </a:spcAft>
            </a:pPr>
            <a:r>
              <a:rPr sz="1300" b="0" i="1">
                <a:solidFill>
                  <a:srgbClr val="22D3EE"/>
                </a:solidFill>
                <a:latin typeface="Calibri"/>
              </a:rPr>
              <a:t>Eleven major-impact theses received a dated log entry; the positions whose theses lacked a line for the scenario were named.</a:t>
            </a:r>
          </a:p>
        </p:txBody>
      </p:sp>
      <p:sp>
        <p:nvSpPr>
          <p:cNvPr id="8" name="footer"/>
          <p:cNvSpPr txBox="1"/>
          <p:nvPr/>
        </p:nvSpPr>
        <p:spPr>
          <a:xfrm>
            <a:off x="548640" y="6446520"/>
            <a:ext cx="7772400" cy="274320"/>
          </a:xfrm>
          <a:prstGeom prst="rect">
            <a:avLst/>
          </a:prstGeom>
          <a:noFill/>
        </p:spPr>
        <p:txBody>
          <a:bodyPr wrap="square" lIns="45720" rIns="45720" anchor="t">
            <a:noAutofit/>
          </a:bodyPr>
          <a:lstStyle/>
          <a:p>
            <a:pPr algn="l">
              <a:lnSpc>
                <a:spcPct val="112000"/>
              </a:lnSpc>
              <a:spcAft>
                <a:spcPts val="400"/>
              </a:spcAft>
            </a:pPr>
            <a:r>
              <a:rPr sz="900" b="0" i="0">
                <a:solidFill>
                  <a:srgbClr val="6B7280"/>
                </a:solidFill>
                <a:latin typeface="Calibri"/>
              </a:rPr>
              <a:t>Laniakea Partners · A Second Brain for Investing · August 2026  ·  Part 4</a:t>
            </a:r>
          </a:p>
        </p:txBody>
      </p:sp>
      <p:sp>
        <p:nvSpPr>
          <p:cNvPr id="9" name="footer"/>
          <p:cNvSpPr txBox="1"/>
          <p:nvPr/>
        </p:nvSpPr>
        <p:spPr>
          <a:xfrm>
            <a:off x="10332720" y="6446520"/>
            <a:ext cx="1325880" cy="274320"/>
          </a:xfrm>
          <a:prstGeom prst="rect">
            <a:avLst/>
          </a:prstGeom>
          <a:noFill/>
        </p:spPr>
        <p:txBody>
          <a:bodyPr wrap="square" lIns="45720" rIns="45720" anchor="t">
            <a:noAutofit/>
          </a:bodyPr>
          <a:lstStyle/>
          <a:p>
            <a:pPr algn="r">
              <a:lnSpc>
                <a:spcPct val="112000"/>
              </a:lnSpc>
              <a:spcAft>
                <a:spcPts val="400"/>
              </a:spcAft>
            </a:pPr>
            <a:r>
              <a:rPr sz="900" b="0" i="0">
                <a:solidFill>
                  <a:srgbClr val="6B7280"/>
                </a:solidFill>
                <a:latin typeface="Calibri"/>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548640" y="292608"/>
            <a:ext cx="10972800" cy="320040"/>
          </a:xfrm>
          <a:prstGeom prst="rect">
            <a:avLst/>
          </a:prstGeom>
          <a:noFill/>
        </p:spPr>
        <p:txBody>
          <a:bodyPr wrap="square" lIns="45720" rIns="45720" anchor="t">
            <a:noAutofit/>
          </a:bodyPr>
          <a:lstStyle/>
          <a:p>
            <a:pPr algn="l">
              <a:lnSpc>
                <a:spcPct val="112000"/>
              </a:lnSpc>
              <a:spcAft>
                <a:spcPts val="400"/>
              </a:spcAft>
            </a:pPr>
            <a:r>
              <a:rPr sz="1100" b="1" i="0">
                <a:solidFill>
                  <a:srgbClr val="22D3EE"/>
                </a:solidFill>
                <a:latin typeface="Calibri"/>
              </a:rPr>
              <a:t>PART 4 · USE CASES</a:t>
            </a:r>
          </a:p>
        </p:txBody>
      </p:sp>
      <p:sp>
        <p:nvSpPr>
          <p:cNvPr id="3" name="TextBox 2"/>
          <p:cNvSpPr txBox="1"/>
          <p:nvPr/>
        </p:nvSpPr>
        <p:spPr>
          <a:xfrm>
            <a:off x="548640" y="566928"/>
            <a:ext cx="11064240" cy="868680"/>
          </a:xfrm>
          <a:prstGeom prst="rect">
            <a:avLst/>
          </a:prstGeom>
          <a:noFill/>
        </p:spPr>
        <p:txBody>
          <a:bodyPr wrap="square" lIns="45720" rIns="45720" anchor="t">
            <a:noAutofit/>
          </a:bodyPr>
          <a:lstStyle/>
          <a:p>
            <a:pPr algn="l">
              <a:lnSpc>
                <a:spcPct val="100000"/>
              </a:lnSpc>
              <a:spcAft>
                <a:spcPts val="400"/>
              </a:spcAft>
            </a:pPr>
            <a:r>
              <a:rPr sz="2800" b="0" i="0">
                <a:solidFill>
                  <a:srgbClr val="F5F5F0"/>
                </a:solidFill>
                <a:latin typeface="Georgia"/>
              </a:rPr>
              <a:t>Use case 4 · The system argues back</a:t>
            </a:r>
          </a:p>
        </p:txBody>
      </p:sp>
      <p:cxnSp>
        <p:nvCxnSpPr>
          <p:cNvPr id="4" name="Connector 3"/>
          <p:cNvCxnSpPr/>
          <p:nvPr/>
        </p:nvCxnSpPr>
        <p:spPr>
          <a:xfrm>
            <a:off x="594360" y="1389888"/>
            <a:ext cx="914400" cy="0"/>
          </a:xfrm>
          <a:prstGeom prst="line">
            <a:avLst/>
          </a:prstGeom>
          <a:ln w="31750">
            <a:solidFill>
              <a:srgbClr val="0891B2"/>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1691640"/>
            <a:ext cx="3566160" cy="3200400"/>
          </a:xfrm>
          <a:prstGeom prst="roundRect">
            <a:avLst>
              <a:gd name="adj" fmla="val 12000"/>
            </a:avLst>
          </a:prstGeom>
          <a:solidFill>
            <a:srgbClr val="1B2027"/>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6809" bIns="76809" wrap="square">
            <a:noAutofit/>
          </a:bodyPr>
          <a:lstStyle/>
          <a:p>
            <a:pPr algn="l">
              <a:lnSpc>
                <a:spcPct val="110000"/>
              </a:lnSpc>
              <a:spcAft>
                <a:spcPts val="200"/>
              </a:spcAft>
            </a:pPr>
            <a:r>
              <a:rPr sz="1100" b="1" i="0">
                <a:solidFill>
                  <a:srgbClr val="22D3EE"/>
                </a:solidFill>
                <a:latin typeface="Calibri"/>
              </a:rPr>
              <a:t>10 Jul 2026</a:t>
            </a:r>
          </a:p>
          <a:p>
            <a:pPr algn="l">
              <a:lnSpc>
                <a:spcPct val="110000"/>
              </a:lnSpc>
              <a:spcAft>
                <a:spcPts val="800"/>
              </a:spcAft>
            </a:pPr>
            <a:r>
              <a:rPr sz="1500" b="1" i="0">
                <a:solidFill>
                  <a:srgbClr val="F5F5F0"/>
                </a:solidFill>
                <a:latin typeface="Calibri"/>
              </a:rPr>
              <a:t>Stress test on Cloudflare</a:t>
            </a:r>
          </a:p>
          <a:p>
            <a:pPr algn="l">
              <a:lnSpc>
                <a:spcPct val="110000"/>
              </a:lnSpc>
              <a:spcAft>
                <a:spcPts val="300"/>
              </a:spcAft>
            </a:pPr>
            <a:r>
              <a:rPr sz="1250" b="0" i="0">
                <a:solidFill>
                  <a:srgbClr val="D1D5DB"/>
                </a:solidFill>
                <a:latin typeface="Calibri"/>
              </a:rPr>
              <a:t>A short-seller pass on a name we held at HIGH: the growth leg the premium rested on had no disclosed revenue, a rival had cloned it for free, and the stock sat at the consensus target at ~200x earnings. 3 of 7 bull assumptions rated red.</a:t>
            </a:r>
          </a:p>
        </p:txBody>
      </p:sp>
      <p:cxnSp>
        <p:nvCxnSpPr>
          <p:cNvPr id="6" name="Connector 5"/>
          <p:cNvCxnSpPr/>
          <p:nvPr/>
        </p:nvCxnSpPr>
        <p:spPr>
          <a:xfrm>
            <a:off x="4114800" y="3291840"/>
            <a:ext cx="182879" cy="0"/>
          </a:xfrm>
          <a:prstGeom prst="line">
            <a:avLst/>
          </a:prstGeom>
          <a:ln w="25400">
            <a:solidFill>
              <a:srgbClr val="0891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297679" y="1691640"/>
            <a:ext cx="3566160" cy="3200400"/>
          </a:xfrm>
          <a:prstGeom prst="roundRect">
            <a:avLst>
              <a:gd name="adj" fmla="val 12000"/>
            </a:avLst>
          </a:prstGeom>
          <a:solidFill>
            <a:srgbClr val="232932"/>
          </a:solidFill>
          <a:ln w="12700">
            <a:solidFill>
              <a:srgbClr val="0891B2"/>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6809" bIns="76809" wrap="square">
            <a:noAutofit/>
          </a:bodyPr>
          <a:lstStyle/>
          <a:p>
            <a:pPr algn="l">
              <a:lnSpc>
                <a:spcPct val="110000"/>
              </a:lnSpc>
              <a:spcAft>
                <a:spcPts val="200"/>
              </a:spcAft>
            </a:pPr>
            <a:r>
              <a:rPr sz="1100" b="1" i="0">
                <a:solidFill>
                  <a:srgbClr val="22D3EE"/>
                </a:solidFill>
                <a:latin typeface="Calibri"/>
              </a:rPr>
              <a:t>11 Jul 2026</a:t>
            </a:r>
          </a:p>
          <a:p>
            <a:pPr algn="l">
              <a:lnSpc>
                <a:spcPct val="110000"/>
              </a:lnSpc>
              <a:spcAft>
                <a:spcPts val="800"/>
              </a:spcAft>
            </a:pPr>
            <a:r>
              <a:rPr sz="1500" b="1" i="0">
                <a:solidFill>
                  <a:srgbClr val="F5F5F0"/>
                </a:solidFill>
                <a:latin typeface="Calibri"/>
              </a:rPr>
              <a:t>Downgrade, executed by us</a:t>
            </a:r>
          </a:p>
          <a:p>
            <a:pPr algn="l">
              <a:lnSpc>
                <a:spcPct val="110000"/>
              </a:lnSpc>
              <a:spcAft>
                <a:spcPts val="300"/>
              </a:spcAft>
            </a:pPr>
            <a:r>
              <a:rPr sz="1250" b="0" i="0">
                <a:solidFill>
                  <a:srgbClr val="D1D5DB"/>
                </a:solidFill>
                <a:latin typeface="Calibri"/>
              </a:rPr>
              <a:t>The recommendation passed through the confirmation gate and conviction went high → medium: log entry appended, sector map and session memory updated.</a:t>
            </a:r>
          </a:p>
        </p:txBody>
      </p:sp>
      <p:cxnSp>
        <p:nvCxnSpPr>
          <p:cNvPr id="8" name="Connector 7"/>
          <p:cNvCxnSpPr/>
          <p:nvPr/>
        </p:nvCxnSpPr>
        <p:spPr>
          <a:xfrm>
            <a:off x="7863840" y="3291840"/>
            <a:ext cx="182879" cy="0"/>
          </a:xfrm>
          <a:prstGeom prst="line">
            <a:avLst/>
          </a:prstGeom>
          <a:ln w="25400">
            <a:solidFill>
              <a:srgbClr val="0891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046719" y="1691640"/>
            <a:ext cx="3566160" cy="3200400"/>
          </a:xfrm>
          <a:prstGeom prst="roundRect">
            <a:avLst>
              <a:gd name="adj" fmla="val 12000"/>
            </a:avLst>
          </a:prstGeom>
          <a:solidFill>
            <a:srgbClr val="1B2027"/>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6809" bIns="76809" wrap="square">
            <a:noAutofit/>
          </a:bodyPr>
          <a:lstStyle/>
          <a:p>
            <a:pPr algn="l">
              <a:lnSpc>
                <a:spcPct val="110000"/>
              </a:lnSpc>
              <a:spcAft>
                <a:spcPts val="200"/>
              </a:spcAft>
            </a:pPr>
            <a:r>
              <a:rPr sz="1100" b="1" i="0">
                <a:solidFill>
                  <a:srgbClr val="22D3EE"/>
                </a:solidFill>
                <a:latin typeface="Calibri"/>
              </a:rPr>
              <a:t>15 Aug 2026</a:t>
            </a:r>
          </a:p>
          <a:p>
            <a:pPr algn="l">
              <a:lnSpc>
                <a:spcPct val="110000"/>
              </a:lnSpc>
              <a:spcAft>
                <a:spcPts val="800"/>
              </a:spcAft>
            </a:pPr>
            <a:r>
              <a:rPr sz="1500" b="1" i="0">
                <a:solidFill>
                  <a:srgbClr val="F5F5F0"/>
                </a:solidFill>
                <a:latin typeface="Calibri"/>
              </a:rPr>
              <a:t>Six flags waiting in the register</a:t>
            </a:r>
          </a:p>
          <a:p>
            <a:pPr algn="l">
              <a:lnSpc>
                <a:spcPct val="110000"/>
              </a:lnSpc>
              <a:spcAft>
                <a:spcPts val="300"/>
              </a:spcAft>
            </a:pPr>
            <a:r>
              <a:rPr sz="1250" b="0" i="0">
                <a:solidFill>
                  <a:srgbClr val="D1D5DB"/>
                </a:solidFill>
                <a:latin typeface="Calibri"/>
              </a:rPr>
              <a:t>Six later stress tests each name the conviction change they are waiting on. They stay open until actioned or dismissed; nothing auto-evicts.</a:t>
            </a:r>
          </a:p>
        </p:txBody>
      </p:sp>
      <p:sp>
        <p:nvSpPr>
          <p:cNvPr id="10" name="Rounded Rectangle 9"/>
          <p:cNvSpPr/>
          <p:nvPr/>
        </p:nvSpPr>
        <p:spPr>
          <a:xfrm>
            <a:off x="548640" y="5074920"/>
            <a:ext cx="11064240" cy="1234440"/>
          </a:xfrm>
          <a:prstGeom prst="roundRect">
            <a:avLst>
              <a:gd name="adj" fmla="val 12000"/>
            </a:avLst>
          </a:prstGeom>
          <a:solidFill>
            <a:srgbClr val="1B2027"/>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noAutofit/>
          </a:bodyPr>
          <a:lstStyle/>
          <a:p>
            <a:pPr algn="l">
              <a:lnSpc>
                <a:spcPct val="110000"/>
              </a:lnSpc>
              <a:spcAft>
                <a:spcPts val="300"/>
              </a:spcAft>
            </a:pPr>
            <a:r>
              <a:rPr sz="1300" b="1" i="0">
                <a:solidFill>
                  <a:srgbClr val="22D3EE"/>
                </a:solidFill>
                <a:latin typeface="Calibri"/>
              </a:rPr>
              <a:t>At book scale.  </a:t>
            </a:r>
            <a:r>
              <a:rPr sz="1300" b="0" i="0">
                <a:solidFill>
                  <a:srgbClr val="D1D5DB"/>
                </a:solidFill>
                <a:latin typeface="Calibri"/>
              </a:rPr>
              <a:t>A July sweep found the same unexamined assumption about software moats sitting identically in five semiconductor theses. One finding, five corrections, and a class of groupthink made visible because the book is uniform enough to be diffed against itself.</a:t>
            </a:r>
          </a:p>
        </p:txBody>
      </p:sp>
      <p:sp>
        <p:nvSpPr>
          <p:cNvPr id="11" name="footer"/>
          <p:cNvSpPr txBox="1"/>
          <p:nvPr/>
        </p:nvSpPr>
        <p:spPr>
          <a:xfrm>
            <a:off x="548640" y="6446520"/>
            <a:ext cx="7772400" cy="274320"/>
          </a:xfrm>
          <a:prstGeom prst="rect">
            <a:avLst/>
          </a:prstGeom>
          <a:noFill/>
        </p:spPr>
        <p:txBody>
          <a:bodyPr wrap="square" lIns="45720" rIns="45720" anchor="t">
            <a:noAutofit/>
          </a:bodyPr>
          <a:lstStyle/>
          <a:p>
            <a:pPr algn="l">
              <a:lnSpc>
                <a:spcPct val="112000"/>
              </a:lnSpc>
              <a:spcAft>
                <a:spcPts val="400"/>
              </a:spcAft>
            </a:pPr>
            <a:r>
              <a:rPr sz="900" b="0" i="0">
                <a:solidFill>
                  <a:srgbClr val="6B7280"/>
                </a:solidFill>
                <a:latin typeface="Calibri"/>
              </a:rPr>
              <a:t>Laniakea Partners · A Second Brain for Investing · August 2026  ·  Part 4</a:t>
            </a:r>
          </a:p>
        </p:txBody>
      </p:sp>
      <p:sp>
        <p:nvSpPr>
          <p:cNvPr id="12" name="footer"/>
          <p:cNvSpPr txBox="1"/>
          <p:nvPr/>
        </p:nvSpPr>
        <p:spPr>
          <a:xfrm>
            <a:off x="10332720" y="6446520"/>
            <a:ext cx="1325880" cy="274320"/>
          </a:xfrm>
          <a:prstGeom prst="rect">
            <a:avLst/>
          </a:prstGeom>
          <a:noFill/>
        </p:spPr>
        <p:txBody>
          <a:bodyPr wrap="square" lIns="45720" rIns="45720" anchor="t">
            <a:noAutofit/>
          </a:bodyPr>
          <a:lstStyle/>
          <a:p>
            <a:pPr algn="r">
              <a:lnSpc>
                <a:spcPct val="112000"/>
              </a:lnSpc>
              <a:spcAft>
                <a:spcPts val="400"/>
              </a:spcAft>
            </a:pPr>
            <a:r>
              <a:rPr sz="900" b="0" i="0">
                <a:solidFill>
                  <a:srgbClr val="6B7280"/>
                </a:solidFill>
                <a:latin typeface="Calibri"/>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548640" y="292608"/>
            <a:ext cx="10972800" cy="320040"/>
          </a:xfrm>
          <a:prstGeom prst="rect">
            <a:avLst/>
          </a:prstGeom>
          <a:noFill/>
        </p:spPr>
        <p:txBody>
          <a:bodyPr wrap="square" lIns="45720" rIns="45720" anchor="t">
            <a:noAutofit/>
          </a:bodyPr>
          <a:lstStyle/>
          <a:p>
            <a:pPr algn="l">
              <a:lnSpc>
                <a:spcPct val="112000"/>
              </a:lnSpc>
              <a:spcAft>
                <a:spcPts val="400"/>
              </a:spcAft>
            </a:pPr>
            <a:r>
              <a:rPr sz="1100" b="1" i="0">
                <a:solidFill>
                  <a:srgbClr val="22D3EE"/>
                </a:solidFill>
                <a:latin typeface="Calibri"/>
              </a:rPr>
              <a:t>PART 4 · USE CASES</a:t>
            </a:r>
          </a:p>
        </p:txBody>
      </p:sp>
      <p:sp>
        <p:nvSpPr>
          <p:cNvPr id="3" name="TextBox 2"/>
          <p:cNvSpPr txBox="1"/>
          <p:nvPr/>
        </p:nvSpPr>
        <p:spPr>
          <a:xfrm>
            <a:off x="548640" y="566928"/>
            <a:ext cx="11064240" cy="868680"/>
          </a:xfrm>
          <a:prstGeom prst="rect">
            <a:avLst/>
          </a:prstGeom>
          <a:noFill/>
        </p:spPr>
        <p:txBody>
          <a:bodyPr wrap="square" lIns="45720" rIns="45720" anchor="t">
            <a:noAutofit/>
          </a:bodyPr>
          <a:lstStyle/>
          <a:p>
            <a:pPr algn="l">
              <a:lnSpc>
                <a:spcPct val="100000"/>
              </a:lnSpc>
              <a:spcAft>
                <a:spcPts val="400"/>
              </a:spcAft>
            </a:pPr>
            <a:r>
              <a:rPr sz="2800" b="0" i="0">
                <a:solidFill>
                  <a:srgbClr val="F5F5F0"/>
                </a:solidFill>
                <a:latin typeface="Georgia"/>
              </a:rPr>
              <a:t>Use case 5 · Arguing in the margins</a:t>
            </a:r>
          </a:p>
        </p:txBody>
      </p:sp>
      <p:cxnSp>
        <p:nvCxnSpPr>
          <p:cNvPr id="4" name="Connector 3"/>
          <p:cNvCxnSpPr/>
          <p:nvPr/>
        </p:nvCxnSpPr>
        <p:spPr>
          <a:xfrm>
            <a:off x="594360" y="1389888"/>
            <a:ext cx="914400" cy="0"/>
          </a:xfrm>
          <a:prstGeom prst="line">
            <a:avLst/>
          </a:prstGeom>
          <a:ln w="31750">
            <a:solidFill>
              <a:srgbClr val="0891B2"/>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1691640"/>
            <a:ext cx="6675120" cy="3474720"/>
          </a:xfrm>
          <a:prstGeom prst="roundRect">
            <a:avLst>
              <a:gd name="adj" fmla="val 12000"/>
            </a:avLst>
          </a:prstGeom>
          <a:solidFill>
            <a:srgbClr val="1B2027"/>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t" lIns="182880" rIns="182880" tIns="128015" bIns="128015" wrap="square">
            <a:noAutofit/>
          </a:bodyPr>
          <a:lstStyle/>
          <a:p>
            <a:pPr algn="l">
              <a:lnSpc>
                <a:spcPct val="110000"/>
              </a:lnSpc>
              <a:spcAft>
                <a:spcPts val="600"/>
              </a:spcAft>
            </a:pPr>
            <a:r>
              <a:rPr sz="1150" b="1" i="0">
                <a:solidFill>
                  <a:srgbClr val="F59E0B"/>
                </a:solidFill>
                <a:latin typeface="Consolas"/>
              </a:rPr>
              <a:t>[!question] 2026-06-10 → Addressed 2026-06-10</a:t>
            </a:r>
          </a:p>
          <a:p>
            <a:pPr algn="l">
              <a:lnSpc>
                <a:spcPct val="110000"/>
              </a:lnSpc>
              <a:spcAft>
                <a:spcPts val="800"/>
              </a:spcAft>
            </a:pPr>
            <a:r>
              <a:rPr sz="1250" b="1" i="0">
                <a:solidFill>
                  <a:srgbClr val="F5F5F0"/>
                </a:solidFill>
                <a:latin typeface="Calibri"/>
              </a:rPr>
              <a:t>Prompt: </a:t>
            </a:r>
            <a:r>
              <a:rPr sz="1250" b="0" i="1">
                <a:solidFill>
                  <a:srgbClr val="D1D5DB"/>
                </a:solidFill>
                <a:latin typeface="Calibri"/>
              </a:rPr>
              <a:t>How much of the early 2026 price hike comes from passing through input costs vs. genuine pricing power given shortages?</a:t>
            </a:r>
          </a:p>
          <a:p>
            <a:pPr algn="l">
              <a:lnSpc>
                <a:spcPct val="110000"/>
              </a:lnSpc>
              <a:spcAft>
                <a:spcPts val="800"/>
              </a:spcAft>
            </a:pPr>
            <a:r>
              <a:rPr sz="1250" b="1" i="0">
                <a:solidFill>
                  <a:srgbClr val="F5F5F0"/>
                </a:solidFill>
                <a:latin typeface="Calibri"/>
              </a:rPr>
              <a:t>Response: </a:t>
            </a:r>
            <a:r>
              <a:rPr sz="1250" b="0" i="0">
                <a:solidFill>
                  <a:srgbClr val="D1D5DB"/>
                </a:solidFill>
                <a:latin typeface="Calibri"/>
              </a:rPr>
              <a:t>Mostly pricing power. The input is ~15–20% of cost, so a 20–30% supplier hike explains ~3–6 points of a 20–40% price rise; gross margin expanded through the hike. Full decomposition in §Industry Context.</a:t>
            </a:r>
          </a:p>
          <a:p>
            <a:pPr algn="l">
              <a:lnSpc>
                <a:spcPct val="110000"/>
              </a:lnSpc>
              <a:spcAft>
                <a:spcPts val="300"/>
              </a:spcAft>
            </a:pPr>
            <a:r>
              <a:rPr sz="1050" b="0" i="1">
                <a:solidFill>
                  <a:srgbClr val="6B7280"/>
                </a:solidFill>
                <a:latin typeface="Calibri"/>
              </a:rPr>
              <a:t>From the Elite Material thesis; four such exchanges addressed in one session.</a:t>
            </a:r>
          </a:p>
        </p:txBody>
      </p:sp>
      <p:sp>
        <p:nvSpPr>
          <p:cNvPr id="6" name="Rounded Rectangle 5"/>
          <p:cNvSpPr/>
          <p:nvPr/>
        </p:nvSpPr>
        <p:spPr>
          <a:xfrm>
            <a:off x="7498079" y="1691640"/>
            <a:ext cx="4114800" cy="3474720"/>
          </a:xfrm>
          <a:prstGeom prst="roundRect">
            <a:avLst>
              <a:gd name="adj" fmla="val 12000"/>
            </a:avLst>
          </a:prstGeom>
          <a:solidFill>
            <a:srgbClr val="232932"/>
          </a:solidFill>
          <a:ln w="12700">
            <a:solidFill>
              <a:srgbClr val="0891B2"/>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6809" bIns="76809" wrap="square">
            <a:noAutofit/>
          </a:bodyPr>
          <a:lstStyle/>
          <a:p>
            <a:pPr algn="l">
              <a:lnSpc>
                <a:spcPct val="110000"/>
              </a:lnSpc>
              <a:spcAft>
                <a:spcPts val="800"/>
              </a:spcAft>
            </a:pPr>
            <a:r>
              <a:rPr sz="1450" b="1" i="0">
                <a:solidFill>
                  <a:srgbClr val="22D3EE"/>
                </a:solidFill>
                <a:latin typeface="Calibri"/>
              </a:rPr>
              <a:t>How it works</a:t>
            </a:r>
          </a:p>
          <a:p>
            <a:pPr algn="l" marL="219456" indent="-182880">
              <a:lnSpc>
                <a:spcPct val="110000"/>
              </a:lnSpc>
              <a:spcAft>
                <a:spcPts val="600"/>
              </a:spcAft>
              <a:buClr>
                <a:srgbClr val="22D3EE"/>
              </a:buClr>
              <a:buFont typeface="Arial"/>
              <a:buChar char="•"/>
            </a:pPr>
            <a:r>
              <a:rPr sz="1250" b="0" i="0">
                <a:solidFill>
                  <a:srgbClr val="D1D5DB"/>
                </a:solidFill>
                <a:latin typeface="Calibri"/>
              </a:rPr>
              <a:t>A hotkey drops a typed objection at the exact paragraph it concerns</a:t>
            </a:r>
          </a:p>
          <a:p>
            <a:pPr algn="l" marL="219456" indent="-182880">
              <a:lnSpc>
                <a:spcPct val="110000"/>
              </a:lnSpc>
              <a:spcAft>
                <a:spcPts val="600"/>
              </a:spcAft>
              <a:buClr>
                <a:srgbClr val="22D3EE"/>
              </a:buClr>
              <a:buFont typeface="Arial"/>
              <a:buChar char="•"/>
            </a:pPr>
            <a:r>
              <a:rPr sz="1250" b="0" i="0">
                <a:solidFill>
                  <a:srgbClr val="D1D5DB"/>
                </a:solidFill>
                <a:latin typeface="Calibri"/>
              </a:rPr>
              <a:t>'Address fresh callouts' sends the model back through them: it rewrites the body, then records our wording verbatim with a dated reply</a:t>
            </a:r>
          </a:p>
          <a:p>
            <a:pPr algn="l" marL="219456" indent="-182880">
              <a:lnSpc>
                <a:spcPct val="110000"/>
              </a:lnSpc>
              <a:spcAft>
                <a:spcPts val="600"/>
              </a:spcAft>
              <a:buClr>
                <a:srgbClr val="22D3EE"/>
              </a:buClr>
              <a:buFont typeface="Arial"/>
              <a:buChar char="•"/>
            </a:pPr>
            <a:r>
              <a:rPr sz="1250" b="0" i="0">
                <a:solidFill>
                  <a:srgbClr val="D1D5DB"/>
                </a:solidFill>
                <a:latin typeface="Calibri"/>
              </a:rPr>
              <a:t>The body is the deliverable; the callout is the ledger</a:t>
            </a:r>
          </a:p>
          <a:p>
            <a:pPr algn="l" marL="219456" indent="-182880">
              <a:lnSpc>
                <a:spcPct val="110000"/>
              </a:lnSpc>
              <a:spcAft>
                <a:spcPts val="300"/>
              </a:spcAft>
              <a:buClr>
                <a:srgbClr val="22D3EE"/>
              </a:buClr>
              <a:buFont typeface="Arial"/>
              <a:buChar char="•"/>
            </a:pPr>
            <a:r>
              <a:rPr sz="1250" b="0" i="0">
                <a:solidFill>
                  <a:srgbClr val="D1D5DB"/>
                </a:solidFill>
                <a:latin typeface="Calibri"/>
              </a:rPr>
              <a:t>Four error callouts on one name in a month reads as conviction drift</a:t>
            </a:r>
          </a:p>
        </p:txBody>
      </p:sp>
      <p:sp>
        <p:nvSpPr>
          <p:cNvPr id="7" name="TextBox 6"/>
          <p:cNvSpPr txBox="1"/>
          <p:nvPr/>
        </p:nvSpPr>
        <p:spPr>
          <a:xfrm>
            <a:off x="548640" y="5440680"/>
            <a:ext cx="11064240" cy="822960"/>
          </a:xfrm>
          <a:prstGeom prst="rect">
            <a:avLst/>
          </a:prstGeom>
          <a:noFill/>
        </p:spPr>
        <p:txBody>
          <a:bodyPr wrap="square" lIns="45720" rIns="45720" anchor="t">
            <a:noAutofit/>
          </a:bodyPr>
          <a:lstStyle/>
          <a:p>
            <a:pPr algn="l">
              <a:lnSpc>
                <a:spcPct val="112000"/>
              </a:lnSpc>
              <a:spcAft>
                <a:spcPts val="400"/>
              </a:spcAft>
            </a:pPr>
            <a:r>
              <a:rPr sz="1350" b="0" i="0">
                <a:solidFill>
                  <a:srgbClr val="D1D5DB"/>
                </a:solidFill>
                <a:latin typeface="Calibri"/>
              </a:rPr>
              <a:t>Most of the book's text is machine-drafted. Every disagreement we have ever had with the machine is preserved next to the claim it concerned.</a:t>
            </a:r>
          </a:p>
        </p:txBody>
      </p:sp>
      <p:sp>
        <p:nvSpPr>
          <p:cNvPr id="8" name="footer"/>
          <p:cNvSpPr txBox="1"/>
          <p:nvPr/>
        </p:nvSpPr>
        <p:spPr>
          <a:xfrm>
            <a:off x="548640" y="6446520"/>
            <a:ext cx="7772400" cy="274320"/>
          </a:xfrm>
          <a:prstGeom prst="rect">
            <a:avLst/>
          </a:prstGeom>
          <a:noFill/>
        </p:spPr>
        <p:txBody>
          <a:bodyPr wrap="square" lIns="45720" rIns="45720" anchor="t">
            <a:noAutofit/>
          </a:bodyPr>
          <a:lstStyle/>
          <a:p>
            <a:pPr algn="l">
              <a:lnSpc>
                <a:spcPct val="112000"/>
              </a:lnSpc>
              <a:spcAft>
                <a:spcPts val="400"/>
              </a:spcAft>
            </a:pPr>
            <a:r>
              <a:rPr sz="900" b="0" i="0">
                <a:solidFill>
                  <a:srgbClr val="6B7280"/>
                </a:solidFill>
                <a:latin typeface="Calibri"/>
              </a:rPr>
              <a:t>Laniakea Partners · A Second Brain for Investing · August 2026  ·  Part 4</a:t>
            </a:r>
          </a:p>
        </p:txBody>
      </p:sp>
      <p:sp>
        <p:nvSpPr>
          <p:cNvPr id="9" name="footer"/>
          <p:cNvSpPr txBox="1"/>
          <p:nvPr/>
        </p:nvSpPr>
        <p:spPr>
          <a:xfrm>
            <a:off x="10332720" y="6446520"/>
            <a:ext cx="1325880" cy="274320"/>
          </a:xfrm>
          <a:prstGeom prst="rect">
            <a:avLst/>
          </a:prstGeom>
          <a:noFill/>
        </p:spPr>
        <p:txBody>
          <a:bodyPr wrap="square" lIns="45720" rIns="45720" anchor="t">
            <a:noAutofit/>
          </a:bodyPr>
          <a:lstStyle/>
          <a:p>
            <a:pPr algn="r">
              <a:lnSpc>
                <a:spcPct val="112000"/>
              </a:lnSpc>
              <a:spcAft>
                <a:spcPts val="400"/>
              </a:spcAft>
            </a:pPr>
            <a:r>
              <a:rPr sz="900" b="0" i="0">
                <a:solidFill>
                  <a:srgbClr val="6B7280"/>
                </a:solidFill>
                <a:latin typeface="Calibri"/>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548640" y="292608"/>
            <a:ext cx="10972800" cy="320040"/>
          </a:xfrm>
          <a:prstGeom prst="rect">
            <a:avLst/>
          </a:prstGeom>
          <a:noFill/>
        </p:spPr>
        <p:txBody>
          <a:bodyPr wrap="square" lIns="45720" rIns="45720" anchor="t">
            <a:noAutofit/>
          </a:bodyPr>
          <a:lstStyle/>
          <a:p>
            <a:pPr algn="l">
              <a:lnSpc>
                <a:spcPct val="112000"/>
              </a:lnSpc>
              <a:spcAft>
                <a:spcPts val="400"/>
              </a:spcAft>
            </a:pPr>
            <a:r>
              <a:rPr sz="1100" b="1" i="0">
                <a:solidFill>
                  <a:srgbClr val="22D3EE"/>
                </a:solidFill>
                <a:latin typeface="Calibri"/>
              </a:rPr>
              <a:t>PART 4 · USE CASES</a:t>
            </a:r>
          </a:p>
        </p:txBody>
      </p:sp>
      <p:sp>
        <p:nvSpPr>
          <p:cNvPr id="3" name="TextBox 2"/>
          <p:cNvSpPr txBox="1"/>
          <p:nvPr/>
        </p:nvSpPr>
        <p:spPr>
          <a:xfrm>
            <a:off x="548640" y="566928"/>
            <a:ext cx="11064240" cy="868680"/>
          </a:xfrm>
          <a:prstGeom prst="rect">
            <a:avLst/>
          </a:prstGeom>
          <a:noFill/>
        </p:spPr>
        <p:txBody>
          <a:bodyPr wrap="square" lIns="45720" rIns="45720" anchor="t">
            <a:noAutofit/>
          </a:bodyPr>
          <a:lstStyle/>
          <a:p>
            <a:pPr algn="l">
              <a:lnSpc>
                <a:spcPct val="100000"/>
              </a:lnSpc>
              <a:spcAft>
                <a:spcPts val="400"/>
              </a:spcAft>
            </a:pPr>
            <a:r>
              <a:rPr sz="2800" b="0" i="0">
                <a:solidFill>
                  <a:srgbClr val="F5F5F0"/>
                </a:solidFill>
                <a:latin typeface="Georgia"/>
              </a:rPr>
              <a:t>Use case 6 · Asking the book questions</a:t>
            </a:r>
          </a:p>
        </p:txBody>
      </p:sp>
      <p:cxnSp>
        <p:nvCxnSpPr>
          <p:cNvPr id="4" name="Connector 3"/>
          <p:cNvCxnSpPr/>
          <p:nvPr/>
        </p:nvCxnSpPr>
        <p:spPr>
          <a:xfrm>
            <a:off x="594360" y="1389888"/>
            <a:ext cx="914400" cy="0"/>
          </a:xfrm>
          <a:prstGeom prst="line">
            <a:avLst/>
          </a:prstGeom>
          <a:ln w="31750">
            <a:solidFill>
              <a:srgbClr val="0891B2"/>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548640" y="1645920"/>
          <a:ext cx="6858000" cy="3566160"/>
        </p:xfrm>
        <a:graphic>
          <a:graphicData uri="http://schemas.openxmlformats.org/drawingml/2006/table">
            <a:tbl>
              <a:tblPr firstRow="1">
                <a:tableStyleId>{5C22544A-7EE6-4342-B048-85BDC9FD1C3A}</a:tableStyleId>
              </a:tblPr>
              <a:tblGrid>
                <a:gridCol w="2377440"/>
                <a:gridCol w="1371600"/>
                <a:gridCol w="3108960"/>
              </a:tblGrid>
              <a:tr h="594360">
                <a:tc>
                  <a:txBody>
                    <a:bodyPr wrap="square"/>
                    <a:lstStyle/>
                    <a:p>
                      <a:pPr algn="l">
                        <a:lnSpc>
                          <a:spcPct val="108000"/>
                        </a:lnSpc>
                        <a:spcAft>
                          <a:spcPts val="200"/>
                        </a:spcAft>
                      </a:pPr>
                      <a:r>
                        <a:rPr sz="1150" b="1" i="0">
                          <a:solidFill>
                            <a:srgbClr val="FFFFFF"/>
                          </a:solidFill>
                          <a:latin typeface="Calibri"/>
                        </a:rPr>
                        <a:t>Question</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0E4F63"/>
                    </a:solidFill>
                  </a:tcPr>
                </a:tc>
                <a:tc>
                  <a:txBody>
                    <a:bodyPr wrap="square"/>
                    <a:lstStyle/>
                    <a:p>
                      <a:pPr algn="l">
                        <a:lnSpc>
                          <a:spcPct val="108000"/>
                        </a:lnSpc>
                        <a:spcAft>
                          <a:spcPts val="200"/>
                        </a:spcAft>
                      </a:pPr>
                      <a:r>
                        <a:rPr sz="1150" b="1" i="0">
                          <a:solidFill>
                            <a:srgbClr val="FFFFFF"/>
                          </a:solidFill>
                          <a:latin typeface="Calibri"/>
                        </a:rPr>
                        <a:t>Skill</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0E4F63"/>
                    </a:solidFill>
                  </a:tcPr>
                </a:tc>
                <a:tc>
                  <a:txBody>
                    <a:bodyPr wrap="square"/>
                    <a:lstStyle/>
                    <a:p>
                      <a:pPr algn="l">
                        <a:lnSpc>
                          <a:spcPct val="108000"/>
                        </a:lnSpc>
                        <a:spcAft>
                          <a:spcPts val="200"/>
                        </a:spcAft>
                      </a:pPr>
                      <a:r>
                        <a:rPr sz="1150" b="1" i="0">
                          <a:solidFill>
                            <a:srgbClr val="FFFFFF"/>
                          </a:solidFill>
                          <a:latin typeface="Calibri"/>
                        </a:rPr>
                        <a:t>What comes back</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0E4F63"/>
                    </a:solidFill>
                  </a:tcPr>
                </a:tc>
              </a:tr>
              <a:tr h="594360">
                <a:tc>
                  <a:txBody>
                    <a:bodyPr wrap="square"/>
                    <a:lstStyle/>
                    <a:p>
                      <a:pPr algn="l">
                        <a:lnSpc>
                          <a:spcPct val="108000"/>
                        </a:lnSpc>
                        <a:spcAft>
                          <a:spcPts val="200"/>
                        </a:spcAft>
                      </a:pPr>
                      <a:r>
                        <a:rPr sz="1150" b="1" i="0">
                          <a:solidFill>
                            <a:srgbClr val="F5F5F0"/>
                          </a:solidFill>
                          <a:latin typeface="Calibri"/>
                        </a:rPr>
                        <a:t>What must be true for this thesis to work?</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150" b="0" i="0">
                          <a:solidFill>
                            <a:srgbClr val="D1D5DB"/>
                          </a:solidFill>
                          <a:latin typeface="Calibri"/>
                        </a:rPr>
                        <a:t>/assumptions</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150" b="0" i="0">
                          <a:solidFill>
                            <a:srgbClr val="D1D5DB"/>
                          </a:solidFill>
                          <a:latin typeface="Calibri"/>
                        </a:rPr>
                        <a:t>The load-bearing claims, each with its falsifier, and where the thesis argues against itself</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r>
              <a:tr h="594360">
                <a:tc>
                  <a:txBody>
                    <a:bodyPr wrap="square"/>
                    <a:lstStyle/>
                    <a:p>
                      <a:pPr algn="l">
                        <a:lnSpc>
                          <a:spcPct val="108000"/>
                        </a:lnSpc>
                        <a:spcAft>
                          <a:spcPts val="200"/>
                        </a:spcAft>
                      </a:pPr>
                      <a:r>
                        <a:rPr sz="1150" b="1" i="0">
                          <a:solidFill>
                            <a:srgbClr val="F5F5F0"/>
                          </a:solidFill>
                          <a:latin typeface="Calibri"/>
                        </a:rPr>
                        <a:t>What does the bull case actually rest on?</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150" b="0" i="0">
                          <a:solidFill>
                            <a:srgbClr val="D1D5DB"/>
                          </a:solidFill>
                          <a:latin typeface="Calibri"/>
                        </a:rPr>
                        <a:t>/dependency-map</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150" b="0" i="0">
                          <a:solidFill>
                            <a:srgbClr val="D1D5DB"/>
                          </a:solidFill>
                          <a:latin typeface="Calibri"/>
                        </a:rPr>
                        <a:t>Key customers, inputs, technology transitions, single points of failure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r>
              <a:tr h="594360">
                <a:tc>
                  <a:txBody>
                    <a:bodyPr wrap="square"/>
                    <a:lstStyle/>
                    <a:p>
                      <a:pPr algn="l">
                        <a:lnSpc>
                          <a:spcPct val="108000"/>
                        </a:lnSpc>
                        <a:spcAft>
                          <a:spcPts val="200"/>
                        </a:spcAft>
                      </a:pPr>
                      <a:r>
                        <a:rPr sz="1150" b="1" i="0">
                          <a:solidFill>
                            <a:srgbClr val="F5F5F0"/>
                          </a:solidFill>
                          <a:latin typeface="Calibri"/>
                        </a:rPr>
                        <a:t>What macro bet are we secretly making?</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150" b="0" i="0">
                          <a:solidFill>
                            <a:srgbClr val="D1D5DB"/>
                          </a:solidFill>
                          <a:latin typeface="Calibri"/>
                        </a:rPr>
                        <a:t>/macro-exposure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150" b="0" i="0">
                          <a:solidFill>
                            <a:srgbClr val="D1D5DB"/>
                          </a:solidFill>
                          <a:latin typeface="Calibri"/>
                        </a:rPr>
                        <a:t>The implicit macro variables the position is levered to, with direction and size</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r>
              <a:tr h="594360">
                <a:tc>
                  <a:txBody>
                    <a:bodyPr wrap="square"/>
                    <a:lstStyle/>
                    <a:p>
                      <a:pPr algn="l">
                        <a:lnSpc>
                          <a:spcPct val="108000"/>
                        </a:lnSpc>
                        <a:spcAft>
                          <a:spcPts val="200"/>
                        </a:spcAft>
                      </a:pPr>
                      <a:r>
                        <a:rPr sz="1150" b="1" i="0">
                          <a:solidFill>
                            <a:srgbClr val="F5F5F0"/>
                          </a:solidFill>
                          <a:latin typeface="Calibri"/>
                        </a:rPr>
                        <a:t>Where does the company sit in its chain?</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150" b="0" i="0">
                          <a:solidFill>
                            <a:srgbClr val="D1D5DB"/>
                          </a:solidFill>
                          <a:latin typeface="Calibri"/>
                        </a:rPr>
                        <a:t>/value-chain</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c>
                  <a:txBody>
                    <a:bodyPr wrap="square"/>
                    <a:lstStyle/>
                    <a:p>
                      <a:pPr algn="l">
                        <a:lnSpc>
                          <a:spcPct val="108000"/>
                        </a:lnSpc>
                        <a:spcAft>
                          <a:spcPts val="200"/>
                        </a:spcAft>
                      </a:pPr>
                      <a:r>
                        <a:rPr sz="1150" b="0" i="0">
                          <a:solidFill>
                            <a:srgbClr val="D1D5DB"/>
                          </a:solidFill>
                          <a:latin typeface="Calibri"/>
                        </a:rPr>
                        <a:t>Who it buys from and sells to; where the bottleneck and pricing power sit</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232932"/>
                    </a:solidFill>
                  </a:tcPr>
                </a:tc>
              </a:tr>
              <a:tr h="594360">
                <a:tc>
                  <a:txBody>
                    <a:bodyPr wrap="square"/>
                    <a:lstStyle/>
                    <a:p>
                      <a:pPr algn="l">
                        <a:lnSpc>
                          <a:spcPct val="108000"/>
                        </a:lnSpc>
                        <a:spcAft>
                          <a:spcPts val="200"/>
                        </a:spcAft>
                      </a:pPr>
                      <a:r>
                        <a:rPr sz="1150" b="1" i="0">
                          <a:solidFill>
                            <a:srgbClr val="F5F5F0"/>
                          </a:solidFill>
                          <a:latin typeface="Calibri"/>
                        </a:rPr>
                        <a:t>Is our stated conviction still earned?</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150" b="0" i="0">
                          <a:solidFill>
                            <a:srgbClr val="D1D5DB"/>
                          </a:solidFill>
                          <a:latin typeface="Calibri"/>
                        </a:rPr>
                        <a:t>/conviction-audit</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c>
                  <a:txBody>
                    <a:bodyPr wrap="square"/>
                    <a:lstStyle/>
                    <a:p>
                      <a:pPr algn="l">
                        <a:lnSpc>
                          <a:spcPct val="108000"/>
                        </a:lnSpc>
                        <a:spcAft>
                          <a:spcPts val="200"/>
                        </a:spcAft>
                      </a:pPr>
                      <a:r>
                        <a:rPr sz="1150" b="0" i="0">
                          <a:solidFill>
                            <a:srgbClr val="D1D5DB"/>
                          </a:solidFill>
                          <a:latin typeface="Calibri"/>
                        </a:rPr>
                        <a:t>Whether the evidence matches the label, and whether a trigger has fired unactioned</a:t>
                      </a:r>
                    </a:p>
                  </a:txBody>
                  <a:tcPr marL="82296" marR="82296" marT="45720" marB="45720" anchor="t">
                    <a:lnL w="9525" cap="flat" cmpd="sng" algn="ctr">
                      <a:solidFill>
                        <a:srgbClr val="3A414B"/>
                      </a:solidFill>
                      <a:prstDash val="solid"/>
                    </a:lnL>
                    <a:lnR w="9525" cap="flat" cmpd="sng" algn="ctr">
                      <a:solidFill>
                        <a:srgbClr val="3A414B"/>
                      </a:solidFill>
                      <a:prstDash val="solid"/>
                    </a:lnR>
                    <a:lnT w="9525" cap="flat" cmpd="sng" algn="ctr">
                      <a:solidFill>
                        <a:srgbClr val="3A414B"/>
                      </a:solidFill>
                      <a:prstDash val="solid"/>
                    </a:lnT>
                    <a:lnB w="9525" cap="flat" cmpd="sng" algn="ctr">
                      <a:solidFill>
                        <a:srgbClr val="3A414B"/>
                      </a:solidFill>
                      <a:prstDash val="solid"/>
                    </a:lnB>
                    <a:solidFill>
                      <a:srgbClr val="1B2027"/>
                    </a:solidFill>
                  </a:tcPr>
                </a:tc>
              </a:tr>
            </a:tbl>
          </a:graphicData>
        </a:graphic>
      </p:graphicFrame>
      <p:sp>
        <p:nvSpPr>
          <p:cNvPr id="6" name="Rounded Rectangle 5"/>
          <p:cNvSpPr/>
          <p:nvPr/>
        </p:nvSpPr>
        <p:spPr>
          <a:xfrm>
            <a:off x="7680960" y="1645920"/>
            <a:ext cx="3931920" cy="3566160"/>
          </a:xfrm>
          <a:prstGeom prst="roundRect">
            <a:avLst>
              <a:gd name="adj" fmla="val 12000"/>
            </a:avLst>
          </a:prstGeom>
          <a:solidFill>
            <a:srgbClr val="232932"/>
          </a:solidFill>
          <a:ln w="12700">
            <a:solidFill>
              <a:srgbClr val="0891B2"/>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6809" bIns="76809" wrap="square">
            <a:noAutofit/>
          </a:bodyPr>
          <a:lstStyle/>
          <a:p>
            <a:pPr algn="l">
              <a:lnSpc>
                <a:spcPct val="110000"/>
              </a:lnSpc>
              <a:spcAft>
                <a:spcPts val="800"/>
              </a:spcAft>
            </a:pPr>
            <a:r>
              <a:rPr sz="1400" b="1" i="0">
                <a:solidFill>
                  <a:srgbClr val="22D3EE"/>
                </a:solidFill>
                <a:latin typeface="Calibri"/>
              </a:rPr>
              <a:t>Or just ask, in plain English</a:t>
            </a:r>
          </a:p>
          <a:p>
            <a:pPr algn="l">
              <a:lnSpc>
                <a:spcPct val="110000"/>
              </a:lnSpc>
              <a:spcAft>
                <a:spcPts val="600"/>
              </a:spcAft>
            </a:pPr>
            <a:r>
              <a:rPr sz="1200" b="0" i="1">
                <a:solidFill>
                  <a:srgbClr val="D1D5DB"/>
                </a:solidFill>
                <a:latin typeface="Calibri"/>
              </a:rPr>
              <a:t>“Which of my bull cases share an implicit macro dependency? Am I double-counting diversification?”</a:t>
            </a:r>
          </a:p>
          <a:p>
            <a:pPr algn="l">
              <a:lnSpc>
                <a:spcPct val="110000"/>
              </a:lnSpc>
              <a:spcAft>
                <a:spcPts val="600"/>
              </a:spcAft>
            </a:pPr>
            <a:r>
              <a:rPr sz="1200" b="0" i="1">
                <a:solidFill>
                  <a:srgbClr val="D1D5DB"/>
                </a:solidFill>
                <a:latin typeface="Calibri"/>
              </a:rPr>
              <a:t>“Read my macro note on 800VDC. Which thesis is most exposed to a risk I haven't written down?”</a:t>
            </a:r>
          </a:p>
          <a:p>
            <a:pPr algn="l">
              <a:lnSpc>
                <a:spcPct val="110000"/>
              </a:lnSpc>
              <a:spcAft>
                <a:spcPts val="300"/>
              </a:spcAft>
            </a:pPr>
            <a:r>
              <a:rPr sz="1200" b="0" i="1">
                <a:solidFill>
                  <a:srgbClr val="D1D5DB"/>
                </a:solidFill>
                <a:latin typeface="Calibri"/>
              </a:rPr>
              <a:t>“Which theses rest on HBM supply? Where does one supplier appear across the book?”</a:t>
            </a:r>
          </a:p>
        </p:txBody>
      </p:sp>
      <p:sp>
        <p:nvSpPr>
          <p:cNvPr id="7" name="TextBox 6"/>
          <p:cNvSpPr txBox="1"/>
          <p:nvPr/>
        </p:nvSpPr>
        <p:spPr>
          <a:xfrm>
            <a:off x="548640" y="5394960"/>
            <a:ext cx="11064240" cy="914400"/>
          </a:xfrm>
          <a:prstGeom prst="rect">
            <a:avLst/>
          </a:prstGeom>
          <a:noFill/>
        </p:spPr>
        <p:txBody>
          <a:bodyPr wrap="square" lIns="45720" rIns="45720" anchor="t">
            <a:noAutofit/>
          </a:bodyPr>
          <a:lstStyle/>
          <a:p>
            <a:pPr algn="l">
              <a:lnSpc>
                <a:spcPct val="112000"/>
              </a:lnSpc>
              <a:spcAft>
                <a:spcPts val="400"/>
              </a:spcAft>
            </a:pPr>
            <a:r>
              <a:rPr sz="1300" b="0" i="0">
                <a:solidFill>
                  <a:srgbClr val="D1D5DB"/>
                </a:solidFill>
                <a:latin typeface="Calibri"/>
              </a:rPr>
              <a:t>Answers arrive in minutes with the file list to verify them against, because the cross-referencing was done when the notes were written. A portfolio-scale version of each question fans out across all 97 theses; findings are attacked by sceptic agents before we see them.</a:t>
            </a:r>
          </a:p>
        </p:txBody>
      </p:sp>
      <p:sp>
        <p:nvSpPr>
          <p:cNvPr id="8" name="footer"/>
          <p:cNvSpPr txBox="1"/>
          <p:nvPr/>
        </p:nvSpPr>
        <p:spPr>
          <a:xfrm>
            <a:off x="548640" y="6446520"/>
            <a:ext cx="7772400" cy="274320"/>
          </a:xfrm>
          <a:prstGeom prst="rect">
            <a:avLst/>
          </a:prstGeom>
          <a:noFill/>
        </p:spPr>
        <p:txBody>
          <a:bodyPr wrap="square" lIns="45720" rIns="45720" anchor="t">
            <a:noAutofit/>
          </a:bodyPr>
          <a:lstStyle/>
          <a:p>
            <a:pPr algn="l">
              <a:lnSpc>
                <a:spcPct val="112000"/>
              </a:lnSpc>
              <a:spcAft>
                <a:spcPts val="400"/>
              </a:spcAft>
            </a:pPr>
            <a:r>
              <a:rPr sz="900" b="0" i="0">
                <a:solidFill>
                  <a:srgbClr val="6B7280"/>
                </a:solidFill>
                <a:latin typeface="Calibri"/>
              </a:rPr>
              <a:t>Laniakea Partners · A Second Brain for Investing · August 2026  ·  Part 4</a:t>
            </a:r>
          </a:p>
        </p:txBody>
      </p:sp>
      <p:sp>
        <p:nvSpPr>
          <p:cNvPr id="9" name="footer"/>
          <p:cNvSpPr txBox="1"/>
          <p:nvPr/>
        </p:nvSpPr>
        <p:spPr>
          <a:xfrm>
            <a:off x="10332720" y="6446520"/>
            <a:ext cx="1325880" cy="274320"/>
          </a:xfrm>
          <a:prstGeom prst="rect">
            <a:avLst/>
          </a:prstGeom>
          <a:noFill/>
        </p:spPr>
        <p:txBody>
          <a:bodyPr wrap="square" lIns="45720" rIns="45720" anchor="t">
            <a:noAutofit/>
          </a:bodyPr>
          <a:lstStyle/>
          <a:p>
            <a:pPr algn="r">
              <a:lnSpc>
                <a:spcPct val="112000"/>
              </a:lnSpc>
              <a:spcAft>
                <a:spcPts val="400"/>
              </a:spcAft>
            </a:pPr>
            <a:r>
              <a:rPr sz="900" b="0" i="0">
                <a:solidFill>
                  <a:srgbClr val="6B7280"/>
                </a:solidFill>
                <a:latin typeface="Calibri"/>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548640" y="292608"/>
            <a:ext cx="10972800" cy="320040"/>
          </a:xfrm>
          <a:prstGeom prst="rect">
            <a:avLst/>
          </a:prstGeom>
          <a:noFill/>
        </p:spPr>
        <p:txBody>
          <a:bodyPr wrap="square" lIns="45720" rIns="45720" anchor="t">
            <a:noAutofit/>
          </a:bodyPr>
          <a:lstStyle/>
          <a:p>
            <a:pPr algn="l">
              <a:lnSpc>
                <a:spcPct val="112000"/>
              </a:lnSpc>
              <a:spcAft>
                <a:spcPts val="400"/>
              </a:spcAft>
            </a:pPr>
            <a:r>
              <a:rPr sz="1100" b="1" i="0">
                <a:solidFill>
                  <a:srgbClr val="22D3EE"/>
                </a:solidFill>
                <a:latin typeface="Calibri"/>
              </a:rPr>
              <a:t>PART 4 · USE CASES</a:t>
            </a:r>
          </a:p>
        </p:txBody>
      </p:sp>
      <p:sp>
        <p:nvSpPr>
          <p:cNvPr id="3" name="TextBox 2"/>
          <p:cNvSpPr txBox="1"/>
          <p:nvPr/>
        </p:nvSpPr>
        <p:spPr>
          <a:xfrm>
            <a:off x="548640" y="566928"/>
            <a:ext cx="11064240" cy="868680"/>
          </a:xfrm>
          <a:prstGeom prst="rect">
            <a:avLst/>
          </a:prstGeom>
          <a:noFill/>
        </p:spPr>
        <p:txBody>
          <a:bodyPr wrap="square" lIns="45720" rIns="45720" anchor="t">
            <a:noAutofit/>
          </a:bodyPr>
          <a:lstStyle/>
          <a:p>
            <a:pPr algn="l">
              <a:lnSpc>
                <a:spcPct val="100000"/>
              </a:lnSpc>
              <a:spcAft>
                <a:spcPts val="400"/>
              </a:spcAft>
            </a:pPr>
            <a:r>
              <a:rPr sz="2800" b="0" i="0">
                <a:solidFill>
                  <a:srgbClr val="F5F5F0"/>
                </a:solidFill>
                <a:latin typeface="Georgia"/>
              </a:rPr>
              <a:t>The eight features that carry the return</a:t>
            </a:r>
          </a:p>
        </p:txBody>
      </p:sp>
      <p:cxnSp>
        <p:nvCxnSpPr>
          <p:cNvPr id="4" name="Connector 3"/>
          <p:cNvCxnSpPr/>
          <p:nvPr/>
        </p:nvCxnSpPr>
        <p:spPr>
          <a:xfrm>
            <a:off x="594360" y="1389888"/>
            <a:ext cx="914400" cy="0"/>
          </a:xfrm>
          <a:prstGeom prst="line">
            <a:avLst/>
          </a:prstGeom>
          <a:ln w="31750">
            <a:solidFill>
              <a:srgbClr val="0891B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645920"/>
            <a:ext cx="548640" cy="914400"/>
          </a:xfrm>
          <a:prstGeom prst="rect">
            <a:avLst/>
          </a:prstGeom>
          <a:noFill/>
        </p:spPr>
        <p:txBody>
          <a:bodyPr wrap="square" lIns="45720" rIns="45720" anchor="t">
            <a:noAutofit/>
          </a:bodyPr>
          <a:lstStyle/>
          <a:p>
            <a:pPr algn="l">
              <a:lnSpc>
                <a:spcPct val="112000"/>
              </a:lnSpc>
              <a:spcAft>
                <a:spcPts val="400"/>
              </a:spcAft>
            </a:pPr>
            <a:r>
              <a:rPr sz="2600" b="0" i="0">
                <a:solidFill>
                  <a:srgbClr val="0891B2"/>
                </a:solidFill>
                <a:latin typeface="Georgia"/>
              </a:rPr>
              <a:t>1</a:t>
            </a:r>
          </a:p>
        </p:txBody>
      </p:sp>
      <p:sp>
        <p:nvSpPr>
          <p:cNvPr id="6" name="TextBox 5"/>
          <p:cNvSpPr txBox="1"/>
          <p:nvPr/>
        </p:nvSpPr>
        <p:spPr>
          <a:xfrm>
            <a:off x="1097280" y="1664208"/>
            <a:ext cx="4937760" cy="411480"/>
          </a:xfrm>
          <a:prstGeom prst="rect">
            <a:avLst/>
          </a:prstGeom>
          <a:noFill/>
        </p:spPr>
        <p:txBody>
          <a:bodyPr wrap="square" lIns="45720" rIns="45720" anchor="t">
            <a:noAutofit/>
          </a:bodyPr>
          <a:lstStyle/>
          <a:p>
            <a:pPr algn="l">
              <a:lnSpc>
                <a:spcPct val="112000"/>
              </a:lnSpc>
              <a:spcAft>
                <a:spcPts val="400"/>
              </a:spcAft>
            </a:pPr>
            <a:r>
              <a:rPr sz="1500" b="1" i="0">
                <a:solidFill>
                  <a:srgbClr val="F5F5F0"/>
                </a:solidFill>
                <a:latin typeface="Calibri"/>
              </a:rPr>
              <a:t>Compilation, not retrieval</a:t>
            </a:r>
          </a:p>
        </p:txBody>
      </p:sp>
      <p:sp>
        <p:nvSpPr>
          <p:cNvPr id="7" name="TextBox 6"/>
          <p:cNvSpPr txBox="1"/>
          <p:nvPr/>
        </p:nvSpPr>
        <p:spPr>
          <a:xfrm>
            <a:off x="1097280" y="2029968"/>
            <a:ext cx="4937760" cy="685800"/>
          </a:xfrm>
          <a:prstGeom prst="rect">
            <a:avLst/>
          </a:prstGeom>
          <a:noFill/>
        </p:spPr>
        <p:txBody>
          <a:bodyPr wrap="square" lIns="45720" rIns="45720" anchor="t">
            <a:noAutofit/>
          </a:bodyPr>
          <a:lstStyle/>
          <a:p>
            <a:pPr algn="l">
              <a:lnSpc>
                <a:spcPct val="112000"/>
              </a:lnSpc>
              <a:spcAft>
                <a:spcPts val="400"/>
              </a:spcAft>
            </a:pPr>
            <a:r>
              <a:rPr sz="1200" b="0" i="0">
                <a:solidFill>
                  <a:srgbClr val="9CA3AF"/>
                </a:solidFill>
                <a:latin typeface="Calibri"/>
              </a:rPr>
              <a:t>Knowledge written back into the notes; March's insight cited in September.</a:t>
            </a:r>
          </a:p>
        </p:txBody>
      </p:sp>
      <p:sp>
        <p:nvSpPr>
          <p:cNvPr id="8" name="TextBox 7"/>
          <p:cNvSpPr txBox="1"/>
          <p:nvPr/>
        </p:nvSpPr>
        <p:spPr>
          <a:xfrm>
            <a:off x="6172200" y="1645920"/>
            <a:ext cx="548640" cy="914400"/>
          </a:xfrm>
          <a:prstGeom prst="rect">
            <a:avLst/>
          </a:prstGeom>
          <a:noFill/>
        </p:spPr>
        <p:txBody>
          <a:bodyPr wrap="square" lIns="45720" rIns="45720" anchor="t">
            <a:noAutofit/>
          </a:bodyPr>
          <a:lstStyle/>
          <a:p>
            <a:pPr algn="l">
              <a:lnSpc>
                <a:spcPct val="112000"/>
              </a:lnSpc>
              <a:spcAft>
                <a:spcPts val="400"/>
              </a:spcAft>
            </a:pPr>
            <a:r>
              <a:rPr sz="2600" b="0" i="0">
                <a:solidFill>
                  <a:srgbClr val="0891B2"/>
                </a:solidFill>
                <a:latin typeface="Georgia"/>
              </a:rPr>
              <a:t>2</a:t>
            </a:r>
          </a:p>
        </p:txBody>
      </p:sp>
      <p:sp>
        <p:nvSpPr>
          <p:cNvPr id="9" name="TextBox 8"/>
          <p:cNvSpPr txBox="1"/>
          <p:nvPr/>
        </p:nvSpPr>
        <p:spPr>
          <a:xfrm>
            <a:off x="6720840" y="1664208"/>
            <a:ext cx="4937760" cy="411480"/>
          </a:xfrm>
          <a:prstGeom prst="rect">
            <a:avLst/>
          </a:prstGeom>
          <a:noFill/>
        </p:spPr>
        <p:txBody>
          <a:bodyPr wrap="square" lIns="45720" rIns="45720" anchor="t">
            <a:noAutofit/>
          </a:bodyPr>
          <a:lstStyle/>
          <a:p>
            <a:pPr algn="l">
              <a:lnSpc>
                <a:spcPct val="112000"/>
              </a:lnSpc>
              <a:spcAft>
                <a:spcPts val="400"/>
              </a:spcAft>
            </a:pPr>
            <a:r>
              <a:rPr sz="1500" b="1" i="0">
                <a:solidFill>
                  <a:srgbClr val="F5F5F0"/>
                </a:solidFill>
                <a:latin typeface="Calibri"/>
              </a:rPr>
              <a:t>Interlinked context</a:t>
            </a:r>
          </a:p>
        </p:txBody>
      </p:sp>
      <p:sp>
        <p:nvSpPr>
          <p:cNvPr id="10" name="TextBox 9"/>
          <p:cNvSpPr txBox="1"/>
          <p:nvPr/>
        </p:nvSpPr>
        <p:spPr>
          <a:xfrm>
            <a:off x="6720840" y="2029968"/>
            <a:ext cx="4937760" cy="685800"/>
          </a:xfrm>
          <a:prstGeom prst="rect">
            <a:avLst/>
          </a:prstGeom>
          <a:noFill/>
        </p:spPr>
        <p:txBody>
          <a:bodyPr wrap="square" lIns="45720" rIns="45720" anchor="t">
            <a:noAutofit/>
          </a:bodyPr>
          <a:lstStyle/>
          <a:p>
            <a:pPr algn="l">
              <a:lnSpc>
                <a:spcPct val="112000"/>
              </a:lnSpc>
              <a:spcAft>
                <a:spcPts val="400"/>
              </a:spcAft>
            </a:pPr>
            <a:r>
              <a:rPr sz="1200" b="0" i="0">
                <a:solidFill>
                  <a:srgbClr val="9CA3AF"/>
                </a:solidFill>
                <a:latin typeface="Calibri"/>
              </a:rPr>
              <a:t>Every note knows its neighbours; a datapoint finds the handful of files it touches.</a:t>
            </a:r>
          </a:p>
        </p:txBody>
      </p:sp>
      <p:sp>
        <p:nvSpPr>
          <p:cNvPr id="11" name="TextBox 10"/>
          <p:cNvSpPr txBox="1"/>
          <p:nvPr/>
        </p:nvSpPr>
        <p:spPr>
          <a:xfrm>
            <a:off x="548640" y="2743200"/>
            <a:ext cx="548640" cy="914400"/>
          </a:xfrm>
          <a:prstGeom prst="rect">
            <a:avLst/>
          </a:prstGeom>
          <a:noFill/>
        </p:spPr>
        <p:txBody>
          <a:bodyPr wrap="square" lIns="45720" rIns="45720" anchor="t">
            <a:noAutofit/>
          </a:bodyPr>
          <a:lstStyle/>
          <a:p>
            <a:pPr algn="l">
              <a:lnSpc>
                <a:spcPct val="112000"/>
              </a:lnSpc>
              <a:spcAft>
                <a:spcPts val="400"/>
              </a:spcAft>
            </a:pPr>
            <a:r>
              <a:rPr sz="2600" b="0" i="0">
                <a:solidFill>
                  <a:srgbClr val="0891B2"/>
                </a:solidFill>
                <a:latin typeface="Georgia"/>
              </a:rPr>
              <a:t>3</a:t>
            </a:r>
          </a:p>
        </p:txBody>
      </p:sp>
      <p:sp>
        <p:nvSpPr>
          <p:cNvPr id="12" name="TextBox 11"/>
          <p:cNvSpPr txBox="1"/>
          <p:nvPr/>
        </p:nvSpPr>
        <p:spPr>
          <a:xfrm>
            <a:off x="1097280" y="2761488"/>
            <a:ext cx="4937760" cy="411480"/>
          </a:xfrm>
          <a:prstGeom prst="rect">
            <a:avLst/>
          </a:prstGeom>
          <a:noFill/>
        </p:spPr>
        <p:txBody>
          <a:bodyPr wrap="square" lIns="45720" rIns="45720" anchor="t">
            <a:noAutofit/>
          </a:bodyPr>
          <a:lstStyle/>
          <a:p>
            <a:pPr algn="l">
              <a:lnSpc>
                <a:spcPct val="112000"/>
              </a:lnSpc>
              <a:spcAft>
                <a:spcPts val="400"/>
              </a:spcAft>
            </a:pPr>
            <a:r>
              <a:rPr sz="1500" b="1" i="0">
                <a:solidFill>
                  <a:srgbClr val="F5F5F0"/>
                </a:solidFill>
                <a:latin typeface="Calibri"/>
              </a:rPr>
              <a:t>Pre-registered triggers</a:t>
            </a:r>
          </a:p>
        </p:txBody>
      </p:sp>
      <p:sp>
        <p:nvSpPr>
          <p:cNvPr id="13" name="TextBox 12"/>
          <p:cNvSpPr txBox="1"/>
          <p:nvPr/>
        </p:nvSpPr>
        <p:spPr>
          <a:xfrm>
            <a:off x="1097280" y="3127248"/>
            <a:ext cx="4937760" cy="685800"/>
          </a:xfrm>
          <a:prstGeom prst="rect">
            <a:avLst/>
          </a:prstGeom>
          <a:noFill/>
        </p:spPr>
        <p:txBody>
          <a:bodyPr wrap="square" lIns="45720" rIns="45720" anchor="t">
            <a:noAutofit/>
          </a:bodyPr>
          <a:lstStyle/>
          <a:p>
            <a:pPr algn="l">
              <a:lnSpc>
                <a:spcPct val="112000"/>
              </a:lnSpc>
              <a:spcAft>
                <a:spcPts val="400"/>
              </a:spcAft>
            </a:pPr>
            <a:r>
              <a:rPr sz="1200" b="0" i="0">
                <a:solidFill>
                  <a:srgbClr val="9CA3AF"/>
                </a:solidFill>
                <a:latin typeface="Calibri"/>
              </a:rPr>
              <a:t>Raise / cut / close conditions written before the market has an opinion.</a:t>
            </a:r>
          </a:p>
        </p:txBody>
      </p:sp>
      <p:sp>
        <p:nvSpPr>
          <p:cNvPr id="14" name="TextBox 13"/>
          <p:cNvSpPr txBox="1"/>
          <p:nvPr/>
        </p:nvSpPr>
        <p:spPr>
          <a:xfrm>
            <a:off x="6172200" y="2743200"/>
            <a:ext cx="548640" cy="914400"/>
          </a:xfrm>
          <a:prstGeom prst="rect">
            <a:avLst/>
          </a:prstGeom>
          <a:noFill/>
        </p:spPr>
        <p:txBody>
          <a:bodyPr wrap="square" lIns="45720" rIns="45720" anchor="t">
            <a:noAutofit/>
          </a:bodyPr>
          <a:lstStyle/>
          <a:p>
            <a:pPr algn="l">
              <a:lnSpc>
                <a:spcPct val="112000"/>
              </a:lnSpc>
              <a:spcAft>
                <a:spcPts val="400"/>
              </a:spcAft>
            </a:pPr>
            <a:r>
              <a:rPr sz="2600" b="0" i="0">
                <a:solidFill>
                  <a:srgbClr val="0891B2"/>
                </a:solidFill>
                <a:latin typeface="Georgia"/>
              </a:rPr>
              <a:t>4</a:t>
            </a:r>
          </a:p>
        </p:txBody>
      </p:sp>
      <p:sp>
        <p:nvSpPr>
          <p:cNvPr id="15" name="TextBox 14"/>
          <p:cNvSpPr txBox="1"/>
          <p:nvPr/>
        </p:nvSpPr>
        <p:spPr>
          <a:xfrm>
            <a:off x="6720840" y="2761488"/>
            <a:ext cx="4937760" cy="411480"/>
          </a:xfrm>
          <a:prstGeom prst="rect">
            <a:avLst/>
          </a:prstGeom>
          <a:noFill/>
        </p:spPr>
        <p:txBody>
          <a:bodyPr wrap="square" lIns="45720" rIns="45720" anchor="t">
            <a:noAutofit/>
          </a:bodyPr>
          <a:lstStyle/>
          <a:p>
            <a:pPr algn="l">
              <a:lnSpc>
                <a:spcPct val="112000"/>
              </a:lnSpc>
              <a:spcAft>
                <a:spcPts val="400"/>
              </a:spcAft>
            </a:pPr>
            <a:r>
              <a:rPr sz="1500" b="1" i="0">
                <a:solidFill>
                  <a:srgbClr val="F5F5F0"/>
                </a:solidFill>
                <a:latin typeface="Calibri"/>
              </a:rPr>
              <a:t>Propagation</a:t>
            </a:r>
          </a:p>
        </p:txBody>
      </p:sp>
      <p:sp>
        <p:nvSpPr>
          <p:cNvPr id="16" name="TextBox 15"/>
          <p:cNvSpPr txBox="1"/>
          <p:nvPr/>
        </p:nvSpPr>
        <p:spPr>
          <a:xfrm>
            <a:off x="6720840" y="3127248"/>
            <a:ext cx="4937760" cy="685800"/>
          </a:xfrm>
          <a:prstGeom prst="rect">
            <a:avLst/>
          </a:prstGeom>
          <a:noFill/>
        </p:spPr>
        <p:txBody>
          <a:bodyPr wrap="square" lIns="45720" rIns="45720" anchor="t">
            <a:noAutofit/>
          </a:bodyPr>
          <a:lstStyle/>
          <a:p>
            <a:pPr algn="l">
              <a:lnSpc>
                <a:spcPct val="112000"/>
              </a:lnSpc>
              <a:spcAft>
                <a:spcPts val="400"/>
              </a:spcAft>
            </a:pPr>
            <a:r>
              <a:rPr sz="1200" b="0" i="0">
                <a:solidFill>
                  <a:srgbClr val="9CA3AF"/>
                </a:solidFill>
                <a:latin typeface="Calibri"/>
              </a:rPr>
              <a:t>One source updates every affected note in one pass, with dated log entries.</a:t>
            </a:r>
          </a:p>
        </p:txBody>
      </p:sp>
      <p:sp>
        <p:nvSpPr>
          <p:cNvPr id="17" name="TextBox 16"/>
          <p:cNvSpPr txBox="1"/>
          <p:nvPr/>
        </p:nvSpPr>
        <p:spPr>
          <a:xfrm>
            <a:off x="548640" y="3840480"/>
            <a:ext cx="548640" cy="914400"/>
          </a:xfrm>
          <a:prstGeom prst="rect">
            <a:avLst/>
          </a:prstGeom>
          <a:noFill/>
        </p:spPr>
        <p:txBody>
          <a:bodyPr wrap="square" lIns="45720" rIns="45720" anchor="t">
            <a:noAutofit/>
          </a:bodyPr>
          <a:lstStyle/>
          <a:p>
            <a:pPr algn="l">
              <a:lnSpc>
                <a:spcPct val="112000"/>
              </a:lnSpc>
              <a:spcAft>
                <a:spcPts val="400"/>
              </a:spcAft>
            </a:pPr>
            <a:r>
              <a:rPr sz="2600" b="0" i="0">
                <a:solidFill>
                  <a:srgbClr val="0891B2"/>
                </a:solidFill>
                <a:latin typeface="Georgia"/>
              </a:rPr>
              <a:t>5</a:t>
            </a:r>
          </a:p>
        </p:txBody>
      </p:sp>
      <p:sp>
        <p:nvSpPr>
          <p:cNvPr id="18" name="TextBox 17"/>
          <p:cNvSpPr txBox="1"/>
          <p:nvPr/>
        </p:nvSpPr>
        <p:spPr>
          <a:xfrm>
            <a:off x="1097280" y="3858768"/>
            <a:ext cx="4937760" cy="411480"/>
          </a:xfrm>
          <a:prstGeom prst="rect">
            <a:avLst/>
          </a:prstGeom>
          <a:noFill/>
        </p:spPr>
        <p:txBody>
          <a:bodyPr wrap="square" lIns="45720" rIns="45720" anchor="t">
            <a:noAutofit/>
          </a:bodyPr>
          <a:lstStyle/>
          <a:p>
            <a:pPr algn="l">
              <a:lnSpc>
                <a:spcPct val="112000"/>
              </a:lnSpc>
              <a:spcAft>
                <a:spcPts val="400"/>
              </a:spcAft>
            </a:pPr>
            <a:r>
              <a:rPr sz="1500" b="1" i="0">
                <a:solidFill>
                  <a:srgbClr val="F5F5F0"/>
                </a:solidFill>
                <a:latin typeface="Calibri"/>
              </a:rPr>
              <a:t>Adversarial procedures</a:t>
            </a:r>
          </a:p>
        </p:txBody>
      </p:sp>
      <p:sp>
        <p:nvSpPr>
          <p:cNvPr id="19" name="TextBox 18"/>
          <p:cNvSpPr txBox="1"/>
          <p:nvPr/>
        </p:nvSpPr>
        <p:spPr>
          <a:xfrm>
            <a:off x="1097280" y="4224528"/>
            <a:ext cx="4937760" cy="685800"/>
          </a:xfrm>
          <a:prstGeom prst="rect">
            <a:avLst/>
          </a:prstGeom>
          <a:noFill/>
        </p:spPr>
        <p:txBody>
          <a:bodyPr wrap="square" lIns="45720" rIns="45720" anchor="t">
            <a:noAutofit/>
          </a:bodyPr>
          <a:lstStyle/>
          <a:p>
            <a:pPr algn="l">
              <a:lnSpc>
                <a:spcPct val="112000"/>
              </a:lnSpc>
              <a:spcAft>
                <a:spcPts val="400"/>
              </a:spcAft>
            </a:pPr>
            <a:r>
              <a:rPr sz="1200" b="0" i="0">
                <a:solidFill>
                  <a:srgbClr val="9CA3AF"/>
                </a:solidFill>
                <a:latin typeface="Calibri"/>
              </a:rPr>
              <a:t>Stress tests, scenarios and sweeps whose purpose is to attack the book they maintain.</a:t>
            </a:r>
          </a:p>
        </p:txBody>
      </p:sp>
      <p:sp>
        <p:nvSpPr>
          <p:cNvPr id="20" name="TextBox 19"/>
          <p:cNvSpPr txBox="1"/>
          <p:nvPr/>
        </p:nvSpPr>
        <p:spPr>
          <a:xfrm>
            <a:off x="6172200" y="3840480"/>
            <a:ext cx="548640" cy="914400"/>
          </a:xfrm>
          <a:prstGeom prst="rect">
            <a:avLst/>
          </a:prstGeom>
          <a:noFill/>
        </p:spPr>
        <p:txBody>
          <a:bodyPr wrap="square" lIns="45720" rIns="45720" anchor="t">
            <a:noAutofit/>
          </a:bodyPr>
          <a:lstStyle/>
          <a:p>
            <a:pPr algn="l">
              <a:lnSpc>
                <a:spcPct val="112000"/>
              </a:lnSpc>
              <a:spcAft>
                <a:spcPts val="400"/>
              </a:spcAft>
            </a:pPr>
            <a:r>
              <a:rPr sz="2600" b="0" i="0">
                <a:solidFill>
                  <a:srgbClr val="0891B2"/>
                </a:solidFill>
                <a:latin typeface="Georgia"/>
              </a:rPr>
              <a:t>6</a:t>
            </a:r>
          </a:p>
        </p:txBody>
      </p:sp>
      <p:sp>
        <p:nvSpPr>
          <p:cNvPr id="21" name="TextBox 20"/>
          <p:cNvSpPr txBox="1"/>
          <p:nvPr/>
        </p:nvSpPr>
        <p:spPr>
          <a:xfrm>
            <a:off x="6720840" y="3858768"/>
            <a:ext cx="4937760" cy="411480"/>
          </a:xfrm>
          <a:prstGeom prst="rect">
            <a:avLst/>
          </a:prstGeom>
          <a:noFill/>
        </p:spPr>
        <p:txBody>
          <a:bodyPr wrap="square" lIns="45720" rIns="45720" anchor="t">
            <a:noAutofit/>
          </a:bodyPr>
          <a:lstStyle/>
          <a:p>
            <a:pPr algn="l">
              <a:lnSpc>
                <a:spcPct val="112000"/>
              </a:lnSpc>
              <a:spcAft>
                <a:spcPts val="400"/>
              </a:spcAft>
            </a:pPr>
            <a:r>
              <a:rPr sz="1500" b="1" i="0">
                <a:solidFill>
                  <a:srgbClr val="F5F5F0"/>
                </a:solidFill>
                <a:latin typeface="Calibri"/>
              </a:rPr>
              <a:t>A register that never forgets</a:t>
            </a:r>
          </a:p>
        </p:txBody>
      </p:sp>
      <p:sp>
        <p:nvSpPr>
          <p:cNvPr id="22" name="TextBox 21"/>
          <p:cNvSpPr txBox="1"/>
          <p:nvPr/>
        </p:nvSpPr>
        <p:spPr>
          <a:xfrm>
            <a:off x="6720840" y="4224528"/>
            <a:ext cx="4937760" cy="685800"/>
          </a:xfrm>
          <a:prstGeom prst="rect">
            <a:avLst/>
          </a:prstGeom>
          <a:noFill/>
        </p:spPr>
        <p:txBody>
          <a:bodyPr wrap="square" lIns="45720" rIns="45720" anchor="t">
            <a:noAutofit/>
          </a:bodyPr>
          <a:lstStyle/>
          <a:p>
            <a:pPr algn="l">
              <a:lnSpc>
                <a:spcPct val="112000"/>
              </a:lnSpc>
              <a:spcAft>
                <a:spcPts val="400"/>
              </a:spcAft>
            </a:pPr>
            <a:r>
              <a:rPr sz="1200" b="0" i="0">
                <a:solidFill>
                  <a:srgbClr val="9CA3AF"/>
                </a:solidFill>
                <a:latin typeface="Calibri"/>
              </a:rPr>
              <a:t>Findings that demand action persist until resolved.</a:t>
            </a:r>
          </a:p>
        </p:txBody>
      </p:sp>
      <p:sp>
        <p:nvSpPr>
          <p:cNvPr id="23" name="TextBox 22"/>
          <p:cNvSpPr txBox="1"/>
          <p:nvPr/>
        </p:nvSpPr>
        <p:spPr>
          <a:xfrm>
            <a:off x="548640" y="4937759"/>
            <a:ext cx="548640" cy="914400"/>
          </a:xfrm>
          <a:prstGeom prst="rect">
            <a:avLst/>
          </a:prstGeom>
          <a:noFill/>
        </p:spPr>
        <p:txBody>
          <a:bodyPr wrap="square" lIns="45720" rIns="45720" anchor="t">
            <a:noAutofit/>
          </a:bodyPr>
          <a:lstStyle/>
          <a:p>
            <a:pPr algn="l">
              <a:lnSpc>
                <a:spcPct val="112000"/>
              </a:lnSpc>
              <a:spcAft>
                <a:spcPts val="400"/>
              </a:spcAft>
            </a:pPr>
            <a:r>
              <a:rPr sz="2600" b="0" i="0">
                <a:solidFill>
                  <a:srgbClr val="0891B2"/>
                </a:solidFill>
                <a:latin typeface="Georgia"/>
              </a:rPr>
              <a:t>7</a:t>
            </a:r>
          </a:p>
        </p:txBody>
      </p:sp>
      <p:sp>
        <p:nvSpPr>
          <p:cNvPr id="24" name="TextBox 23"/>
          <p:cNvSpPr txBox="1"/>
          <p:nvPr/>
        </p:nvSpPr>
        <p:spPr>
          <a:xfrm>
            <a:off x="1097280" y="4956047"/>
            <a:ext cx="4937760" cy="411480"/>
          </a:xfrm>
          <a:prstGeom prst="rect">
            <a:avLst/>
          </a:prstGeom>
          <a:noFill/>
        </p:spPr>
        <p:txBody>
          <a:bodyPr wrap="square" lIns="45720" rIns="45720" anchor="t">
            <a:noAutofit/>
          </a:bodyPr>
          <a:lstStyle/>
          <a:p>
            <a:pPr algn="l">
              <a:lnSpc>
                <a:spcPct val="112000"/>
              </a:lnSpc>
              <a:spcAft>
                <a:spcPts val="400"/>
              </a:spcAft>
            </a:pPr>
            <a:r>
              <a:rPr sz="1500" b="1" i="0">
                <a:solidFill>
                  <a:srgbClr val="F5F5F0"/>
                </a:solidFill>
                <a:latin typeface="Calibri"/>
              </a:rPr>
              <a:t>Callouts</a:t>
            </a:r>
          </a:p>
        </p:txBody>
      </p:sp>
      <p:sp>
        <p:nvSpPr>
          <p:cNvPr id="25" name="TextBox 24"/>
          <p:cNvSpPr txBox="1"/>
          <p:nvPr/>
        </p:nvSpPr>
        <p:spPr>
          <a:xfrm>
            <a:off x="1097280" y="5321807"/>
            <a:ext cx="4937760" cy="685800"/>
          </a:xfrm>
          <a:prstGeom prst="rect">
            <a:avLst/>
          </a:prstGeom>
          <a:noFill/>
        </p:spPr>
        <p:txBody>
          <a:bodyPr wrap="square" lIns="45720" rIns="45720" anchor="t">
            <a:noAutofit/>
          </a:bodyPr>
          <a:lstStyle/>
          <a:p>
            <a:pPr algn="l">
              <a:lnSpc>
                <a:spcPct val="112000"/>
              </a:lnSpc>
              <a:spcAft>
                <a:spcPts val="400"/>
              </a:spcAft>
            </a:pPr>
            <a:r>
              <a:rPr sz="1200" b="0" i="0">
                <a:solidFill>
                  <a:srgbClr val="9CA3AF"/>
                </a:solidFill>
                <a:latin typeface="Calibri"/>
              </a:rPr>
              <a:t>Disagreement preserved next to the claim it concerned.</a:t>
            </a:r>
          </a:p>
        </p:txBody>
      </p:sp>
      <p:sp>
        <p:nvSpPr>
          <p:cNvPr id="26" name="TextBox 25"/>
          <p:cNvSpPr txBox="1"/>
          <p:nvPr/>
        </p:nvSpPr>
        <p:spPr>
          <a:xfrm>
            <a:off x="6172200" y="4937759"/>
            <a:ext cx="548640" cy="914400"/>
          </a:xfrm>
          <a:prstGeom prst="rect">
            <a:avLst/>
          </a:prstGeom>
          <a:noFill/>
        </p:spPr>
        <p:txBody>
          <a:bodyPr wrap="square" lIns="45720" rIns="45720" anchor="t">
            <a:noAutofit/>
          </a:bodyPr>
          <a:lstStyle/>
          <a:p>
            <a:pPr algn="l">
              <a:lnSpc>
                <a:spcPct val="112000"/>
              </a:lnSpc>
              <a:spcAft>
                <a:spcPts val="400"/>
              </a:spcAft>
            </a:pPr>
            <a:r>
              <a:rPr sz="2600" b="0" i="0">
                <a:solidFill>
                  <a:srgbClr val="0891B2"/>
                </a:solidFill>
                <a:latin typeface="Georgia"/>
              </a:rPr>
              <a:t>8</a:t>
            </a:r>
          </a:p>
        </p:txBody>
      </p:sp>
      <p:sp>
        <p:nvSpPr>
          <p:cNvPr id="27" name="TextBox 26"/>
          <p:cNvSpPr txBox="1"/>
          <p:nvPr/>
        </p:nvSpPr>
        <p:spPr>
          <a:xfrm>
            <a:off x="6720840" y="4956047"/>
            <a:ext cx="4937760" cy="411480"/>
          </a:xfrm>
          <a:prstGeom prst="rect">
            <a:avLst/>
          </a:prstGeom>
          <a:noFill/>
        </p:spPr>
        <p:txBody>
          <a:bodyPr wrap="square" lIns="45720" rIns="45720" anchor="t">
            <a:noAutofit/>
          </a:bodyPr>
          <a:lstStyle/>
          <a:p>
            <a:pPr algn="l">
              <a:lnSpc>
                <a:spcPct val="112000"/>
              </a:lnSpc>
              <a:spcAft>
                <a:spcPts val="400"/>
              </a:spcAft>
            </a:pPr>
            <a:r>
              <a:rPr sz="1500" b="1" i="0">
                <a:solidFill>
                  <a:srgbClr val="F5F5F0"/>
                </a:solidFill>
                <a:latin typeface="Calibri"/>
              </a:rPr>
              <a:t>The sensing layer</a:t>
            </a:r>
          </a:p>
        </p:txBody>
      </p:sp>
      <p:sp>
        <p:nvSpPr>
          <p:cNvPr id="28" name="TextBox 27"/>
          <p:cNvSpPr txBox="1"/>
          <p:nvPr/>
        </p:nvSpPr>
        <p:spPr>
          <a:xfrm>
            <a:off x="6720840" y="5321807"/>
            <a:ext cx="4937760" cy="685800"/>
          </a:xfrm>
          <a:prstGeom prst="rect">
            <a:avLst/>
          </a:prstGeom>
          <a:noFill/>
        </p:spPr>
        <p:txBody>
          <a:bodyPr wrap="square" lIns="45720" rIns="45720" anchor="t">
            <a:noAutofit/>
          </a:bodyPr>
          <a:lstStyle/>
          <a:p>
            <a:pPr algn="l">
              <a:lnSpc>
                <a:spcPct val="112000"/>
              </a:lnSpc>
              <a:spcAft>
                <a:spcPts val="400"/>
              </a:spcAft>
            </a:pPr>
            <a:r>
              <a:rPr sz="1200" b="0" i="0">
                <a:solidFill>
                  <a:srgbClr val="9CA3AF"/>
                </a:solidFill>
                <a:latin typeface="Calibri"/>
              </a:rPr>
              <a:t>Thousands of items a night reduced to a brief; divergence flags against the crowd.</a:t>
            </a:r>
          </a:p>
        </p:txBody>
      </p:sp>
      <p:sp>
        <p:nvSpPr>
          <p:cNvPr id="29" name="TextBox 28"/>
          <p:cNvSpPr txBox="1"/>
          <p:nvPr/>
        </p:nvSpPr>
        <p:spPr>
          <a:xfrm>
            <a:off x="548640" y="6080760"/>
            <a:ext cx="11064240" cy="457200"/>
          </a:xfrm>
          <a:prstGeom prst="rect">
            <a:avLst/>
          </a:prstGeom>
          <a:noFill/>
        </p:spPr>
        <p:txBody>
          <a:bodyPr wrap="square" lIns="45720" rIns="45720" anchor="t">
            <a:noAutofit/>
          </a:bodyPr>
          <a:lstStyle/>
          <a:p>
            <a:pPr algn="l">
              <a:lnSpc>
                <a:spcPct val="112000"/>
              </a:lnSpc>
              <a:spcAft>
                <a:spcPts val="400"/>
              </a:spcAft>
            </a:pPr>
            <a:r>
              <a:rPr sz="1500" b="0" i="1">
                <a:solidFill>
                  <a:srgbClr val="22D3EE"/>
                </a:solidFill>
                <a:latin typeface="Georgia"/>
              </a:rPr>
              <a:t>None of them is the model. All of them are what surrounds it.</a:t>
            </a:r>
          </a:p>
        </p:txBody>
      </p:sp>
      <p:sp>
        <p:nvSpPr>
          <p:cNvPr id="30" name="footer"/>
          <p:cNvSpPr txBox="1"/>
          <p:nvPr/>
        </p:nvSpPr>
        <p:spPr>
          <a:xfrm>
            <a:off x="548640" y="6446520"/>
            <a:ext cx="7772400" cy="274320"/>
          </a:xfrm>
          <a:prstGeom prst="rect">
            <a:avLst/>
          </a:prstGeom>
          <a:noFill/>
        </p:spPr>
        <p:txBody>
          <a:bodyPr wrap="square" lIns="45720" rIns="45720" anchor="t">
            <a:noAutofit/>
          </a:bodyPr>
          <a:lstStyle/>
          <a:p>
            <a:pPr algn="l">
              <a:lnSpc>
                <a:spcPct val="112000"/>
              </a:lnSpc>
              <a:spcAft>
                <a:spcPts val="400"/>
              </a:spcAft>
            </a:pPr>
            <a:r>
              <a:rPr sz="900" b="0" i="0">
                <a:solidFill>
                  <a:srgbClr val="6B7280"/>
                </a:solidFill>
                <a:latin typeface="Calibri"/>
              </a:rPr>
              <a:t>Laniakea Partners · A Second Brain for Investing · August 2026  ·  Part 4</a:t>
            </a:r>
          </a:p>
        </p:txBody>
      </p:sp>
      <p:sp>
        <p:nvSpPr>
          <p:cNvPr id="31" name="footer"/>
          <p:cNvSpPr txBox="1"/>
          <p:nvPr/>
        </p:nvSpPr>
        <p:spPr>
          <a:xfrm>
            <a:off x="10332720" y="6446520"/>
            <a:ext cx="1325880" cy="274320"/>
          </a:xfrm>
          <a:prstGeom prst="rect">
            <a:avLst/>
          </a:prstGeom>
          <a:noFill/>
        </p:spPr>
        <p:txBody>
          <a:bodyPr wrap="square" lIns="45720" rIns="45720" anchor="t">
            <a:noAutofit/>
          </a:bodyPr>
          <a:lstStyle/>
          <a:p>
            <a:pPr algn="r">
              <a:lnSpc>
                <a:spcPct val="112000"/>
              </a:lnSpc>
              <a:spcAft>
                <a:spcPts val="400"/>
              </a:spcAft>
            </a:pPr>
            <a:r>
              <a:rPr sz="900" b="0" i="0">
                <a:solidFill>
                  <a:srgbClr val="6B7280"/>
                </a:solidFill>
                <a:latin typeface="Calibri"/>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822960" y="1280160"/>
            <a:ext cx="10515600" cy="1737360"/>
          </a:xfrm>
          <a:prstGeom prst="rect">
            <a:avLst/>
          </a:prstGeom>
          <a:noFill/>
        </p:spPr>
        <p:txBody>
          <a:bodyPr wrap="square" lIns="45720" rIns="45720" anchor="t">
            <a:noAutofit/>
          </a:bodyPr>
          <a:lstStyle/>
          <a:p>
            <a:pPr algn="l">
              <a:lnSpc>
                <a:spcPct val="105000"/>
              </a:lnSpc>
              <a:spcAft>
                <a:spcPts val="0"/>
              </a:spcAft>
            </a:pPr>
            <a:r>
              <a:rPr sz="4400" b="0" i="0">
                <a:solidFill>
                  <a:srgbClr val="F5F5F0"/>
                </a:solidFill>
                <a:latin typeface="Georgia"/>
              </a:rPr>
              <a:t>The model is stateless.</a:t>
            </a:r>
          </a:p>
          <a:p>
            <a:pPr algn="l">
              <a:lnSpc>
                <a:spcPct val="105000"/>
              </a:lnSpc>
              <a:spcAft>
                <a:spcPts val="400"/>
              </a:spcAft>
            </a:pPr>
            <a:r>
              <a:rPr sz="4400" b="0" i="0">
                <a:solidFill>
                  <a:srgbClr val="F5F5F0"/>
                </a:solidFill>
                <a:latin typeface="Georgia"/>
              </a:rPr>
              <a:t>The vault is not.</a:t>
            </a:r>
          </a:p>
        </p:txBody>
      </p:sp>
      <p:cxnSp>
        <p:nvCxnSpPr>
          <p:cNvPr id="3" name="Connector 2"/>
          <p:cNvCxnSpPr/>
          <p:nvPr/>
        </p:nvCxnSpPr>
        <p:spPr>
          <a:xfrm>
            <a:off x="868680" y="3154680"/>
            <a:ext cx="1508760" cy="0"/>
          </a:xfrm>
          <a:prstGeom prst="line">
            <a:avLst/>
          </a:prstGeom>
          <a:ln w="31750">
            <a:solidFill>
              <a:srgbClr val="0891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22960" y="3337560"/>
            <a:ext cx="10332720" cy="1097280"/>
          </a:xfrm>
          <a:prstGeom prst="rect">
            <a:avLst/>
          </a:prstGeom>
          <a:noFill/>
        </p:spPr>
        <p:txBody>
          <a:bodyPr wrap="square" lIns="45720" rIns="45720" anchor="t">
            <a:noAutofit/>
          </a:bodyPr>
          <a:lstStyle/>
          <a:p>
            <a:pPr algn="l">
              <a:lnSpc>
                <a:spcPct val="112000"/>
              </a:lnSpc>
              <a:spcAft>
                <a:spcPts val="400"/>
              </a:spcAft>
            </a:pPr>
            <a:r>
              <a:rPr sz="1700" b="0" i="0">
                <a:solidFill>
                  <a:srgbClr val="D1D5DB"/>
                </a:solidFill>
                <a:latin typeface="Calibri"/>
              </a:rPr>
              <a:t>We choose the sources, drop the objections and take every conviction decision. The machinery holds the memory, the reconciliation and the standing instruction to disagree.</a:t>
            </a:r>
          </a:p>
        </p:txBody>
      </p:sp>
      <p:sp>
        <p:nvSpPr>
          <p:cNvPr id="5" name="Rounded Rectangle 4"/>
          <p:cNvSpPr/>
          <p:nvPr/>
        </p:nvSpPr>
        <p:spPr>
          <a:xfrm>
            <a:off x="822960" y="4572000"/>
            <a:ext cx="10515600" cy="1143000"/>
          </a:xfrm>
          <a:prstGeom prst="roundRect">
            <a:avLst>
              <a:gd name="adj" fmla="val 12000"/>
            </a:avLst>
          </a:prstGeom>
          <a:solidFill>
            <a:srgbClr val="1B2027"/>
          </a:solidFill>
          <a:ln w="12700">
            <a:solidFill>
              <a:srgbClr val="3A414B"/>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6809" bIns="76809" wrap="square">
            <a:noAutofit/>
          </a:bodyPr>
          <a:lstStyle/>
          <a:p>
            <a:pPr algn="l">
              <a:lnSpc>
                <a:spcPct val="110000"/>
              </a:lnSpc>
              <a:spcAft>
                <a:spcPts val="300"/>
              </a:spcAft>
            </a:pPr>
            <a:r>
              <a:rPr sz="1300" b="1" i="0">
                <a:solidFill>
                  <a:srgbClr val="22D3EE"/>
                </a:solidFill>
                <a:latin typeface="Calibri"/>
              </a:rPr>
              <a:t>To start:  </a:t>
            </a:r>
            <a:r>
              <a:rPr sz="1300" b="0" i="0">
                <a:solidFill>
                  <a:srgbClr val="D1D5DB"/>
                </a:solidFill>
                <a:latin typeface="Calibri"/>
              </a:rPr>
              <a:t>Obsidian (free), a Claude subscription and a cloned folder of markdown; 30–45 minutes for the core, the overnight layer optional. First thesis immediately; compounding shows up around thesis five or six. The pattern generalises beyond stocks: legal research, literature review, competitive intelligence.</a:t>
            </a:r>
          </a:p>
        </p:txBody>
      </p:sp>
      <p:sp>
        <p:nvSpPr>
          <p:cNvPr id="6" name="TextBox 5"/>
          <p:cNvSpPr txBox="1"/>
          <p:nvPr/>
        </p:nvSpPr>
        <p:spPr>
          <a:xfrm>
            <a:off x="822960" y="5897880"/>
            <a:ext cx="10058400" cy="731520"/>
          </a:xfrm>
          <a:prstGeom prst="rect">
            <a:avLst/>
          </a:prstGeom>
          <a:noFill/>
        </p:spPr>
        <p:txBody>
          <a:bodyPr wrap="square" lIns="45720" rIns="45720" anchor="t">
            <a:noAutofit/>
          </a:bodyPr>
          <a:lstStyle/>
          <a:p>
            <a:pPr algn="l">
              <a:lnSpc>
                <a:spcPct val="112000"/>
              </a:lnSpc>
              <a:spcAft>
                <a:spcPts val="200"/>
              </a:spcAft>
            </a:pPr>
            <a:r>
              <a:rPr sz="1300" b="0" i="0">
                <a:solidFill>
                  <a:srgbClr val="22D3EE"/>
                </a:solidFill>
                <a:latin typeface="Calibri"/>
              </a:rPr>
              <a:t>laniakea.io/system  ·  leo@laniakea.io</a:t>
            </a:r>
          </a:p>
          <a:p>
            <a:pPr algn="l">
              <a:lnSpc>
                <a:spcPct val="112000"/>
              </a:lnSpc>
              <a:spcAft>
                <a:spcPts val="400"/>
              </a:spcAft>
            </a:pPr>
            <a:r>
              <a:rPr sz="1100" b="0" i="0">
                <a:solidFill>
                  <a:srgbClr val="6B7280"/>
                </a:solidFill>
                <a:latin typeface="Calibri"/>
              </a:rPr>
              <a:t>Pattern: Andrej Karpathy's LLM wiki (April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